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【約0.5分鐘】今天只講一個字——「苦」，設計主題是「重擔與十架」。先讓朋友放鬆：給我大約十五分鐘，聽完再一起討論。本篇已按福音需要調整順序：先從生活談起，再回到經文，內容取自原文。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【約1.5分鐘】開場提問：世界看似多采多姿滿了享受，為何人所受的苦卻多於所享的樂？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【約2.2分鐘】人生受苦多於享樂。投影片上的講解就是原文該段的濃縮，講的時候可以照著說，再展開一兩句自己的見證，不要偏離原文。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【約2.2分鐘】無告痛苦無人能聽。投影片上的講解就是原文該段的濃縮，講的時候可以照著說，再展開一兩句自己的見證，不要偏離原文。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【約2.2分鐘】憂慮卸給顧念的神。投影片上的講解就是原文該段的濃縮，講的時候可以照著說，再展開一兩句自己的見證，不要偏離原文。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【約2.2分鐘】基督鞭傷使人得醫治。投影片上的講解就是原文該段的濃縮，講的時候可以照著說，再展開一兩句自己的見證，不要偏離原文。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今天我們只要接受祂作我們的救主，就能從罪惡和痛苦中得拯救。祂的死不是為自己，乃是為我們，祂代替我們被神置於死地：手腳代替我們被釘，肋旁代替我們被刺，肉體代替我們受鞭打，使我們與神和好，從死亡中得醫治，甦醒過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D97706"/>
                </a:solidFill>
                <a:latin typeface="微軟正黑體"/>
              </a:defRPr>
            </a:pPr>
            <a:r>
              <a:rPr>
                <a:solidFill>
                  <a:srgbClr val="D97706"/>
                </a:solidFill>
              </a:rPr>
              <a:t>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重擔與十架 · 人的負面情形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8 個鑰字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D97706"/>
                </a:solidFill>
                <a:latin typeface="微軟正黑體"/>
              </a:defRPr>
            </a:pPr>
            <a:r>
              <a:rPr sz="4000" b="1">
                <a:solidFill>
                  <a:srgbClr val="D97706"/>
                </a:solidFill>
              </a:rPr>
              <a:t>世界看似多采多姿滿了享受，為何人所受的苦卻多於所享的樂？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D97706"/>
                </a:solidFill>
                <a:latin typeface="微軟正黑體"/>
              </a:defRPr>
            </a:pPr>
            <a:r>
              <a:rPr sz="4000" b="1">
                <a:solidFill>
                  <a:srgbClr val="D97706"/>
                </a:solidFill>
              </a:rPr>
              <a:t>人生受苦多於享樂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財富權勢仍感疲倦虛空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貧窮缺乏固然痛苦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有錢怕失去也是痛苦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2924"/>
                </a:solidFill>
                <a:latin typeface="微軟正黑體"/>
              </a:defRPr>
            </a:pPr>
            <a:r>
              <a:rPr sz="2400"/>
              <a:t>經文：人一生之日，劬勞痛苦。（伯十五20）</a:t>
            </a:r>
          </a:p>
        </p:txBody>
      </p:sp>
      <p:pic>
        <p:nvPicPr>
          <p:cNvPr id="18" name="Picture 17" descr="story_苦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D97706"/>
                </a:solidFill>
                <a:latin typeface="微軟正黑體"/>
              </a:defRPr>
            </a:pPr>
            <a:r>
              <a:rPr sz="4000" b="1">
                <a:solidFill>
                  <a:srgbClr val="D97706"/>
                </a:solidFill>
              </a:rPr>
              <a:t>無告痛苦無人能聽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告訴人人卻不能聽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人不能感覺你的苦悶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誰能體恤深處需要呢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2924"/>
                </a:solidFill>
                <a:latin typeface="微軟正黑體"/>
              </a:defRPr>
            </a:pPr>
            <a:r>
              <a:rPr sz="2400"/>
              <a:t>經文：我若說話，痛苦仍不得消減；我若忍住不說，有多少痛苦會離開我呢？（伯十六6）</a:t>
            </a:r>
          </a:p>
        </p:txBody>
      </p:sp>
      <p:pic>
        <p:nvPicPr>
          <p:cNvPr id="18" name="Picture 17" descr="story_苦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D97706"/>
                </a:solidFill>
                <a:latin typeface="微軟正黑體"/>
              </a:defRPr>
            </a:pPr>
            <a:r>
              <a:rPr sz="4000" b="1">
                <a:solidFill>
                  <a:srgbClr val="D97706"/>
                </a:solidFill>
              </a:rPr>
              <a:t>憂慮卸給顧念的神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主肯聽你一切的事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凡勞苦擔重擔到祂那裡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重擔卸給神就變輕盈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2924"/>
                </a:solidFill>
                <a:latin typeface="微軟正黑體"/>
              </a:defRPr>
            </a:pPr>
            <a:r>
              <a:rPr sz="2400"/>
              <a:t>經文：你們要將一切的憂慮卸給神，因為祂顧念你們。（彼前五7）</a:t>
            </a:r>
          </a:p>
        </p:txBody>
      </p:sp>
      <p:pic>
        <p:nvPicPr>
          <p:cNvPr id="18" name="Picture 17" descr="story_苦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D97706"/>
                </a:solidFill>
                <a:latin typeface="微軟正黑體"/>
              </a:defRPr>
            </a:pPr>
            <a:r>
              <a:rPr sz="4000" b="1">
                <a:solidFill>
                  <a:srgbClr val="D97706"/>
                </a:solidFill>
              </a:rPr>
              <a:t>基督鞭傷使人得醫治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祂擔當憂患背負痛苦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為過犯受創為罪壓傷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因祂刑罰我們得平安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2924"/>
                </a:solidFill>
                <a:latin typeface="微軟正黑體"/>
              </a:defRPr>
            </a:pPr>
            <a:r>
              <a:rPr sz="2400"/>
              <a:t>經文：因祂受的鞭傷，你們便得了醫治。（彼前二24）</a:t>
            </a:r>
          </a:p>
        </p:txBody>
      </p:sp>
      <p:pic>
        <p:nvPicPr>
          <p:cNvPr id="18" name="Picture 17" descr="story_苦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D97706"/>
                </a:solidFill>
                <a:latin typeface="微軟正黑體"/>
              </a:defRPr>
            </a:pPr>
            <a:r>
              <a:rPr sz="1800">
                <a:solidFill>
                  <a:srgbClr val="D97706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D97706"/>
                </a:solidFill>
                <a:latin typeface="微軟正黑體"/>
              </a:defRPr>
            </a:pPr>
            <a:r>
              <a:rPr sz="4200" b="1">
                <a:solidFill>
                  <a:srgbClr val="D97706"/>
                </a:solidFill>
              </a:rPr>
              <a:t>「苦」的鑰字經文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人一生之日，劬勞痛苦。（伯十五20下）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我若說話，痛苦仍不得消減；我若忍住不說，有多少痛苦會離開我呢？（伯十六6）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人至死魂中痛苦。（伯二一25下）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因祂受的鞭傷，你們便得了醫治。基督受死的苦，醫治了我們的死亡，使我們得在祂的復活裡活著。（彼前二24註8）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32924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D97706"/>
                </a:solidFill>
                <a:latin typeface="微軟正黑體"/>
              </a:defRPr>
            </a:pPr>
            <a:r>
              <a:rPr sz="2000">
                <a:solidFill>
                  <a:srgbClr val="D97706"/>
                </a:solidFill>
              </a:rPr>
              <a:t>福音的答案 · 重擔與十架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D97706"/>
                </a:solidFill>
                <a:latin typeface="微軟正黑體"/>
              </a:defRPr>
            </a:pPr>
            <a:r>
              <a:rPr sz="4600" b="1">
                <a:solidFill>
                  <a:srgbClr val="D97706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基督代替我們受刑罰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憂患痛苦祂已背負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D97706"/>
                </a:solidFill>
                <a:latin typeface="微軟正黑體"/>
              </a:defRPr>
            </a:pPr>
            <a:r>
              <a:rPr sz="33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接受祂就得享平安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今天我們只要接受祂作我們的救主，就能從罪惡和痛苦中得拯救。祂的死不是為自己，乃是為我們，祂代替我們被神置於死地：手腳代替我們被釘，肋旁代替我們被刺，肉體代替我們受鞭打，使我們與神和好，從死亡中得醫治，甦醒過來。</a:t>
            </a:r>
          </a:p>
        </p:txBody>
      </p:sp>
      <p:pic>
        <p:nvPicPr>
          <p:cNvPr id="14" name="Picture 13" descr="swap_苦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D97706"/>
                </a:solidFill>
                <a:latin typeface="微軟正黑體"/>
              </a:defRPr>
            </a:pPr>
            <a:r>
              <a:rPr sz="1800">
                <a:solidFill>
                  <a:srgbClr val="D97706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D97706"/>
                </a:solidFill>
                <a:latin typeface="微軟正黑體"/>
              </a:defRPr>
            </a:pPr>
            <a:r>
              <a:rPr sz="4200" b="1">
                <a:solidFill>
                  <a:srgbClr val="D97706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332924"/>
                </a:solidFill>
                <a:latin typeface="微軟正黑體"/>
              </a:defRPr>
            </a:pPr>
            <a:r>
              <a:rPr sz="3600"/>
              <a:t>接受祂作你的救主，拯救你脫離人生的痛苦，在祂裡面得享平安。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swap_苦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D97706"/>
                </a:solidFill>
                <a:latin typeface="微軟正黑體"/>
              </a:defRPr>
            </a:pPr>
            <a:r>
              <a:rPr sz="1800">
                <a:solidFill>
                  <a:srgbClr val="D97706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D97706"/>
                </a:solidFill>
                <a:latin typeface="微軟正黑體"/>
              </a:defRPr>
            </a:pPr>
            <a:r>
              <a:rPr sz="4200" b="1">
                <a:solidFill>
                  <a:srgbClr val="D97706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D97706"/>
                </a:solidFill>
                <a:latin typeface="微軟正黑體"/>
              </a:defRPr>
            </a:pPr>
            <a:r>
              <a:rPr sz="2800">
                <a:solidFill>
                  <a:srgbClr val="D9770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主耶穌，我是個罪人，應當受神審判。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D97706"/>
                </a:solidFill>
                <a:latin typeface="微軟正黑體"/>
              </a:defRPr>
            </a:pPr>
            <a:r>
              <a:rPr sz="2800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感謝你替我受死，替我受了刑罰和鞭傷。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D97706"/>
                </a:solidFill>
                <a:latin typeface="微軟正黑體"/>
              </a:defRPr>
            </a:pPr>
            <a:r>
              <a:rPr sz="280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感謝你擔當了我的憂患，背負了我的痛苦。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D97706"/>
                </a:solidFill>
                <a:latin typeface="微軟正黑體"/>
              </a:defRPr>
            </a:pPr>
            <a:r>
              <a:rPr sz="2800">
                <a:solidFill>
                  <a:srgbClr val="D97706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我接受你作我的救主，拯救我脫離痛苦，使我在你裡面得享平安。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2924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D97706"/>
                </a:solidFill>
                <a:latin typeface="微軟正黑體"/>
              </a:defRPr>
            </a:pPr>
            <a:r>
              <a:rPr sz="1800">
                <a:solidFill>
                  <a:srgbClr val="D97706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D97706"/>
                </a:solidFill>
                <a:latin typeface="微軟正黑體"/>
              </a:defRPr>
            </a:pPr>
            <a:r>
              <a:rPr sz="4200" b="1">
                <a:solidFill>
                  <a:srgbClr val="D97706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D97706"/>
                </a:solidFill>
                <a:latin typeface="微軟正黑體"/>
              </a:defRPr>
            </a:pPr>
            <a:r>
              <a:rPr sz="31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D97706"/>
                </a:solidFill>
                <a:latin typeface="微軟正黑體"/>
              </a:defRPr>
            </a:pPr>
            <a:r>
              <a:rPr sz="31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D97706"/>
                </a:solidFill>
                <a:latin typeface="微軟正黑體"/>
              </a:defRPr>
            </a:pPr>
            <a:r>
              <a:rPr sz="3100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人生的奧祕（二）·福音鑰字「苦」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