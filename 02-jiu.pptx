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【約0.5分鐘】今天只講一個字——「疚」，設計主題是「洗淨的良心」。先讓朋友放鬆：給我大約十五分鐘，聽完再一起討論。本篇已按福音需要調整順序：先從生活談起，再回到經文，內容取自原文。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【約1.5分鐘】開場提問：你能說你不受罪的支配，沒有罪的羈絆麼？ 讓朋友先說兩句，建立關係，不要急著辯論，也不要一開始就先背經文。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【約2.2分鐘】罪在裡面作王。投影片上的講解就是原文該段的濃縮，講的時候可以照著說，再展開一兩句自己的見證，不要偏離原文。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【約2.2分鐘】良心滿了罪疚。投影片上的講解就是原文該段的濃縮，講的時候可以照著說，再展開一兩句自己的見證，不要偏離原文。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【約2.2分鐘】寶血潔淨良心。投影片上的講解就是原文該段的濃縮，講的時候可以照著說，再展開一兩句自己的見證，不要偏離原文。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【約2.2分鐘】認罪得赦免坦然。投影片上的講解就是原文該段的濃縮，講的時候可以照著說，再展開一兩句自己的見證，不要偏離原文。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【約1分鐘】講完生活與信息後，再把本篇篇首的鑰字經文讀一遍，幫助朋友把剛才聽到的信息對回經文上。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憑著基督寶血之能，你可以享受免於罪疚玷污的良心。罪得赦免，良心的罪跡也被洗淨，就像剛洗過的窗子，清潔、明亮、滿有亮光，可以坦然無懼來到神前，在寧靜中接觸神，與祂交通，並向祂求問。這就是免於罪疚的福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【約0.5分鐘】直接、溫和地問，不要強逼。朋友若有問題，記下來，講完禱告後再回答。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【約1分鐘】邀請朋友開口跟著禱告，一句一句慢慢來。只要他願意開口呼求主名，就恭喜他得救了，並立刻約定下一次見面。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【約0.5分鐘】結尾：留下手機或 Line，立刻邀請到小排或下次福音聚會。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疚_bann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743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5000" b="1">
                <a:solidFill>
                  <a:srgbClr val="44748A"/>
                </a:solidFill>
                <a:latin typeface="微軟正黑體"/>
              </a:defRPr>
            </a:pPr>
            <a:r>
              <a:rPr>
                <a:solidFill>
                  <a:srgbClr val="44748A"/>
                </a:solidFill>
              </a:rPr>
              <a:t>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402336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800" b="0">
                <a:solidFill>
                  <a:srgbClr val="1F3A5F"/>
                </a:solidFill>
                <a:latin typeface="微軟正黑體"/>
              </a:defRPr>
            </a:pPr>
            <a:r>
              <a:rPr sz="2800">
                <a:solidFill>
                  <a:srgbClr val="1F3A5F"/>
                </a:solidFill>
              </a:rPr>
              <a:t>人的負面情形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466344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0">
                <a:solidFill>
                  <a:srgbClr val="1F3A5F"/>
                </a:solidFill>
                <a:latin typeface="微軟正黑體"/>
              </a:defRPr>
            </a:pPr>
            <a:r>
              <a:rPr sz="2400">
                <a:solidFill>
                  <a:srgbClr val="1F3A5F"/>
                </a:solidFill>
              </a:rPr>
              <a:t>第 2 個鑰字 · 一個字，一個福音信息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800" b="1">
                <a:solidFill>
                  <a:srgbClr val="44748A"/>
                </a:solidFill>
                <a:latin typeface="微軟正黑體"/>
              </a:defRPr>
            </a:pPr>
            <a:r>
              <a:rPr sz="3800" b="1">
                <a:solidFill>
                  <a:srgbClr val="44748A"/>
                </a:solidFill>
              </a:rPr>
              <a:t>你有沒有想過……？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44748A"/>
                </a:solidFill>
                <a:latin typeface="微軟正黑體"/>
              </a:defRPr>
            </a:pPr>
            <a:r>
              <a:rPr sz="4000" b="1">
                <a:solidFill>
                  <a:srgbClr val="44748A"/>
                </a:solidFill>
              </a:rPr>
              <a:t>你能說你不受罪的支配，沒有罪的羈絆麼？</a:t>
            </a:r>
          </a:p>
        </p:txBody>
      </p:sp>
      <p:pic>
        <p:nvPicPr>
          <p:cNvPr id="8" name="Picture 7" descr="疚_s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44748A"/>
                </a:solidFill>
                <a:latin typeface="微軟正黑體"/>
              </a:defRPr>
            </a:pPr>
            <a:r>
              <a:rPr sz="4000" b="1">
                <a:solidFill>
                  <a:srgbClr val="44748A"/>
                </a:solidFill>
              </a:rPr>
              <a:t>罪在裡面作王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4748A"/>
                </a:solidFill>
                <a:latin typeface="微軟正黑體"/>
              </a:defRPr>
            </a:pPr>
            <a:r>
              <a:rPr sz="33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罪是內賊，不是外盜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4748A"/>
                </a:solidFill>
                <a:latin typeface="微軟正黑體"/>
              </a:defRPr>
            </a:pPr>
            <a:r>
              <a:rPr sz="33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罪在裡面作王管轄人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4748A"/>
                </a:solidFill>
                <a:latin typeface="微軟正黑體"/>
              </a:defRPr>
            </a:pPr>
            <a:r>
              <a:rPr sz="33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想不犯罪，也不可能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F3A5F"/>
                </a:solidFill>
                <a:latin typeface="微軟正黑體"/>
              </a:defRPr>
            </a:pPr>
            <a:r>
              <a:rPr sz="2400"/>
              <a:t>經文：我是屬肉的，是已經賣給罪了。（羅七14）</a:t>
            </a:r>
          </a:p>
        </p:txBody>
      </p:sp>
      <p:pic>
        <p:nvPicPr>
          <p:cNvPr id="17" name="Picture 16" descr="story_疚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44748A"/>
                </a:solidFill>
                <a:latin typeface="微軟正黑體"/>
              </a:defRPr>
            </a:pPr>
            <a:r>
              <a:rPr sz="4000" b="1">
                <a:solidFill>
                  <a:srgbClr val="44748A"/>
                </a:solidFill>
              </a:rPr>
              <a:t>良心滿了罪疚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4748A"/>
                </a:solidFill>
                <a:latin typeface="微軟正黑體"/>
              </a:defRPr>
            </a:pPr>
            <a:r>
              <a:rPr sz="33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自以為義者也被摸著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4748A"/>
                </a:solidFill>
                <a:latin typeface="微軟正黑體"/>
              </a:defRPr>
            </a:pPr>
            <a:r>
              <a:rPr sz="33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從老到少負罪而逃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4748A"/>
                </a:solidFill>
                <a:latin typeface="微軟正黑體"/>
              </a:defRPr>
            </a:pPr>
            <a:r>
              <a:rPr sz="33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良心控告，就無平安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F3A5F"/>
                </a:solidFill>
                <a:latin typeface="微軟正黑體"/>
              </a:defRPr>
            </a:pPr>
            <a:r>
              <a:rPr sz="2400"/>
              <a:t>經文：人……自覺心中有罪疚。（王上八38）</a:t>
            </a:r>
          </a:p>
        </p:txBody>
      </p:sp>
      <p:pic>
        <p:nvPicPr>
          <p:cNvPr id="17" name="Picture 16" descr="story_疚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44748A"/>
                </a:solidFill>
                <a:latin typeface="微軟正黑體"/>
              </a:defRPr>
            </a:pPr>
            <a:r>
              <a:rPr sz="4000" b="1">
                <a:solidFill>
                  <a:srgbClr val="44748A"/>
                </a:solidFill>
              </a:rPr>
              <a:t>寶血潔淨良心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4748A"/>
                </a:solidFill>
                <a:latin typeface="微軟正黑體"/>
              </a:defRPr>
            </a:pPr>
            <a:r>
              <a:rPr sz="33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清潔劑洗不掉罪疚污穢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4748A"/>
                </a:solidFill>
                <a:latin typeface="微軟正黑體"/>
              </a:defRPr>
            </a:pPr>
            <a:r>
              <a:rPr sz="33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主死滿足神律法要求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4748A"/>
                </a:solidFill>
                <a:latin typeface="微軟正黑體"/>
              </a:defRPr>
            </a:pPr>
            <a:r>
              <a:rPr sz="33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血塗抹欠債，罰單撕掉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F3A5F"/>
                </a:solidFill>
                <a:latin typeface="微軟正黑體"/>
              </a:defRPr>
            </a:pPr>
            <a:r>
              <a:rPr sz="2400"/>
              <a:t>經文：基督……的血豈不更潔淨我們的良心。（來九14）</a:t>
            </a:r>
          </a:p>
        </p:txBody>
      </p:sp>
      <p:pic>
        <p:nvPicPr>
          <p:cNvPr id="17" name="Picture 16" descr="story_疚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44748A"/>
                </a:solidFill>
                <a:latin typeface="微軟正黑體"/>
              </a:defRPr>
            </a:pPr>
            <a:r>
              <a:rPr sz="4000" b="1">
                <a:solidFill>
                  <a:srgbClr val="44748A"/>
                </a:solidFill>
              </a:rPr>
              <a:t>認罪得赦免坦然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4748A"/>
                </a:solidFill>
                <a:latin typeface="微軟正黑體"/>
              </a:defRPr>
            </a:pPr>
            <a:r>
              <a:rPr sz="33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認一項罪，擦一次窗戶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4748A"/>
                </a:solidFill>
                <a:latin typeface="微軟正黑體"/>
              </a:defRPr>
            </a:pPr>
            <a:r>
              <a:rPr sz="33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良心無虧，就坦然無懼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4748A"/>
                </a:solidFill>
                <a:latin typeface="微軟正黑體"/>
              </a:defRPr>
            </a:pPr>
            <a:r>
              <a:rPr sz="33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在寧靜中與神交通求問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F3A5F"/>
                </a:solidFill>
                <a:latin typeface="微軟正黑體"/>
              </a:defRPr>
            </a:pPr>
            <a:r>
              <a:rPr sz="2400"/>
              <a:t>經文：我們若認自己的罪，神是信實的，是公義的，必要赦免我們的罪，洗淨我們一切的不義。（約壹一9）</a:t>
            </a:r>
          </a:p>
        </p:txBody>
      </p:sp>
      <p:pic>
        <p:nvPicPr>
          <p:cNvPr id="17" name="Picture 16" descr="story_疚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44748A"/>
                </a:solidFill>
                <a:latin typeface="微軟正黑體"/>
              </a:defRPr>
            </a:pPr>
            <a:r>
              <a:rPr sz="1800">
                <a:solidFill>
                  <a:srgbClr val="44748A"/>
                </a:solidFill>
              </a:rPr>
              <a:t>回到經文 · 本篇一覽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200" b="1">
                <a:solidFill>
                  <a:srgbClr val="44748A"/>
                </a:solidFill>
                <a:latin typeface="微軟正黑體"/>
              </a:defRPr>
            </a:pPr>
            <a:r>
              <a:rPr sz="4200" b="1">
                <a:solidFill>
                  <a:srgbClr val="44748A"/>
                </a:solidFill>
              </a:rPr>
              <a:t>「疚」的鑰字經文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A. 人……自覺心中有罪疚。（王上八38）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B. 罪疚譏誚愚妄人。（箴十四9）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C. 在神面前安心，就是有一顆沒有虧欠的良心，使心能得撫慰、信服、確定、寧靜。（約壹三19註2）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59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D. 在寧靜的心裡，無虧的良心能修直並清理我們向神祈求的路。（約壹三22註1）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E. 我們若認自己的罪，神必要赦免我們的罪，恢復與神中斷的交通，使我們能以沒有虧欠的良心享受神。（約壹一9註5）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1F3A5F"/>
                </a:solidFill>
                <a:latin typeface="微軟正黑體"/>
              </a:defRPr>
            </a:pPr>
            <a:r>
              <a:rPr sz="2000"/>
              <a:t>這些經文，就是剛才信息的根據。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44748A"/>
                </a:solidFill>
                <a:latin typeface="微軟正黑體"/>
              </a:defRPr>
            </a:pPr>
            <a:r>
              <a:rPr sz="2000">
                <a:solidFill>
                  <a:srgbClr val="44748A"/>
                </a:solidFill>
              </a:rPr>
              <a:t>福音的答案 · 洗淨的良心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>
                <a:solidFill>
                  <a:srgbClr val="44748A"/>
                </a:solidFill>
                <a:latin typeface="微軟正黑體"/>
              </a:defRPr>
            </a:pPr>
            <a:r>
              <a:rPr sz="4600" b="1">
                <a:solidFill>
                  <a:srgbClr val="44748A"/>
                </a:solidFill>
              </a:rPr>
              <a:t>福音的答案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698480" cy="54864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4748A"/>
                </a:solidFill>
                <a:latin typeface="微軟正黑體"/>
              </a:defRPr>
            </a:pPr>
            <a:r>
              <a:rPr sz="33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1F3A5F"/>
                </a:solidFill>
                <a:latin typeface="微軟正黑體"/>
              </a:defRPr>
            </a:pPr>
            <a:r>
              <a:rPr sz="3300">
                <a:solidFill>
                  <a:srgbClr val="1F3A5F"/>
                </a:solidFill>
              </a:rPr>
              <a:t>耶穌流血是為赦罪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4748A"/>
                </a:solidFill>
                <a:latin typeface="微軟正黑體"/>
              </a:defRPr>
            </a:pPr>
            <a:r>
              <a:rPr sz="33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1F3A5F"/>
                </a:solidFill>
                <a:latin typeface="微軟正黑體"/>
              </a:defRPr>
            </a:pPr>
            <a:r>
              <a:rPr sz="3300">
                <a:solidFill>
                  <a:srgbClr val="1F3A5F"/>
                </a:solidFill>
              </a:rPr>
              <a:t>信祂罪得赦免洗淨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44748A"/>
                </a:solidFill>
                <a:latin typeface="微軟正黑體"/>
              </a:defRPr>
            </a:pPr>
            <a:r>
              <a:rPr sz="33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1F3A5F"/>
                </a:solidFill>
                <a:latin typeface="微軟正黑體"/>
              </a:defRPr>
            </a:pPr>
            <a:r>
              <a:rPr sz="3300">
                <a:solidFill>
                  <a:srgbClr val="1F3A5F"/>
                </a:solidFill>
              </a:rPr>
              <a:t>良心無虧坦然見神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400" b="0">
                <a:solidFill>
                  <a:srgbClr val="1F3A5F"/>
                </a:solidFill>
                <a:latin typeface="微軟正黑體"/>
              </a:defRPr>
            </a:pPr>
            <a:r>
              <a:rPr sz="2400">
                <a:solidFill>
                  <a:srgbClr val="1F3A5F"/>
                </a:solidFill>
              </a:rPr>
              <a:t>憑著基督寶血之能，你可以享受免於罪疚玷污的良心。罪得赦免，良心的罪跡也被洗淨，就像剛洗過的窗子，清潔、明亮、滿有亮光，可以坦然無懼來到神前，在寧靜中接觸神，與祂交通，並向祂求問。這就是免於罪疚的福音。</a:t>
            </a:r>
          </a:p>
        </p:txBody>
      </p:sp>
      <p:pic>
        <p:nvPicPr>
          <p:cNvPr id="12" name="Picture 11" descr="疚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19456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44748A"/>
                </a:solidFill>
                <a:latin typeface="微軟正黑體"/>
              </a:defRPr>
            </a:pPr>
            <a:r>
              <a:rPr sz="1800">
                <a:solidFill>
                  <a:srgbClr val="44748A"/>
                </a:solidFill>
              </a:rPr>
              <a:t>抉擇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200" b="1">
                <a:solidFill>
                  <a:srgbClr val="44748A"/>
                </a:solidFill>
                <a:latin typeface="微軟正黑體"/>
              </a:defRPr>
            </a:pPr>
            <a:r>
              <a:rPr sz="4200" b="1">
                <a:solidFill>
                  <a:srgbClr val="44748A"/>
                </a:solidFill>
              </a:rPr>
              <a:t>今天，你願意嗎？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600" b="1">
                <a:solidFill>
                  <a:srgbClr val="1F3A5F"/>
                </a:solidFill>
                <a:latin typeface="微軟正黑體"/>
              </a:defRPr>
            </a:pPr>
            <a:r>
              <a:rPr sz="3600"/>
              <a:t>每當你感覺裡面有罪疚時，現在就向神認罪，取用基督的寶血潔淨良心，坦然無懼來到神前。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5A5A5A"/>
                </a:solidFill>
                <a:latin typeface="微軟正黑體"/>
              </a:defRPr>
            </a:pPr>
            <a:r>
              <a:rPr sz="2600"/>
              <a:t>不需要先作好、改好，只要現在作一個決定。</a:t>
            </a:r>
          </a:p>
        </p:txBody>
      </p:sp>
      <p:pic>
        <p:nvPicPr>
          <p:cNvPr id="8" name="Picture 7" descr="疚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44748A"/>
                </a:solidFill>
                <a:latin typeface="微軟正黑體"/>
              </a:defRPr>
            </a:pPr>
            <a:r>
              <a:rPr sz="1800">
                <a:solidFill>
                  <a:srgbClr val="44748A"/>
                </a:solidFill>
              </a:rPr>
              <a:t>一起禱告 · 講一句，跟一句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200" b="1">
                <a:solidFill>
                  <a:srgbClr val="44748A"/>
                </a:solidFill>
                <a:latin typeface="微軟正黑體"/>
              </a:defRPr>
            </a:pPr>
            <a:r>
              <a:rPr sz="4200" b="1">
                <a:solidFill>
                  <a:srgbClr val="44748A"/>
                </a:solidFill>
              </a:rPr>
              <a:t>哦，主耶穌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44748A"/>
                </a:solidFill>
                <a:latin typeface="微軟正黑體"/>
              </a:defRPr>
            </a:pPr>
            <a:r>
              <a:rPr sz="2800">
                <a:solidFill>
                  <a:srgbClr val="44748A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神阿，赦免我今天所作的，我承認自己的罪。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44748A"/>
                </a:solidFill>
                <a:latin typeface="微軟正黑體"/>
              </a:defRPr>
            </a:pPr>
            <a:r>
              <a:rPr sz="2800">
                <a:solidFill>
                  <a:srgbClr val="44748A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主，謝謝你在十字架上為我而死，為我的罪付了代價。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44748A"/>
                </a:solidFill>
                <a:latin typeface="微軟正黑體"/>
              </a:defRPr>
            </a:pPr>
            <a:r>
              <a:rPr sz="2800">
                <a:solidFill>
                  <a:srgbClr val="44748A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主，我信你已赦免了這罪，洗淨我一切的不義。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44748A"/>
                </a:solidFill>
                <a:latin typeface="微軟正黑體"/>
              </a:defRPr>
            </a:pPr>
            <a:r>
              <a:rPr sz="2800">
                <a:solidFill>
                  <a:srgbClr val="44748A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我取用你的寶血潔淨我的良心，脫離一切罪疚的污穢。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1F3A5F"/>
                </a:solidFill>
                <a:latin typeface="微軟正黑體"/>
              </a:defRPr>
            </a:pPr>
            <a:r>
              <a:rPr sz="2400"/>
              <a:t>凡心裡相信，口裡承認，呼求主名的，就必得救。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44748A"/>
                </a:solidFill>
                <a:latin typeface="微軟正黑體"/>
              </a:defRPr>
            </a:pPr>
            <a:r>
              <a:rPr sz="1800">
                <a:solidFill>
                  <a:srgbClr val="44748A"/>
                </a:solidFill>
              </a:rP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200" b="1">
                <a:solidFill>
                  <a:srgbClr val="44748A"/>
                </a:solidFill>
                <a:latin typeface="微軟正黑體"/>
              </a:defRPr>
            </a:pPr>
            <a:r>
              <a:rPr sz="4200" b="1">
                <a:solidFill>
                  <a:srgbClr val="44748A"/>
                </a:solidFill>
              </a:rPr>
              <a:t>不要讓這個福音停在今天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44748A"/>
                </a:solidFill>
                <a:latin typeface="微軟正黑體"/>
              </a:defRPr>
            </a:pPr>
            <a:r>
              <a:rPr sz="31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留下聯絡方式，約定下次見面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44748A"/>
                </a:solidFill>
                <a:latin typeface="微軟正黑體"/>
              </a:defRPr>
            </a:pPr>
            <a:r>
              <a:rPr sz="31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31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邀請參加小排或福音聚會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44748A"/>
                </a:solidFill>
                <a:latin typeface="微軟正黑體"/>
              </a:defRPr>
            </a:pPr>
            <a:r>
              <a:rPr sz="3100">
                <a:solidFill>
                  <a:srgbClr val="44748A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每天花一點時間呼求主名、讀經禱告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人生的奧祕（二）·福音鑰字「疚」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