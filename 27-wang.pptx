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【約0.5分鐘】今天只講一個字——「望」，設計主題是「仰望的星光」。先讓朋友放鬆：給我大約十五分鐘，聽完再一起討論。本篇已按福音需要調整順序：先從生活談起，再回到經文，內容取自原文。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【約1.5分鐘】開場提問：人生期望破滅、盼望成空，到底甚麼是人可以仰望的？ 讓朋友先說兩句，建立關係，不要急著辯論，也不要一開始就先背經文。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【約2.2分鐘】望斷以及於耶穌。投影片上的講解就是原文該段的濃縮，講的時候可以照著說，再展開一兩句自己的見證，不要偏離原文。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【約2.2分鐘】仰望祂便有光榮。投影片上的講解就是原文該段的濃縮，講的時候可以照著說，再展開一兩句自己的見證，不要偏離原文。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【約2.2分鐘】仰望神臉得救恩。投影片上的講解就是原文該段的濃縮，講的時候可以照著說，再展開一兩句自己的見證，不要偏離原文。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【約2.2分鐘】一望銅蛇就活了。投影片上的講解就是原文該段的濃縮，講的時候可以照著說，再展開一兩句自己的見證，不要偏離原文。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【約1分鐘】講完生活與信息後，再把本篇篇首的鑰字經文讀一遍，幫助朋友把剛才聽到的信息對回經文上。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人生一切問題、人群一切難處，都在於缺少神、沒有神。有了神，一切問題都得解答，一切難處都能解決。主耶穌是信心的創始者與成終者；仰望祂、注視祂，祂就以自己作相信的元素注入你裡面，作你的信心，加強你往前得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【約0.5分鐘】直接、溫和地問，不要強逼。朋友若有問題，記下來，講完禱告後再回答。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【約1分鐘】邀請朋友開口跟著禱告，一句一句慢慢來。只要他願意開口呼求主名，就恭喜他得救了，並立刻約定下一次見面。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【約0.5分鐘】結尾：留下手機或 Line，立刻邀請到小排或下次福音聚會。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望_bann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27432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743200"/>
            <a:ext cx="12188952" cy="73152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5000" b="1">
                <a:solidFill>
                  <a:srgbClr val="8B7E4B"/>
                </a:solidFill>
                <a:latin typeface="微軟正黑體"/>
              </a:defRPr>
            </a:pPr>
            <a:r>
              <a:rPr>
                <a:solidFill>
                  <a:srgbClr val="8B7E4B"/>
                </a:solidFill>
              </a:rPr>
              <a:t>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402336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800" b="0">
                <a:solidFill>
                  <a:srgbClr val="0F172A"/>
                </a:solidFill>
                <a:latin typeface="微軟正黑體"/>
              </a:defRPr>
            </a:pPr>
            <a:r>
              <a:rPr sz="2800">
                <a:solidFill>
                  <a:srgbClr val="0F172A"/>
                </a:solidFill>
              </a:rPr>
              <a:t>人應有的態度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466344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0">
                <a:solidFill>
                  <a:srgbClr val="0F172A"/>
                </a:solidFill>
                <a:latin typeface="微軟正黑體"/>
              </a:defRPr>
            </a:pPr>
            <a:r>
              <a:rPr sz="2400">
                <a:solidFill>
                  <a:srgbClr val="0F172A"/>
                </a:solidFill>
              </a:rPr>
              <a:t>第 27 個鑰字 · 一個字，一個福音信息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800" b="1">
                <a:solidFill>
                  <a:srgbClr val="C07A1A"/>
                </a:solidFill>
                <a:latin typeface="微軟正黑體"/>
              </a:defRPr>
            </a:pPr>
            <a:r>
              <a:rPr sz="3800" b="1">
                <a:solidFill>
                  <a:srgbClr val="C07A1A"/>
                </a:solidFill>
              </a:rPr>
              <a:t>你有沒有想過……？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000" b="1">
                <a:solidFill>
                  <a:srgbClr val="8B7E4B"/>
                </a:solidFill>
                <a:latin typeface="微軟正黑體"/>
              </a:defRPr>
            </a:pPr>
            <a:r>
              <a:rPr sz="4000" b="1">
                <a:solidFill>
                  <a:srgbClr val="8B7E4B"/>
                </a:solidFill>
              </a:rPr>
              <a:t>人生期望破滅、盼望成空，到底甚麼是人可以仰望的？</a:t>
            </a:r>
          </a:p>
        </p:txBody>
      </p:sp>
      <p:pic>
        <p:nvPicPr>
          <p:cNvPr id="8" name="Picture 7" descr="望_s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000" b="1">
                <a:solidFill>
                  <a:srgbClr val="8B7E4B"/>
                </a:solidFill>
                <a:latin typeface="微軟正黑體"/>
              </a:defRPr>
            </a:pPr>
            <a:r>
              <a:rPr sz="4000" b="1">
                <a:solidFill>
                  <a:srgbClr val="8B7E4B"/>
                </a:solidFill>
              </a:rPr>
              <a:t>望斷以及於耶穌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7E4B"/>
                </a:solidFill>
                <a:latin typeface="微軟正黑體"/>
              </a:defRPr>
            </a:pPr>
            <a:r>
              <a:rPr sz="3300">
                <a:solidFill>
                  <a:srgbClr val="8B7E4B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轉離其他目標專一注視耶穌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7E4B"/>
                </a:solidFill>
                <a:latin typeface="微軟正黑體"/>
              </a:defRPr>
            </a:pPr>
            <a:r>
              <a:rPr sz="3300">
                <a:solidFill>
                  <a:srgbClr val="8B7E4B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忘掉軟弱難處煩惱不看自己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7E4B"/>
                </a:solidFill>
                <a:latin typeface="微軟正黑體"/>
              </a:defRPr>
            </a:pPr>
            <a:r>
              <a:rPr sz="3300">
                <a:solidFill>
                  <a:srgbClr val="8B7E4B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祂注入信心吞滅一切消極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0F172A"/>
                </a:solidFill>
                <a:latin typeface="微軟正黑體"/>
              </a:defRPr>
            </a:pPr>
            <a:r>
              <a:rPr sz="2400"/>
              <a:t>經文：「望斷以及於耶穌，就是我們信心的創始者與成終者。」（來十二2）</a:t>
            </a:r>
          </a:p>
        </p:txBody>
      </p:sp>
      <p:pic>
        <p:nvPicPr>
          <p:cNvPr id="17" name="Picture 16" descr="story_望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000" b="1">
                <a:solidFill>
                  <a:srgbClr val="8B7E4B"/>
                </a:solidFill>
                <a:latin typeface="微軟正黑體"/>
              </a:defRPr>
            </a:pPr>
            <a:r>
              <a:rPr sz="4000" b="1">
                <a:solidFill>
                  <a:srgbClr val="8B7E4B"/>
                </a:solidFill>
              </a:rPr>
              <a:t>仰望祂便有光榮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7E4B"/>
                </a:solidFill>
                <a:latin typeface="微軟正黑體"/>
              </a:defRPr>
            </a:pPr>
            <a:r>
              <a:rPr sz="3300">
                <a:solidFill>
                  <a:srgbClr val="8B7E4B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金錢並非萬能只有神可靠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7E4B"/>
                </a:solidFill>
                <a:latin typeface="微軟正黑體"/>
              </a:defRPr>
            </a:pPr>
            <a:r>
              <a:rPr sz="3300">
                <a:solidFill>
                  <a:srgbClr val="8B7E4B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鐵達尼富翁出五十萬買不到位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7E4B"/>
                </a:solidFill>
                <a:latin typeface="微軟正黑體"/>
              </a:defRPr>
            </a:pPr>
            <a:r>
              <a:rPr sz="3300">
                <a:solidFill>
                  <a:srgbClr val="8B7E4B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在神以外有所仰望終必蒙羞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0F172A"/>
                </a:solidFill>
                <a:latin typeface="微軟正黑體"/>
              </a:defRPr>
            </a:pPr>
            <a:r>
              <a:rPr sz="2400"/>
              <a:t>經文：「人仰望祂，便有光榮；他們的臉必不蒙羞。」（詩三四5）</a:t>
            </a:r>
          </a:p>
        </p:txBody>
      </p:sp>
      <p:pic>
        <p:nvPicPr>
          <p:cNvPr id="17" name="Picture 16" descr="story_望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000" b="1">
                <a:solidFill>
                  <a:srgbClr val="8B7E4B"/>
                </a:solidFill>
                <a:latin typeface="微軟正黑體"/>
              </a:defRPr>
            </a:pPr>
            <a:r>
              <a:rPr sz="4000" b="1">
                <a:solidFill>
                  <a:srgbClr val="8B7E4B"/>
                </a:solidFill>
              </a:rPr>
              <a:t>仰望神臉得救恩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7E4B"/>
                </a:solidFill>
                <a:latin typeface="微軟正黑體"/>
              </a:defRPr>
            </a:pPr>
            <a:r>
              <a:rPr sz="3300">
                <a:solidFill>
                  <a:srgbClr val="8B7E4B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憂悶煩躁時應當仰望神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7E4B"/>
                </a:solidFill>
                <a:latin typeface="微軟正黑體"/>
              </a:defRPr>
            </a:pPr>
            <a:r>
              <a:rPr sz="3300">
                <a:solidFill>
                  <a:srgbClr val="8B7E4B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神臉上的救恩變你臉上救恩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7E4B"/>
                </a:solidFill>
                <a:latin typeface="微軟正黑體"/>
              </a:defRPr>
            </a:pPr>
            <a:r>
              <a:rPr sz="3300">
                <a:solidFill>
                  <a:srgbClr val="8B7E4B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每天禱告吸取神自己得改變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0F172A"/>
                </a:solidFill>
                <a:latin typeface="微軟正黑體"/>
              </a:defRPr>
            </a:pPr>
            <a:r>
              <a:rPr sz="2400"/>
              <a:t>經文：「我的魂哪，你為何憂悶？為何在我裡面煩躁？應當仰望神；因我還要讚美祂，祂是我臉上的救恩，是我的神。」（詩四二11）</a:t>
            </a:r>
          </a:p>
        </p:txBody>
      </p:sp>
      <p:pic>
        <p:nvPicPr>
          <p:cNvPr id="17" name="Picture 16" descr="story_望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000" b="1">
                <a:solidFill>
                  <a:srgbClr val="8B7E4B"/>
                </a:solidFill>
                <a:latin typeface="微軟正黑體"/>
              </a:defRPr>
            </a:pPr>
            <a:r>
              <a:rPr sz="4000" b="1">
                <a:solidFill>
                  <a:srgbClr val="8B7E4B"/>
                </a:solidFill>
              </a:rPr>
              <a:t>一望銅蛇就活了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7E4B"/>
                </a:solidFill>
                <a:latin typeface="微軟正黑體"/>
              </a:defRPr>
            </a:pPr>
            <a:r>
              <a:rPr sz="3300">
                <a:solidFill>
                  <a:srgbClr val="8B7E4B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銅蛇有蛇形卻無蛇毒作代替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7E4B"/>
                </a:solidFill>
                <a:latin typeface="微軟正黑體"/>
              </a:defRPr>
            </a:pPr>
            <a:r>
              <a:rPr sz="3300">
                <a:solidFill>
                  <a:srgbClr val="8B7E4B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以色列人一望銅蛇免死得活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7E4B"/>
                </a:solidFill>
                <a:latin typeface="微軟正黑體"/>
              </a:defRPr>
            </a:pPr>
            <a:r>
              <a:rPr sz="3300">
                <a:solidFill>
                  <a:srgbClr val="8B7E4B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望被舉起的耶穌信入得永生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0F172A"/>
                </a:solidFill>
                <a:latin typeface="微軟正黑體"/>
              </a:defRPr>
            </a:pPr>
            <a:r>
              <a:rPr sz="2400"/>
              <a:t>經文：「蛇若咬了甚麼人，那人一望這銅蛇就活了。」（民二一9下）</a:t>
            </a:r>
          </a:p>
        </p:txBody>
      </p:sp>
      <p:pic>
        <p:nvPicPr>
          <p:cNvPr id="17" name="Picture 16" descr="story_望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" b="1">
                <a:solidFill>
                  <a:srgbClr val="8B7E4B"/>
                </a:solidFill>
                <a:latin typeface="微軟正黑體"/>
              </a:defRPr>
            </a:pPr>
            <a:r>
              <a:rPr sz="1800">
                <a:solidFill>
                  <a:srgbClr val="8B7E4B"/>
                </a:solidFill>
              </a:rPr>
              <a:t>回到經文 · 本篇一覽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200" b="1">
                <a:solidFill>
                  <a:srgbClr val="8B7E4B"/>
                </a:solidFill>
                <a:latin typeface="微軟正黑體"/>
              </a:defRPr>
            </a:pPr>
            <a:r>
              <a:rPr sz="4200" b="1">
                <a:solidFill>
                  <a:srgbClr val="8B7E4B"/>
                </a:solidFill>
              </a:rPr>
              <a:t>「望」的鑰字經文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望斷以及於耶穌，就是信心的創始者與成終者。（來十二2）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人仰望祂，便有光榮；他們的臉必不蒙羞。（詩三四5）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39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應當仰望神；祂是我臉上的救恩。（詩四二11）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蛇若咬了甚麼人，那人一望這銅蛇就活了。（民二一9下）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0F172A"/>
                </a:solidFill>
                <a:latin typeface="微軟正黑體"/>
              </a:defRPr>
            </a:pPr>
            <a:r>
              <a:rPr sz="2000"/>
              <a:t>這些經文，就是剛才信息的根據。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C07A1A"/>
                </a:solidFill>
                <a:latin typeface="微軟正黑體"/>
              </a:defRPr>
            </a:pPr>
            <a:r>
              <a:rPr sz="2000">
                <a:solidFill>
                  <a:srgbClr val="C07A1A"/>
                </a:solidFill>
              </a:rPr>
              <a:t>福音的答案 · 仰望的星光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600" b="1">
                <a:solidFill>
                  <a:srgbClr val="8B7E4B"/>
                </a:solidFill>
                <a:latin typeface="微軟正黑體"/>
              </a:defRPr>
            </a:pPr>
            <a:r>
              <a:rPr sz="4600" b="1">
                <a:solidFill>
                  <a:srgbClr val="8B7E4B"/>
                </a:solidFill>
              </a:rPr>
              <a:t>福音的答案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698480" cy="54864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C07A1A"/>
                </a:solidFill>
                <a:latin typeface="微軟正黑體"/>
              </a:defRPr>
            </a:pPr>
            <a:r>
              <a:rPr sz="3300">
                <a:solidFill>
                  <a:srgbClr val="C07A1A"/>
                </a:solidFill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0F172A"/>
                </a:solidFill>
                <a:latin typeface="微軟正黑體"/>
              </a:defRPr>
            </a:pPr>
            <a:r>
              <a:rPr sz="3300">
                <a:solidFill>
                  <a:srgbClr val="0F172A"/>
                </a:solidFill>
              </a:rPr>
              <a:t>人生問題在於缺少神沒有神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C07A1A"/>
                </a:solidFill>
                <a:latin typeface="微軟正黑體"/>
              </a:defRPr>
            </a:pPr>
            <a:r>
              <a:rPr sz="3300">
                <a:solidFill>
                  <a:srgbClr val="C07A1A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0F172A"/>
                </a:solidFill>
                <a:latin typeface="微軟正黑體"/>
              </a:defRPr>
            </a:pPr>
            <a:r>
              <a:rPr sz="3300">
                <a:solidFill>
                  <a:srgbClr val="0F172A"/>
                </a:solidFill>
              </a:rPr>
              <a:t>有了神一切問題都得解答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C07A1A"/>
                </a:solidFill>
                <a:latin typeface="微軟正黑體"/>
              </a:defRPr>
            </a:pPr>
            <a:r>
              <a:rPr sz="3300">
                <a:solidFill>
                  <a:srgbClr val="C07A1A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0F172A"/>
                </a:solidFill>
                <a:latin typeface="微軟正黑體"/>
              </a:defRPr>
            </a:pPr>
            <a:r>
              <a:rPr sz="3300">
                <a:solidFill>
                  <a:srgbClr val="0F172A"/>
                </a:solidFill>
              </a:rPr>
              <a:t>仰望耶穌祂就作你的信心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400" b="0">
                <a:solidFill>
                  <a:srgbClr val="0F172A"/>
                </a:solidFill>
                <a:latin typeface="微軟正黑體"/>
              </a:defRPr>
            </a:pPr>
            <a:r>
              <a:rPr sz="2400">
                <a:solidFill>
                  <a:srgbClr val="0F172A"/>
                </a:solidFill>
              </a:rPr>
              <a:t>人生一切問題、人群一切難處，都在於缺少神、沒有神。有了神，一切問題都得解答，一切難處都能解決。主耶穌是信心的創始者與成終者；仰望祂、注視祂，祂就以自己作相信的元素注入你裡面，作你的信心，加強你往前得勝。</a:t>
            </a:r>
          </a:p>
        </p:txBody>
      </p:sp>
      <p:pic>
        <p:nvPicPr>
          <p:cNvPr id="12" name="Picture 11" descr="望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19456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" b="1">
                <a:solidFill>
                  <a:srgbClr val="8B7E4B"/>
                </a:solidFill>
                <a:latin typeface="微軟正黑體"/>
              </a:defRPr>
            </a:pPr>
            <a:r>
              <a:rPr sz="1800">
                <a:solidFill>
                  <a:srgbClr val="8B7E4B"/>
                </a:solidFill>
              </a:rPr>
              <a:t>抉擇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200" b="1">
                <a:solidFill>
                  <a:srgbClr val="8B7E4B"/>
                </a:solidFill>
                <a:latin typeface="微軟正黑體"/>
              </a:defRPr>
            </a:pPr>
            <a:r>
              <a:rPr sz="4200" b="1">
                <a:solidFill>
                  <a:srgbClr val="8B7E4B"/>
                </a:solidFill>
              </a:rPr>
              <a:t>今天，你願意嗎？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600" b="1">
                <a:solidFill>
                  <a:srgbClr val="0F172A"/>
                </a:solidFill>
                <a:latin typeface="微軟正黑體"/>
              </a:defRPr>
            </a:pPr>
            <a:r>
              <a:rPr sz="3600"/>
              <a:t>舉起你的心，注視仰望被釘在十字架上的耶穌，信入祂，得永遠的生命。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5A5A5A"/>
                </a:solidFill>
                <a:latin typeface="微軟正黑體"/>
              </a:defRPr>
            </a:pPr>
            <a:r>
              <a:rPr sz="2600"/>
              <a:t>不需要先作好、改好，只要現在作一個決定。</a:t>
            </a:r>
          </a:p>
        </p:txBody>
      </p:sp>
      <p:pic>
        <p:nvPicPr>
          <p:cNvPr id="8" name="Picture 7" descr="望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" b="1">
                <a:solidFill>
                  <a:srgbClr val="8B7E4B"/>
                </a:solidFill>
                <a:latin typeface="微軟正黑體"/>
              </a:defRPr>
            </a:pPr>
            <a:r>
              <a:rPr sz="1800">
                <a:solidFill>
                  <a:srgbClr val="8B7E4B"/>
                </a:solidFill>
              </a:rPr>
              <a:t>一起禱告 · 講一句，跟一句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200" b="1">
                <a:solidFill>
                  <a:srgbClr val="8B7E4B"/>
                </a:solidFill>
                <a:latin typeface="微軟正黑體"/>
              </a:defRPr>
            </a:pPr>
            <a:r>
              <a:rPr sz="4200" b="1">
                <a:solidFill>
                  <a:srgbClr val="8B7E4B"/>
                </a:solidFill>
              </a:rPr>
              <a:t>哦，主耶穌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B7E4B"/>
                </a:solidFill>
                <a:latin typeface="微軟正黑體"/>
              </a:defRPr>
            </a:pPr>
            <a:r>
              <a:rPr sz="2800">
                <a:solidFill>
                  <a:srgbClr val="8B7E4B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主耶穌，我轉眼不看環境難處，只仰望你。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B7E4B"/>
                </a:solidFill>
                <a:latin typeface="微軟正黑體"/>
              </a:defRPr>
            </a:pPr>
            <a:r>
              <a:rPr sz="2800">
                <a:solidFill>
                  <a:srgbClr val="8B7E4B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求你作我的信心，吞滅我裡面一切消極。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B7E4B"/>
                </a:solidFill>
                <a:latin typeface="微軟正黑體"/>
              </a:defRPr>
            </a:pPr>
            <a:r>
              <a:rPr sz="2800">
                <a:solidFill>
                  <a:srgbClr val="8B7E4B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求你臉上的救恩，成為我臉上的救恩。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B7E4B"/>
                </a:solidFill>
                <a:latin typeface="微軟正黑體"/>
              </a:defRPr>
            </a:pPr>
            <a:r>
              <a:rPr sz="2800">
                <a:solidFill>
                  <a:srgbClr val="8B7E4B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主啊，我望你、信入你，得永遠的生命。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0F172A"/>
                </a:solidFill>
                <a:latin typeface="微軟正黑體"/>
              </a:defRPr>
            </a:pPr>
            <a:r>
              <a:rPr sz="2400"/>
              <a:t>凡心裡相信，口裡承認，呼求主名的，就必得救。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" b="1">
                <a:solidFill>
                  <a:srgbClr val="8B7E4B"/>
                </a:solidFill>
                <a:latin typeface="微軟正黑體"/>
              </a:defRPr>
            </a:pPr>
            <a:r>
              <a:rPr sz="1800">
                <a:solidFill>
                  <a:srgbClr val="8B7E4B"/>
                </a:solidFill>
              </a:rPr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200" b="1">
                <a:solidFill>
                  <a:srgbClr val="8B7E4B"/>
                </a:solidFill>
                <a:latin typeface="微軟正黑體"/>
              </a:defRPr>
            </a:pPr>
            <a:r>
              <a:rPr sz="4200" b="1">
                <a:solidFill>
                  <a:srgbClr val="8B7E4B"/>
                </a:solidFill>
              </a:rPr>
              <a:t>不要讓這個福音停在今天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1188720"/>
            <a:ext cx="1371600" cy="54864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B7E4B"/>
                </a:solidFill>
                <a:latin typeface="微軟正黑體"/>
              </a:defRPr>
            </a:pPr>
            <a:r>
              <a:rPr sz="3100">
                <a:solidFill>
                  <a:srgbClr val="8B7E4B"/>
                </a:solidFill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留下聯絡方式，約定下次見面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B7E4B"/>
                </a:solidFill>
                <a:latin typeface="微軟正黑體"/>
              </a:defRPr>
            </a:pPr>
            <a:r>
              <a:rPr sz="3100">
                <a:solidFill>
                  <a:srgbClr val="8B7E4B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331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邀請參加小排或福音聚會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B7E4B"/>
                </a:solidFill>
                <a:latin typeface="微軟正黑體"/>
              </a:defRPr>
            </a:pPr>
            <a:r>
              <a:rPr sz="3100">
                <a:solidFill>
                  <a:srgbClr val="8B7E4B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108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每天花一點時間呼求主名、讀經禱告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0">
                <a:solidFill>
                  <a:srgbClr val="5A5A5A"/>
                </a:solidFill>
                <a:latin typeface="微軟正黑體"/>
              </a:defRPr>
            </a:pPr>
            <a:r>
              <a:rPr sz="2000"/>
              <a:t>約翰福音生命讀經，第十六、九篇；生命樹，第十四章；福音故事，虚空；詩篇生命讀經，第十九篇；禱告的意義與目的，第一篇；造就故事，感讃；基督與十字架，第五篇；真理課程三級卷二，第三十二課。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人生的奧祕（二）·福音鑰字「望」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