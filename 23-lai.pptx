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【約0.5分鐘】今天只講一個字——「來」，設計主題是「敞開的門」。先讓朋友放鬆：給我大約十五分鐘，聽完再一起討論。本篇已按福音需要調整順序：先從生活談起，再回到經文，內容取自原文。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【約1.5分鐘】開場提問：神已經作了一切，你為何還不來接受？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【約2.2分鐘】歸向主得醫治。投影片上的講解就是原文該段的濃縮，講的時候可以照著說，再展開一兩句自己的見證，不要偏離原文。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【約2.2分鐘】勞苦者得安息。投影片上的講解就是原文該段的濃縮，講的時候可以照著說，再展開一兩句自己的見證，不要偏離原文。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【約2.2分鐘】坦然來施恩座。投影片上的講解就是原文該段的濃縮，講的時候可以照著說，再展開一兩句自己的見證，不要偏離原文。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【約2.2分鐘】乾渴白白取水。投影片上的講解就是原文該段的濃縮，講的時候可以照著說，再展開一兩句自己的見證，不要偏離原文。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主復活得着天上地上所有的權柄，坐在神右邊作君王救主，藉祂來到神面前的人，祂都能拯救到底；無論輭弱、疾病、罪惡、死亡、困難、苦楚，祂都能拯救。如果今天還未得完全拯救，不是祂不能拯救徹底，乃是你不肯徹底來蒙拯救；祂正等候你來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來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0" y="1097280"/>
            <a:ext cx="81381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097280"/>
            <a:ext cx="8138160" cy="109728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7223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8B663F"/>
                </a:solidFill>
                <a:latin typeface="微軟正黑體"/>
              </a:defRPr>
            </a:pPr>
            <a:r>
              <a:rPr>
                <a:solidFill>
                  <a:srgbClr val="8B663F"/>
                </a:solidFill>
              </a:rPr>
              <a:t>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749039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600" b="0">
                <a:solidFill>
                  <a:srgbClr val="2B2B2B"/>
                </a:solidFill>
                <a:latin typeface="微軟正黑體"/>
              </a:defRPr>
            </a:pPr>
            <a:r>
              <a:rPr sz="2600"/>
              <a:t>敞開的門 · 人應有的態度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3891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400" b="0">
                <a:solidFill>
                  <a:srgbClr val="5A5A5A"/>
                </a:solidFill>
                <a:latin typeface="微軟正黑體"/>
              </a:defRPr>
            </a:pPr>
            <a:r>
              <a:rPr sz="2400"/>
              <a:t>第 23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FFFFFF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B663F"/>
                </a:solidFill>
                <a:latin typeface="微軟正黑體"/>
              </a:defRPr>
            </a:pPr>
            <a:r>
              <a:rPr sz="4000" b="1">
                <a:solidFill>
                  <a:srgbClr val="8B663F"/>
                </a:solidFill>
              </a:rPr>
              <a:t>神已經作了一切，你為何還不來接受？</a:t>
            </a:r>
          </a:p>
        </p:txBody>
      </p:sp>
      <p:pic>
        <p:nvPicPr>
          <p:cNvPr id="9" name="Picture 8" descr="來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663F"/>
                </a:solidFill>
                <a:latin typeface="微軟正黑體"/>
              </a:defRPr>
            </a:pPr>
            <a:r>
              <a:rPr sz="4000" b="1">
                <a:solidFill>
                  <a:srgbClr val="8B663F"/>
                </a:solidFill>
              </a:rPr>
              <a:t>歸向主得醫治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人墮落神立刻來尋找人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主已成功永遠的救贖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不來接受就不得赦免拯救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78350F"/>
                </a:solidFill>
                <a:latin typeface="微軟正黑體"/>
              </a:defRPr>
            </a:pPr>
            <a:r>
              <a:rPr sz="2400"/>
              <a:t>經文：「來吧，我們歸向耶和華；祂必醫治，也必纏裹，祂也必使我們活過來。」（何六1-3）</a:t>
            </a:r>
          </a:p>
        </p:txBody>
      </p:sp>
      <p:pic>
        <p:nvPicPr>
          <p:cNvPr id="18" name="Picture 17" descr="story_來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663F"/>
                </a:solidFill>
                <a:latin typeface="微軟正黑體"/>
              </a:defRPr>
            </a:pPr>
            <a:r>
              <a:rPr sz="4000" b="1">
                <a:solidFill>
                  <a:srgbClr val="8B663F"/>
                </a:solidFill>
              </a:rPr>
              <a:t>勞苦者得安息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惟一條件就是到主這裡來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來不是作工乃是得安息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主已作成一切的工作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78350F"/>
                </a:solidFill>
                <a:latin typeface="微軟正黑體"/>
              </a:defRPr>
            </a:pPr>
            <a:r>
              <a:rPr sz="2400"/>
              <a:t>經文：「凡勞苦擔重擔的，可以到我這裡來，我必使你們得安息。」（太十一28）</a:t>
            </a:r>
          </a:p>
        </p:txBody>
      </p:sp>
      <p:pic>
        <p:nvPicPr>
          <p:cNvPr id="18" name="Picture 17" descr="story_來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663F"/>
                </a:solidFill>
                <a:latin typeface="微軟正黑體"/>
              </a:defRPr>
            </a:pPr>
            <a:r>
              <a:rPr sz="4000" b="1">
                <a:solidFill>
                  <a:srgbClr val="8B663F"/>
                </a:solidFill>
              </a:rPr>
              <a:t>坦然來施恩座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神的憐憫先臨到我們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憐憫如橋連接神的恩典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主的血開了又新又活的路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78350F"/>
                </a:solidFill>
                <a:latin typeface="微軟正黑體"/>
              </a:defRPr>
            </a:pPr>
            <a:r>
              <a:rPr sz="2400"/>
              <a:t>經文：「所以我們只管坦然無懼地來到施恩的寶座前，為要受憐憫，得恩典，作應時的幫助。」（來四16）</a:t>
            </a:r>
          </a:p>
        </p:txBody>
      </p:sp>
      <p:pic>
        <p:nvPicPr>
          <p:cNvPr id="18" name="Picture 17" descr="story_來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663F"/>
                </a:solidFill>
                <a:latin typeface="微軟正黑體"/>
              </a:defRPr>
            </a:pPr>
            <a:r>
              <a:rPr sz="4000" b="1">
                <a:solidFill>
                  <a:srgbClr val="8B663F"/>
                </a:solidFill>
              </a:rPr>
              <a:t>乾渴白白取水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世事世物只會加增乾渴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來不用銀錢不用代價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照本相敞開心門來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78350F"/>
                </a:solidFill>
                <a:latin typeface="微軟正黑體"/>
              </a:defRPr>
            </a:pPr>
            <a:r>
              <a:rPr sz="2400"/>
              <a:t>經文：「來！口渴的人也當來；願意的都可以白白取生命的水喝。」（啟二二17）</a:t>
            </a:r>
          </a:p>
        </p:txBody>
      </p:sp>
      <p:pic>
        <p:nvPicPr>
          <p:cNvPr id="18" name="Picture 17" descr="story_來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B663F"/>
                </a:solidFill>
                <a:latin typeface="微軟正黑體"/>
              </a:defRPr>
            </a:pPr>
            <a:r>
              <a:rPr sz="1800">
                <a:solidFill>
                  <a:srgbClr val="8B663F"/>
                </a:solidFill>
              </a:rPr>
              <a:t>回到經文 · 本篇一覽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663F"/>
                </a:solidFill>
                <a:latin typeface="微軟正黑體"/>
              </a:defRPr>
            </a:pPr>
            <a:r>
              <a:rPr sz="4200" b="1">
                <a:solidFill>
                  <a:srgbClr val="8B663F"/>
                </a:solidFill>
              </a:rPr>
              <a:t>「來」的鑰字經文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何六1-3：來吧，我們歸向耶和華，祂必醫治、纏裹、使我們活過來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太十一28：凡勞苦擔重擔的，可以到我這裡來，我必使你們得安息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來四16：坦然無懼地來到施恩的寶座前，受憐憫得恩典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啟二二17：口渴的人也當來，白白取生命的水喝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賽五五1-3：乾渴的都當就近水來，不用銀錢買酒和奶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78350F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8B663F"/>
                </a:solidFill>
                <a:latin typeface="微軟正黑體"/>
              </a:defRPr>
            </a:pPr>
            <a:r>
              <a:rPr sz="2000">
                <a:solidFill>
                  <a:srgbClr val="8B663F"/>
                </a:solidFill>
              </a:rPr>
              <a:t>福音的答案 · 敞開的門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B663F"/>
                </a:solidFill>
                <a:latin typeface="微軟正黑體"/>
              </a:defRPr>
            </a:pPr>
            <a:r>
              <a:rPr sz="4600" b="1">
                <a:solidFill>
                  <a:srgbClr val="8B663F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神願意拯救並已盡力作了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主復活升天能拯救到底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663F"/>
                </a:solidFill>
                <a:latin typeface="微軟正黑體"/>
              </a:defRPr>
            </a:pPr>
            <a:r>
              <a:rPr sz="33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聖靈正在心中呼召感動你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82828"/>
                </a:solidFill>
                <a:latin typeface="微軟正黑體"/>
              </a:defRPr>
            </a:pPr>
            <a:r>
              <a:rPr sz="2400">
                <a:solidFill>
                  <a:srgbClr val="282828"/>
                </a:solidFill>
              </a:rPr>
              <a:t>主復活得着天上地上所有的權柄，坐在神右邊作君王救主，藉祂來到神面前的人，祂都能拯救到底；無論輭弱、疾病、罪惡、死亡、困難、苦楚，祂都能拯救。如果今天還未得完全拯救，不是祂不能拯救徹底，乃是你不肯徹底來蒙拯救；祂正等候你來接受。</a:t>
            </a:r>
          </a:p>
        </p:txBody>
      </p:sp>
      <p:pic>
        <p:nvPicPr>
          <p:cNvPr id="12" name="Picture 11" descr="來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B663F"/>
                </a:solidFill>
                <a:latin typeface="微軟正黑體"/>
              </a:defRPr>
            </a:pPr>
            <a:r>
              <a:rPr sz="1800">
                <a:solidFill>
                  <a:srgbClr val="8B663F"/>
                </a:solidFill>
              </a:rPr>
              <a:t>抉擇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663F"/>
                </a:solidFill>
                <a:latin typeface="微軟正黑體"/>
              </a:defRPr>
            </a:pPr>
            <a:r>
              <a:rPr sz="4200" b="1">
                <a:solidFill>
                  <a:srgbClr val="8B663F"/>
                </a:solidFill>
              </a:rPr>
              <a:t>今天，你願意嗎？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78350F"/>
                </a:solidFill>
                <a:latin typeface="微軟正黑體"/>
              </a:defRPr>
            </a:pPr>
            <a:r>
              <a:rPr sz="3600"/>
              <a:t>請你相信！請你接受！請你來！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來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B663F"/>
                </a:solidFill>
                <a:latin typeface="微軟正黑體"/>
              </a:defRPr>
            </a:pPr>
            <a:r>
              <a:rPr sz="1800">
                <a:solidFill>
                  <a:srgbClr val="8B663F"/>
                </a:solidFill>
              </a:rPr>
              <a:t>一起禱告 · 講一句，跟一句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663F"/>
                </a:solidFill>
                <a:latin typeface="微軟正黑體"/>
              </a:defRPr>
            </a:pPr>
            <a:r>
              <a:rPr sz="4200" b="1">
                <a:solidFill>
                  <a:srgbClr val="8B663F"/>
                </a:solidFill>
              </a:rPr>
              <a:t>哦，主耶穌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663F"/>
                </a:solidFill>
                <a:latin typeface="微軟正黑體"/>
              </a:defRPr>
            </a:pPr>
            <a:r>
              <a:rPr sz="2800">
                <a:solidFill>
                  <a:srgbClr val="8B663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主耶穌，我願意來到你這裡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663F"/>
                </a:solidFill>
                <a:latin typeface="微軟正黑體"/>
              </a:defRPr>
            </a:pPr>
            <a:r>
              <a:rPr sz="2800">
                <a:solidFill>
                  <a:srgbClr val="8B663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主耶穌，求你使我得安息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663F"/>
                </a:solidFill>
                <a:latin typeface="微軟正黑體"/>
              </a:defRPr>
            </a:pPr>
            <a:r>
              <a:rPr sz="2800">
                <a:solidFill>
                  <a:srgbClr val="8B663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主耶穌，求你賜我憐憫和恩典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663F"/>
                </a:solidFill>
                <a:latin typeface="微軟正黑體"/>
              </a:defRPr>
            </a:pPr>
            <a:r>
              <a:rPr sz="2800">
                <a:solidFill>
                  <a:srgbClr val="8B663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主耶穌，我渴了，求你給我生命的水喝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78350F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B663F"/>
                </a:solidFill>
                <a:latin typeface="微軟正黑體"/>
              </a:defRPr>
            </a:pPr>
            <a:r>
              <a:rPr sz="1800">
                <a:solidFill>
                  <a:srgbClr val="8B663F"/>
                </a:solidFill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663F"/>
                </a:solidFill>
                <a:latin typeface="微軟正黑體"/>
              </a:defRPr>
            </a:pPr>
            <a:r>
              <a:rPr sz="4200" b="1">
                <a:solidFill>
                  <a:srgbClr val="8B663F"/>
                </a:solidFill>
              </a:rPr>
              <a:t>不要讓這個福音停在今天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663F"/>
                </a:solidFill>
                <a:latin typeface="微軟正黑體"/>
              </a:defRPr>
            </a:pPr>
            <a:r>
              <a:rPr sz="31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663F"/>
                </a:solidFill>
                <a:latin typeface="微軟正黑體"/>
              </a:defRPr>
            </a:pPr>
            <a:r>
              <a:rPr sz="31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663F"/>
                </a:solidFill>
                <a:latin typeface="微軟正黑體"/>
              </a:defRPr>
            </a:pPr>
            <a:r>
              <a:rPr sz="3100">
                <a:solidFill>
                  <a:srgbClr val="8B663F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人生的奧祕（二）·福音鑰字「來」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