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【約0.5分鐘】今天只講一個字——「轉」，設計主題是「轉向的路」。先讓朋友放鬆：給我大約十五分鐘，聽完再一起討論。本篇已按福音需要調整順序：先從生活談起，再回到經文，內容取自原文。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【約1.5分鐘】開場提問：福音頭一句話，為何是「你們要悔改」？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【約2.2分鐘】心思轉變向神。投影片上的講解就是原文該段的濃縮，講的時候可以照著說，再展開一兩句自己的見證，不要偏離原文。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【約2.2分鐘】離棄偶像向活神。投影片上的講解就是原文該段的濃縮，講的時候可以照著說，再展開一兩句自己的見證，不要偏離原文。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【約2.2分鐘】從黑暗轉入光。投影片上的講解就是原文該段的濃縮，講的時候可以照著說，再展開一兩句自己的見證，不要偏離原文。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【約2.2分鐘】回轉罪抹得舒爽。投影片上的講解就是原文該段的濃縮，講的時候可以照著說，再展開一兩句自己的見證，不要偏離原文。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原文也說：無論是麻瘋、癱瘓、發燒、鬼附的人，只要轉向祂，祂就醫治，恢復正常生命功能；人轉向神得着祂作穩定的力量，人生的船就不再漂泊翻覆。神富有憐憫和恩典；無論你的情形如何，只要轉向祂，祂就醫治你各樣的疾病，恢復正常生命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轉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74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49835E"/>
                </a:solidFill>
                <a:latin typeface="微軟正黑體"/>
              </a:defRPr>
            </a:pPr>
            <a:r>
              <a:rPr>
                <a:solidFill>
                  <a:srgbClr val="49835E"/>
                </a:solidFill>
              </a:rPr>
              <a:t>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0233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800" b="0">
                <a:solidFill>
                  <a:srgbClr val="20401C"/>
                </a:solidFill>
                <a:latin typeface="微軟正黑體"/>
              </a:defRPr>
            </a:pPr>
            <a:r>
              <a:rPr sz="2800">
                <a:solidFill>
                  <a:srgbClr val="20401C"/>
                </a:solidFill>
              </a:rPr>
              <a:t>人應有的態度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6634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20401C"/>
                </a:solidFill>
                <a:latin typeface="微軟正黑體"/>
              </a:defRPr>
            </a:pPr>
            <a:r>
              <a:rPr sz="2400">
                <a:solidFill>
                  <a:srgbClr val="20401C"/>
                </a:solidFill>
              </a:rPr>
              <a:t>第 22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800" b="1">
                <a:solidFill>
                  <a:srgbClr val="49835E"/>
                </a:solidFill>
                <a:latin typeface="微軟正黑體"/>
              </a:defRPr>
            </a:pPr>
            <a:r>
              <a:rPr sz="3800" b="1">
                <a:solidFill>
                  <a:srgbClr val="49835E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49835E"/>
                </a:solidFill>
                <a:latin typeface="微軟正黑體"/>
              </a:defRPr>
            </a:pPr>
            <a:r>
              <a:rPr sz="4000" b="1">
                <a:solidFill>
                  <a:srgbClr val="49835E"/>
                </a:solidFill>
              </a:rPr>
              <a:t>福音頭一句話，為何是「你們要悔改」？</a:t>
            </a:r>
          </a:p>
        </p:txBody>
      </p:sp>
      <p:pic>
        <p:nvPicPr>
          <p:cNvPr id="8" name="Picture 7" descr="轉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9835E"/>
                </a:solidFill>
                <a:latin typeface="微軟正黑體"/>
              </a:defRPr>
            </a:pPr>
            <a:r>
              <a:rPr sz="4000" b="1">
                <a:solidFill>
                  <a:srgbClr val="49835E"/>
                </a:solidFill>
              </a:rPr>
              <a:t>心思轉變向神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悔改是心思的轉變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不是改好一點才來神前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從背向神轉為面向神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0401C"/>
                </a:solidFill>
                <a:latin typeface="微軟正黑體"/>
              </a:defRPr>
            </a:pPr>
            <a:r>
              <a:rPr sz="2400"/>
              <a:t>經文：「你們要悔改，因為諸天的國已經臨近了。」（太三2）</a:t>
            </a:r>
          </a:p>
        </p:txBody>
      </p:sp>
      <p:pic>
        <p:nvPicPr>
          <p:cNvPr id="17" name="Picture 16" descr="story_轉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9835E"/>
                </a:solidFill>
                <a:latin typeface="微軟正黑體"/>
              </a:defRPr>
            </a:pPr>
            <a:r>
              <a:rPr sz="4000" b="1">
                <a:solidFill>
                  <a:srgbClr val="49835E"/>
                </a:solidFill>
              </a:rPr>
              <a:t>離棄偶像向活神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墮落心思製造各樣偶像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偶像一口無言實在無用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離棄虛妄轉向創造主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0401C"/>
                </a:solidFill>
                <a:latin typeface="微軟正黑體"/>
              </a:defRPr>
            </a:pPr>
            <a:r>
              <a:rPr sz="2400"/>
              <a:t>經文：「我們傳福音給你們，是叫你們離棄這些虛妄，轉向那創造天、地、海和其中萬物的活神。」（徒十四15）</a:t>
            </a:r>
          </a:p>
        </p:txBody>
      </p:sp>
      <p:pic>
        <p:nvPicPr>
          <p:cNvPr id="17" name="Picture 16" descr="story_轉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9835E"/>
                </a:solidFill>
                <a:latin typeface="微軟正黑體"/>
              </a:defRPr>
            </a:pPr>
            <a:r>
              <a:rPr sz="4000" b="1">
                <a:solidFill>
                  <a:srgbClr val="49835E"/>
                </a:solidFill>
              </a:rPr>
              <a:t>從黑暗轉入光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人生來就在黑暗裡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一生下來就在撒但權下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悔改相信就脫離歸向神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0401C"/>
                </a:solidFill>
                <a:latin typeface="微軟正黑體"/>
              </a:defRPr>
            </a:pPr>
            <a:r>
              <a:rPr sz="2400"/>
              <a:t>經文：「從黑暗轉入光，從撒但權下轉向神。」（徒二六18）</a:t>
            </a:r>
          </a:p>
        </p:txBody>
      </p:sp>
      <p:pic>
        <p:nvPicPr>
          <p:cNvPr id="17" name="Picture 16" descr="story_轉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9835E"/>
                </a:solidFill>
                <a:latin typeface="微軟正黑體"/>
              </a:defRPr>
            </a:pPr>
            <a:r>
              <a:rPr sz="4000" b="1">
                <a:solidFill>
                  <a:srgbClr val="49835E"/>
                </a:solidFill>
              </a:rPr>
              <a:t>回轉罪抹得舒爽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罪叫人與神不和諧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罪叫人與人自己出事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悔改歸向神就得平安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0401C"/>
                </a:solidFill>
                <a:latin typeface="微軟正黑體"/>
              </a:defRPr>
            </a:pPr>
            <a:r>
              <a:rPr sz="2400"/>
              <a:t>經文：「你們要悔改，並要回轉，使你們的罪得以塗抹，這樣，那舒爽的時期，就得以從主面前來到。」（徒三19）</a:t>
            </a:r>
          </a:p>
        </p:txBody>
      </p:sp>
      <p:pic>
        <p:nvPicPr>
          <p:cNvPr id="17" name="Picture 16" descr="story_轉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9835E"/>
                </a:solidFill>
                <a:latin typeface="微軟正黑體"/>
              </a:defRPr>
            </a:pPr>
            <a:r>
              <a:rPr sz="1800">
                <a:solidFill>
                  <a:srgbClr val="49835E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9835E"/>
                </a:solidFill>
                <a:latin typeface="微軟正黑體"/>
              </a:defRPr>
            </a:pPr>
            <a:r>
              <a:rPr sz="4200" b="1">
                <a:solidFill>
                  <a:srgbClr val="49835E"/>
                </a:solidFill>
              </a:rPr>
              <a:t>「轉」的鑰字經文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太三2：你們要悔改，因為諸天的國已經臨近了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太十三15：回轉過來，我就醫治他們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賽四五22：地極的人都當轉向我，就必得救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徒十四15：離棄虛妄，轉向創造天地的活神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帖前一9：離棄了偶像轉向神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6751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徒二六18：從黑暗轉入光，從撒但權下轉向神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772667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徒三19：悔改回轉，罪得以塗抹，舒爽時期來到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20401C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49835E"/>
                </a:solidFill>
                <a:latin typeface="微軟正黑體"/>
              </a:defRPr>
            </a:pPr>
            <a:r>
              <a:rPr sz="2000">
                <a:solidFill>
                  <a:srgbClr val="49835E"/>
                </a:solidFill>
              </a:rPr>
              <a:t>福音的答案 · 轉向的路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49835E"/>
                </a:solidFill>
                <a:latin typeface="微軟正黑體"/>
              </a:defRPr>
            </a:pPr>
            <a:r>
              <a:rPr sz="4600" b="1">
                <a:solidFill>
                  <a:srgbClr val="49835E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0401C"/>
                </a:solidFill>
                <a:latin typeface="微軟正黑體"/>
              </a:defRPr>
            </a:pPr>
            <a:r>
              <a:rPr sz="3300">
                <a:solidFill>
                  <a:srgbClr val="20401C"/>
                </a:solidFill>
              </a:rPr>
              <a:t>心思轉變，轉向神就夠了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0401C"/>
                </a:solidFill>
                <a:latin typeface="微軟正黑體"/>
              </a:defRPr>
            </a:pPr>
            <a:r>
              <a:rPr sz="3300">
                <a:solidFill>
                  <a:srgbClr val="20401C"/>
                </a:solidFill>
              </a:rPr>
              <a:t>無論過去怎樣都可回轉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9835E"/>
                </a:solidFill>
                <a:latin typeface="微軟正黑體"/>
              </a:defRPr>
            </a:pPr>
            <a:r>
              <a:rPr sz="33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0401C"/>
                </a:solidFill>
                <a:latin typeface="微軟正黑體"/>
              </a:defRPr>
            </a:pPr>
            <a:r>
              <a:rPr sz="3300">
                <a:solidFill>
                  <a:srgbClr val="20401C"/>
                </a:solidFill>
              </a:rPr>
              <a:t>轉向神就得醫治和拯救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0401C"/>
                </a:solidFill>
                <a:latin typeface="微軟正黑體"/>
              </a:defRPr>
            </a:pPr>
            <a:r>
              <a:rPr sz="2400">
                <a:solidFill>
                  <a:srgbClr val="20401C"/>
                </a:solidFill>
              </a:rPr>
              <a:t>原文也說：無論是麻瘋、癱瘓、發燒、鬼附的人，只要轉向祂，祂就醫治，恢復正常生命功能；人轉向神得着祂作穩定的力量，人生的船就不再漂泊翻覆。神富有憐憫和恩典；無論你的情形如何，只要轉向祂，祂就醫治你各樣的疾病，恢復正常生命功能。</a:t>
            </a:r>
          </a:p>
        </p:txBody>
      </p:sp>
      <p:pic>
        <p:nvPicPr>
          <p:cNvPr id="12" name="Picture 11" descr="轉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9835E"/>
                </a:solidFill>
                <a:latin typeface="微軟正黑體"/>
              </a:defRPr>
            </a:pPr>
            <a:r>
              <a:rPr sz="1800">
                <a:solidFill>
                  <a:srgbClr val="49835E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9835E"/>
                </a:solidFill>
                <a:latin typeface="微軟正黑體"/>
              </a:defRPr>
            </a:pPr>
            <a:r>
              <a:rPr sz="4200" b="1">
                <a:solidFill>
                  <a:srgbClr val="49835E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20401C"/>
                </a:solidFill>
                <a:latin typeface="微軟正黑體"/>
              </a:defRPr>
            </a:pPr>
            <a:r>
              <a:rPr sz="3600"/>
              <a:t>現在就悔改，回轉到神面前來，歸向神。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轉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9835E"/>
                </a:solidFill>
                <a:latin typeface="微軟正黑體"/>
              </a:defRPr>
            </a:pPr>
            <a:r>
              <a:rPr sz="1800">
                <a:solidFill>
                  <a:srgbClr val="49835E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9835E"/>
                </a:solidFill>
                <a:latin typeface="微軟正黑體"/>
              </a:defRPr>
            </a:pPr>
            <a:r>
              <a:rPr sz="4200" b="1">
                <a:solidFill>
                  <a:srgbClr val="49835E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9835E"/>
                </a:solidFill>
                <a:latin typeface="微軟正黑體"/>
              </a:defRPr>
            </a:pPr>
            <a:r>
              <a:rPr sz="2800">
                <a:solidFill>
                  <a:srgbClr val="49835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主阿，我願意心思轉變，轉向你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9835E"/>
                </a:solidFill>
                <a:latin typeface="微軟正黑體"/>
              </a:defRPr>
            </a:pPr>
            <a:r>
              <a:rPr sz="2800">
                <a:solidFill>
                  <a:srgbClr val="49835E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主阿，我願意離棄偶像和虛妄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9835E"/>
                </a:solidFill>
                <a:latin typeface="微軟正黑體"/>
              </a:defRPr>
            </a:pPr>
            <a:r>
              <a:rPr sz="2800">
                <a:solidFill>
                  <a:srgbClr val="49835E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主阿，求你醫治我，拯救我到底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9835E"/>
                </a:solidFill>
                <a:latin typeface="微軟正黑體"/>
              </a:defRPr>
            </a:pPr>
            <a:r>
              <a:rPr sz="2800">
                <a:solidFill>
                  <a:srgbClr val="49835E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主阿，求你使我的罪得塗抹，得着舒爽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0401C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9835E"/>
                </a:solidFill>
                <a:latin typeface="微軟正黑體"/>
              </a:defRPr>
            </a:pPr>
            <a:r>
              <a:rPr sz="1800">
                <a:solidFill>
                  <a:srgbClr val="49835E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9835E"/>
                </a:solidFill>
                <a:latin typeface="微軟正黑體"/>
              </a:defRPr>
            </a:pPr>
            <a:r>
              <a:rPr sz="4200" b="1">
                <a:solidFill>
                  <a:srgbClr val="49835E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9835E"/>
                </a:solidFill>
                <a:latin typeface="微軟正黑體"/>
              </a:defRPr>
            </a:pPr>
            <a:r>
              <a:rPr sz="31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9835E"/>
                </a:solidFill>
                <a:latin typeface="微軟正黑體"/>
              </a:defRPr>
            </a:pPr>
            <a:r>
              <a:rPr sz="31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9835E"/>
                </a:solidFill>
                <a:latin typeface="微軟正黑體"/>
              </a:defRPr>
            </a:pPr>
            <a:r>
              <a:rPr sz="3100">
                <a:solidFill>
                  <a:srgbClr val="49835E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國度之於信徒，第一篇；聖經要道卷一，第五題；人阿，你在那裏，第五、十九問；福音題綱，第一百二十三、一百三十六、一百七十七、一百七十九題。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人生的奧祕（二）·福音鑰字「轉」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