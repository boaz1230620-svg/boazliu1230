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【約0.5分鐘】今天只講一個字——「憂」，設計主題是「雨後的盼望」。先讓朋友放鬆：給我大約十五分鐘，聽完再一起討論。本篇已按福音需要調整順序：先從生活談起，再回到經文，內容取自原文。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【約1.5分鐘】開場提問：有誰能毫無憂慮的過一天？人如何才能脫離憂慮？ 讓朋友先說兩句，建立關係，不要急著辯論，也不要一開始就先背經文。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【約2.2分鐘】憂傷靈使骨枯乾。投影片上的講解就是原文該段的濃縮，講的時候可以照著說，再展開一兩句自己的見證，不要偏離原文。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【約2.2分鐘】仰望神得真安息。投影片上的講解就是原文該段的濃縮，講的時候可以照著說，再展開一兩句自己的見證，不要偏離原文。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【約2.2分鐘】受壓制者得自由。投影片上的講解就是原文該段的濃縮，講的時候可以照著說，再展開一兩句自己的見證，不要偏離原文。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【約2.2分鐘】在主裡常常喜樂。投影片上的講解就是原文該段的濃縮，講的時候可以照著說，再展開一兩句自己的見證，不要偏離原文。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【約1分鐘】講完生活與信息後，再把本篇篇首的鑰字經文讀一遍，幫助朋友把剛才聽到的信息對回經文上。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我們需要把遭遇的事一件一件放在神手裡，不然越背越重，就要受壓失去喜樂。你如果凡事告訴神，神那超越人所能理解的平安，就必在基督耶穌裡保衛你的心懷意念。哦，一切破碎的心、負重的心、痛苦的心，都到神這裡來罷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【約0.5分鐘】直接、溫和地問，不要強逼。朋友若有問題，記下來，講完禱告後再回答。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【約1分鐘】邀請朋友開口跟著禱告，一句一句慢慢來。只要他願意開口呼求主名，就恭喜他得救了，並立刻約定下一次見面。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【約0.5分鐘】結尾：留下手機或 Line，立刻邀請到小排或下次福音聚會。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憂_fu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206240"/>
            <a:ext cx="12188952" cy="2651760"/>
          </a:xfrm>
          <a:prstGeom prst="rect">
            <a:avLst/>
          </a:prstGeom>
          <a:solidFill>
            <a:srgbClr val="473F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06240"/>
            <a:ext cx="12188952" cy="7315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43484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6000" b="1">
                <a:solidFill>
                  <a:srgbClr val="5B4C89"/>
                </a:solidFill>
                <a:latin typeface="微軟正黑體"/>
              </a:defRPr>
            </a:pPr>
            <a:r>
              <a:rPr>
                <a:solidFill>
                  <a:srgbClr val="5B4C89"/>
                </a:solidFill>
              </a:rPr>
              <a:t>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5029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473F5A"/>
                </a:solidFill>
                <a:latin typeface="微軟正黑體"/>
              </a:defRPr>
            </a:pPr>
            <a:r>
              <a:rPr sz="2600">
                <a:solidFill>
                  <a:srgbClr val="473F5A"/>
                </a:solidFill>
              </a:rPr>
              <a:t>雨後的盼望 · 人的負面情形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566928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200" b="0">
                <a:solidFill>
                  <a:srgbClr val="473F5A"/>
                </a:solidFill>
                <a:latin typeface="微軟正黑體"/>
              </a:defRPr>
            </a:pPr>
            <a:r>
              <a:rPr sz="2200">
                <a:solidFill>
                  <a:srgbClr val="473F5A"/>
                </a:solidFill>
              </a:rPr>
              <a:t>第 5 個鑰字 · 一個字，一個福音信息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800" b="1">
                <a:solidFill>
                  <a:srgbClr val="5B4C89"/>
                </a:solidFill>
                <a:latin typeface="微軟正黑體"/>
              </a:defRPr>
            </a:pPr>
            <a:r>
              <a:rPr sz="3800" b="1">
                <a:solidFill>
                  <a:srgbClr val="5B4C89"/>
                </a:solidFill>
              </a:rPr>
              <a:t>你有沒有想過……？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7132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有誰能毫無憂慮的過一天？人如何才能脫離憂慮？</a:t>
            </a:r>
          </a:p>
        </p:txBody>
      </p:sp>
      <p:pic>
        <p:nvPicPr>
          <p:cNvPr id="8" name="Picture 7" descr="憂_s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憂傷靈使骨枯乾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憂慮是殺手削弱免疫力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懼怕能嚇死另外三千人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滴水穿石身體每況愈下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F5A"/>
                </a:solidFill>
                <a:latin typeface="微軟正黑體"/>
              </a:defRPr>
            </a:pPr>
            <a:r>
              <a:rPr sz="2400"/>
              <a:t>經文：憂傷的靈使骨枯乾。（箴十七22下）</a:t>
            </a:r>
          </a:p>
        </p:txBody>
      </p:sp>
      <p:pic>
        <p:nvPicPr>
          <p:cNvPr id="17" name="Picture 16" descr="story_憂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仰望神得真安息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億萬富翁也說我疲倦了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主給的不是減輕工作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主已作成，不必再加上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F5A"/>
                </a:solidFill>
                <a:latin typeface="微軟正黑體"/>
              </a:defRPr>
            </a:pPr>
            <a:r>
              <a:rPr sz="2400"/>
              <a:t>經文：我的魂哪，你為何憂悶？為何在我裡面煩躁？應當仰望神。（詩四二11上）</a:t>
            </a:r>
          </a:p>
        </p:txBody>
      </p:sp>
      <p:pic>
        <p:nvPicPr>
          <p:cNvPr id="17" name="Picture 16" descr="story_憂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受壓制者得自由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憂慮重擔壓得透不過氣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魔鬼的包袱摸也不要摸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有罣慮就立刻交託給神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F5A"/>
                </a:solidFill>
                <a:latin typeface="微軟正黑體"/>
              </a:defRPr>
            </a:pPr>
            <a:r>
              <a:rPr sz="2400"/>
              <a:t>經文：祂……叫那受壓制的得自由。（路四18）</a:t>
            </a:r>
          </a:p>
        </p:txBody>
      </p:sp>
      <p:pic>
        <p:nvPicPr>
          <p:cNvPr id="17" name="Picture 16" descr="story_憂_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000" b="1">
                <a:solidFill>
                  <a:srgbClr val="5B4C89"/>
                </a:solidFill>
                <a:latin typeface="微軟正黑體"/>
              </a:defRPr>
            </a:pPr>
            <a:r>
              <a:rPr sz="4000" b="1">
                <a:solidFill>
                  <a:srgbClr val="5B4C89"/>
                </a:solidFill>
              </a:rPr>
              <a:t>在主裡常常喜樂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0" y="438912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18000" b="1">
                <a:solidFill>
                  <a:srgbClr val="F7E8B8"/>
                </a:solidFill>
                <a:latin typeface="微軟正黑體"/>
              </a:defRPr>
            </a:pPr>
            <a:r>
              <a:rPr>
                <a:solidFill>
                  <a:srgbClr val="F7E8B8"/>
                </a:solidFill>
              </a:rPr>
              <a:t>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630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不是靠環境靠順利喜樂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1945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下雨為賣傘兒子感謝主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926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2B2B2B"/>
                </a:solidFill>
                <a:latin typeface="微軟正黑體"/>
              </a:defRPr>
            </a:pPr>
            <a:r>
              <a:rPr sz="3300"/>
              <a:t>好天為作米粉兒子讚美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94960"/>
            <a:ext cx="109728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F5A"/>
                </a:solidFill>
                <a:latin typeface="微軟正黑體"/>
              </a:defRPr>
            </a:pPr>
            <a:r>
              <a:rPr sz="2400"/>
              <a:t>經文：要常常喜樂，不住的禱告，凡事謝恩。（帖前五16-18上）</a:t>
            </a:r>
          </a:p>
        </p:txBody>
      </p:sp>
      <p:pic>
        <p:nvPicPr>
          <p:cNvPr id="17" name="Picture 16" descr="story_憂_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79" y="1463040"/>
            <a:ext cx="356616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473F5A"/>
                </a:solidFill>
                <a:latin typeface="微軟正黑體"/>
              </a:defRPr>
            </a:pPr>
            <a:r>
              <a:rPr sz="1800"/>
              <a:t>回到經文 · 本篇一覽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「憂」的鑰字經文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A. 憂傷的靈使骨枯乾。（箴十七22下）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B. 你為何憂悶？為何在我裡面煩躁？應當仰望神。（參詩四二11）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39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C. 祂……叫那受壓制的，打碎或折斷的，得自由。（路四18註8）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defRPr sz="2400" b="0">
                <a:solidFill>
                  <a:srgbClr val="2B2B2B"/>
                </a:solidFill>
                <a:latin typeface="微軟正黑體"/>
              </a:defRPr>
            </a:pPr>
            <a:r>
              <a:rPr sz="2400"/>
              <a:t>D. 要常常喜樂，不住的禱告，凡事謝恩。神要我們過喜樂、禱告、謝恩的生活。（帖前五16-18上；18註3）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473F5A"/>
                </a:solidFill>
                <a:latin typeface="微軟正黑體"/>
              </a:defRPr>
            </a:pPr>
            <a:r>
              <a:rPr sz="2000"/>
              <a:t>這些經文，就是剛才信息的根據。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D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000" b="1">
                <a:solidFill>
                  <a:srgbClr val="5B4C89"/>
                </a:solidFill>
                <a:latin typeface="微軟正黑體"/>
              </a:defRPr>
            </a:pPr>
            <a:r>
              <a:rPr sz="2000">
                <a:solidFill>
                  <a:srgbClr val="5B4C89"/>
                </a:solidFill>
              </a:rPr>
              <a:t>福音的答案 · 雨後的盼望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600" b="1">
                <a:solidFill>
                  <a:srgbClr val="5B4C89"/>
                </a:solidFill>
                <a:latin typeface="微軟正黑體"/>
              </a:defRPr>
            </a:pPr>
            <a:r>
              <a:rPr sz="4600" b="1">
                <a:solidFill>
                  <a:srgbClr val="5B4C89"/>
                </a:solidFill>
              </a:rPr>
              <a:t>福音的答案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783080"/>
            <a:ext cx="106984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19456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473F5A"/>
                </a:solidFill>
                <a:latin typeface="微軟正黑體"/>
              </a:defRPr>
            </a:pPr>
            <a:r>
              <a:rPr sz="3300">
                <a:solidFill>
                  <a:srgbClr val="473F5A"/>
                </a:solidFill>
              </a:rPr>
              <a:t>把各樣罣慮卸給神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260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92608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473F5A"/>
                </a:solidFill>
                <a:latin typeface="微軟正黑體"/>
              </a:defRPr>
            </a:pPr>
            <a:r>
              <a:rPr sz="3300">
                <a:solidFill>
                  <a:srgbClr val="473F5A"/>
                </a:solidFill>
              </a:rPr>
              <a:t>凡事告訴神求祂擔當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300" b="1">
                <a:solidFill>
                  <a:srgbClr val="5B4C89"/>
                </a:solidFill>
                <a:latin typeface="微軟正黑體"/>
              </a:defRPr>
            </a:pPr>
            <a:r>
              <a:rPr sz="33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6576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300" b="0">
                <a:solidFill>
                  <a:srgbClr val="473F5A"/>
                </a:solidFill>
                <a:latin typeface="微軟正黑體"/>
              </a:defRPr>
            </a:pPr>
            <a:r>
              <a:rPr sz="3300">
                <a:solidFill>
                  <a:srgbClr val="473F5A"/>
                </a:solidFill>
              </a:rPr>
              <a:t>神平安保衛你心懷意念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2400" b="0">
                <a:solidFill>
                  <a:srgbClr val="473F5A"/>
                </a:solidFill>
                <a:latin typeface="微軟正黑體"/>
              </a:defRPr>
            </a:pPr>
            <a:r>
              <a:rPr sz="2400">
                <a:solidFill>
                  <a:srgbClr val="473F5A"/>
                </a:solidFill>
              </a:rPr>
              <a:t>我們需要把遭遇的事一件一件放在神手裡，不然越背越重，就要受壓失去喜樂。你如果凡事告訴神，神那超越人所能理解的平安，就必在基督耶穌裡保衛你的心懷意念。哦，一切破碎的心、負重的心、痛苦的心，都到神這裡來罷！</a:t>
            </a:r>
          </a:p>
        </p:txBody>
      </p:sp>
      <p:pic>
        <p:nvPicPr>
          <p:cNvPr id="12" name="Picture 11" descr="憂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219456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473F5A"/>
                </a:solidFill>
                <a:latin typeface="微軟正黑體"/>
              </a:defRPr>
            </a:pPr>
            <a:r>
              <a:rPr sz="1800"/>
              <a:t>抉擇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今天，你願意嗎？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71323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defRPr sz="3600" b="1">
                <a:solidFill>
                  <a:srgbClr val="473F5A"/>
                </a:solidFill>
                <a:latin typeface="微軟正黑體"/>
              </a:defRPr>
            </a:pPr>
            <a:r>
              <a:rPr sz="3600"/>
              <a:t>神要你現在就把你的罣慮卸給祂，祂今天要擔當你的憂慮。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600" b="0">
                <a:solidFill>
                  <a:srgbClr val="5A5A5A"/>
                </a:solidFill>
                <a:latin typeface="微軟正黑體"/>
              </a:defRPr>
            </a:pPr>
            <a:r>
              <a:rPr sz="2600"/>
              <a:t>不需要先作好、改好，只要現在作一個決定。</a:t>
            </a:r>
          </a:p>
        </p:txBody>
      </p:sp>
      <p:pic>
        <p:nvPicPr>
          <p:cNvPr id="8" name="Picture 7" descr="憂_s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554480"/>
            <a:ext cx="3383280" cy="23591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473F5A"/>
                </a:solidFill>
                <a:latin typeface="微軟正黑體"/>
              </a:defRPr>
            </a:pPr>
            <a:r>
              <a:rPr sz="1800"/>
              <a:t>一起禱告 · 講一句，跟一句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哦，主耶穌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主耶穌，我把我一切的罣慮都卸給你，因為你顧念我。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860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主，我不再背負魔鬼給我的重擔，求你使我得自由。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我要仰望你，在你裡面得安息，不再憂悶煩躁。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319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2800" b="1">
                <a:solidFill>
                  <a:srgbClr val="5B4C89"/>
                </a:solidFill>
                <a:latin typeface="微軟正黑體"/>
              </a:defRPr>
            </a:pPr>
            <a:r>
              <a:rPr sz="2800">
                <a:solidFill>
                  <a:srgbClr val="5B4C89"/>
                </a:solidFill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931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我要常常喜樂，不住的禱告，凡事謝恩，在主裡喜樂。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2400" b="1">
                <a:solidFill>
                  <a:srgbClr val="473F5A"/>
                </a:solidFill>
                <a:latin typeface="微軟正黑體"/>
              </a:defRPr>
            </a:pPr>
            <a:r>
              <a:rPr sz="2400"/>
              <a:t>凡心裡相信，口裡承認，呼求主名的，就必得救。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1800" b="1">
                <a:solidFill>
                  <a:srgbClr val="473F5A"/>
                </a:solidFill>
                <a:latin typeface="微軟正黑體"/>
              </a:defRPr>
            </a:pPr>
            <a:r>
              <a:rPr sz="1800"/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4200" b="1">
                <a:solidFill>
                  <a:srgbClr val="5B4C89"/>
                </a:solidFill>
                <a:latin typeface="微軟正黑體"/>
              </a:defRPr>
            </a:pPr>
            <a:r>
              <a:rPr sz="4200" b="1">
                <a:solidFill>
                  <a:srgbClr val="5B4C89"/>
                </a:solidFill>
              </a:rPr>
              <a:t>不要讓這個福音停在今天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1091672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B4C89"/>
                </a:solidFill>
                <a:latin typeface="微軟正黑體"/>
              </a:defRPr>
            </a:pPr>
            <a:r>
              <a:rPr sz="31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554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留下聯絡方式，約定下次見面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31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B4C89"/>
                </a:solidFill>
                <a:latin typeface="微軟正黑體"/>
              </a:defRPr>
            </a:pPr>
            <a:r>
              <a:rPr sz="31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31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邀請參加小排或福音聚會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defRPr sz="3100" b="1">
                <a:solidFill>
                  <a:srgbClr val="5B4C89"/>
                </a:solidFill>
                <a:latin typeface="微軟正黑體"/>
              </a:defRPr>
            </a:pPr>
            <a:r>
              <a:rPr sz="3100">
                <a:solidFill>
                  <a:srgbClr val="5B4C89"/>
                </a:solidFill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1089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defRPr sz="3100" b="0">
                <a:solidFill>
                  <a:srgbClr val="2B2B2B"/>
                </a:solidFill>
                <a:latin typeface="微軟正黑體"/>
              </a:defRPr>
            </a:pPr>
            <a:r>
              <a:rPr sz="3100"/>
              <a:t>每天花一點時間呼求主名、讀經禱告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人生的奧祕（二）·福音鑰字「憂」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