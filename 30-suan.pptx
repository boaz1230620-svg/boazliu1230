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【約0.5分鐘】今天只講一個字——「算」，設計主題是「算清的光陰」。先讓朋友放鬆：給我大約十五分鐘，聽完再一起討論。本篇已按福音需要調整順序：先從生活談起，再回到經文，內容取自原文。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【約1.5分鐘】開場提問：你天天在打算甚麼？為自己永遠的定命，你打算了嗎？ 讓朋友先說兩句，建立關係，不要急著辯論，也不要一開始就先背經文。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【約2.2分鐘】賺全世界賠自己。投影片上的講解就是原文該段的濃縮，講的時候可以照著說，再展開一兩句自己的見證，不要偏離原文。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【約2.2分鐘】為己積財卻無知。投影片上的講解就是原文該段的濃縮，講的時候可以照著說，再展開一兩句自己的見證，不要偏離原文。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【約2.2分鐘】贖回光陰明旨意。投影片上的講解就是原文該段的濃縮，講的時候可以照著說，再展開一兩句自己的見證，不要偏離原文。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【約2.2分鐘】算得救最上算。投影片上的講解就是原文該段的濃縮，講的時候可以照著說，再展開一兩句自己的見證，不要偏離原文。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【約1分鐘】講完生活與信息後，再把本篇篇首的鑰字經文讀一遍，幫助朋友把剛才聽到的信息對回經文上。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要脫離火湖永刑，除了接受主耶穌作救主之外，别無他法：祂是神的兒子，永遠生命在祂裡面，為我們的罪死在十字架上流血，三日復活。只要真心呼求：主耶穌啊，求你救我，我願意接受你作救主，得救就保險了，因有了神的兒子就有生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【約0.5分鐘】直接、溫和地問，不要強逼。朋友若有問題，記下來，講完禱告後再回答。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【約1分鐘】邀請朋友開口跟著禱告，一句一句慢慢來。只要他願意開口呼求主名，就恭喜他得救了，並立刻約定下一次見面。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【約0.5分鐘】結尾：留下手機或 Line，立刻邀請到小排或下次福音聚會。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D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算_fu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206240"/>
            <a:ext cx="12188952" cy="265176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06240"/>
            <a:ext cx="12188952" cy="7315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43484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6000" b="1">
                <a:solidFill>
                  <a:srgbClr val="F43F5E"/>
                </a:solidFill>
                <a:latin typeface="微軟正黑體"/>
              </a:defRPr>
            </a:pPr>
            <a:r>
              <a:rPr>
                <a:solidFill>
                  <a:srgbClr val="F43F5E"/>
                </a:solidFill>
              </a:rPr>
              <a:t>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50292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600" b="0">
                <a:solidFill>
                  <a:srgbClr val="282828"/>
                </a:solidFill>
                <a:latin typeface="微軟正黑體"/>
              </a:defRPr>
            </a:pPr>
            <a:r>
              <a:rPr sz="2600">
                <a:solidFill>
                  <a:srgbClr val="282828"/>
                </a:solidFill>
              </a:rPr>
              <a:t>算清的光陰 · 人應有的態度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56692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200" b="0">
                <a:solidFill>
                  <a:srgbClr val="282828"/>
                </a:solidFill>
                <a:latin typeface="微軟正黑體"/>
              </a:defRPr>
            </a:pPr>
            <a:r>
              <a:rPr sz="2200">
                <a:solidFill>
                  <a:srgbClr val="282828"/>
                </a:solidFill>
              </a:rPr>
              <a:t>第 30 個鑰字 · 一個字，一個福音信息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800" b="1">
                <a:solidFill>
                  <a:srgbClr val="F43F5E"/>
                </a:solidFill>
                <a:latin typeface="微軟正黑體"/>
              </a:defRPr>
            </a:pPr>
            <a:r>
              <a:rPr sz="3800" b="1">
                <a:solidFill>
                  <a:srgbClr val="F43F5E"/>
                </a:solidFill>
              </a:rPr>
              <a:t>你有沒有想過……？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1672" cy="5486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7132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4000" b="1">
                <a:solidFill>
                  <a:srgbClr val="F43F5E"/>
                </a:solidFill>
                <a:latin typeface="微軟正黑體"/>
              </a:defRPr>
            </a:pPr>
            <a:r>
              <a:rPr sz="4000" b="1">
                <a:solidFill>
                  <a:srgbClr val="F43F5E"/>
                </a:solidFill>
              </a:rPr>
              <a:t>你天天在打算甚麼？為自己永遠的定命，你打算了嗎？</a:t>
            </a:r>
          </a:p>
        </p:txBody>
      </p:sp>
      <p:pic>
        <p:nvPicPr>
          <p:cNvPr id="8" name="Picture 7" descr="算_sid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55448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F43F5E"/>
                </a:solidFill>
                <a:latin typeface="微軟正黑體"/>
              </a:defRPr>
            </a:pPr>
            <a:r>
              <a:rPr sz="4000" b="1">
                <a:solidFill>
                  <a:srgbClr val="F43F5E"/>
                </a:solidFill>
              </a:rPr>
              <a:t>賺全世界賠自己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1672" cy="5486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F43F5E"/>
                </a:solidFill>
                <a:latin typeface="微軟正黑體"/>
              </a:defRPr>
            </a:pPr>
            <a:r>
              <a:rPr sz="3300">
                <a:solidFill>
                  <a:srgbClr val="F43F5E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帕赫姆為土地越求越多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F43F5E"/>
                </a:solidFill>
                <a:latin typeface="微軟正黑體"/>
              </a:defRPr>
            </a:pPr>
            <a:r>
              <a:rPr sz="3300">
                <a:solidFill>
                  <a:srgbClr val="F43F5E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最終只得六乘三尺墓坑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F43F5E"/>
                </a:solidFill>
                <a:latin typeface="微軟正黑體"/>
              </a:defRPr>
            </a:pPr>
            <a:r>
              <a:rPr sz="3300">
                <a:solidFill>
                  <a:srgbClr val="F43F5E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賺全世界喪失自己有何益處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282828"/>
                </a:solidFill>
                <a:latin typeface="微軟正黑體"/>
              </a:defRPr>
            </a:pPr>
            <a:r>
              <a:rPr sz="2400"/>
              <a:t>經文：「人若賺得全世界，卻喪失自己，賠上自己，有甚麼益處？」（路九25）</a:t>
            </a:r>
          </a:p>
        </p:txBody>
      </p:sp>
      <p:pic>
        <p:nvPicPr>
          <p:cNvPr id="17" name="Picture 16" descr="story_算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F43F5E"/>
                </a:solidFill>
                <a:latin typeface="微軟正黑體"/>
              </a:defRPr>
            </a:pPr>
            <a:r>
              <a:rPr sz="4000" b="1">
                <a:solidFill>
                  <a:srgbClr val="F43F5E"/>
                </a:solidFill>
              </a:rPr>
              <a:t>為己積財卻無知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1672" cy="5486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F43F5E"/>
                </a:solidFill>
                <a:latin typeface="微軟正黑體"/>
              </a:defRPr>
            </a:pPr>
            <a:r>
              <a:rPr sz="3300">
                <a:solidFill>
                  <a:srgbClr val="F43F5E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財主囤積計畫又圖多年享樂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F43F5E"/>
                </a:solidFill>
                <a:latin typeface="微軟正黑體"/>
              </a:defRPr>
            </a:pPr>
            <a:r>
              <a:rPr sz="3300">
                <a:solidFill>
                  <a:srgbClr val="F43F5E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今夜必要你魂預備要歸誰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F43F5E"/>
                </a:solidFill>
                <a:latin typeface="微軟正黑體"/>
              </a:defRPr>
            </a:pPr>
            <a:r>
              <a:rPr sz="3300">
                <a:solidFill>
                  <a:srgbClr val="F43F5E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為己積財對神不富足是無知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282828"/>
                </a:solidFill>
                <a:latin typeface="微軟正黑體"/>
              </a:defRPr>
            </a:pPr>
            <a:r>
              <a:rPr sz="2400"/>
              <a:t>經文：「魂哪，你有許多財物積存，可供多年享用，你休息罷，喫喝快樂罷。神卻對他說，無知的人哪，今夜必要你的魂；你所豫備的，要歸誰？」（路十二19〜21）</a:t>
            </a:r>
          </a:p>
        </p:txBody>
      </p:sp>
      <p:pic>
        <p:nvPicPr>
          <p:cNvPr id="17" name="Picture 16" descr="story_算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F43F5E"/>
                </a:solidFill>
                <a:latin typeface="微軟正黑體"/>
              </a:defRPr>
            </a:pPr>
            <a:r>
              <a:rPr sz="4000" b="1">
                <a:solidFill>
                  <a:srgbClr val="F43F5E"/>
                </a:solidFill>
              </a:rPr>
              <a:t>贖回光陰明旨意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1672" cy="5486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F43F5E"/>
                </a:solidFill>
                <a:latin typeface="微軟正黑體"/>
              </a:defRPr>
            </a:pPr>
            <a:r>
              <a:rPr sz="3300">
                <a:solidFill>
                  <a:srgbClr val="F43F5E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仔細留意行事為人要智慧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F43F5E"/>
                </a:solidFill>
                <a:latin typeface="微軟正黑體"/>
              </a:defRPr>
            </a:pPr>
            <a:r>
              <a:rPr sz="3300">
                <a:solidFill>
                  <a:srgbClr val="F43F5E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不明白主旨意光陰被浪費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F43F5E"/>
                </a:solidFill>
                <a:latin typeface="微軟正黑體"/>
              </a:defRPr>
            </a:pPr>
            <a:r>
              <a:rPr sz="3300">
                <a:solidFill>
                  <a:srgbClr val="F43F5E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不要作愚昧人要明白主旨意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282828"/>
                </a:solidFill>
                <a:latin typeface="微軟正黑體"/>
              </a:defRPr>
            </a:pPr>
            <a:r>
              <a:rPr sz="2400"/>
              <a:t>經文：「你們要仔細留意怎樣行事為人，不要像不智慧的人，乃要像有智慧的人；要贖回光陰，因為日子邪惡。所以不要作愚昧人，卻要明白甚麼是主的旨意。」（弗五15〜17）</a:t>
            </a:r>
          </a:p>
        </p:txBody>
      </p:sp>
      <p:pic>
        <p:nvPicPr>
          <p:cNvPr id="17" name="Picture 16" descr="story_算_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F43F5E"/>
                </a:solidFill>
                <a:latin typeface="微軟正黑體"/>
              </a:defRPr>
            </a:pPr>
            <a:r>
              <a:rPr sz="4000" b="1">
                <a:solidFill>
                  <a:srgbClr val="F43F5E"/>
                </a:solidFill>
              </a:rPr>
              <a:t>算得救最上算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1672" cy="5486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F43F5E"/>
                </a:solidFill>
                <a:latin typeface="微軟正黑體"/>
              </a:defRPr>
            </a:pPr>
            <a:r>
              <a:rPr sz="3300">
                <a:solidFill>
                  <a:srgbClr val="F43F5E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人人都有一死死後且有審判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F43F5E"/>
                </a:solidFill>
                <a:latin typeface="微軟正黑體"/>
              </a:defRPr>
            </a:pPr>
            <a:r>
              <a:rPr sz="3300">
                <a:solidFill>
                  <a:srgbClr val="F43F5E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生命冊無名者被扔入火湖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F43F5E"/>
                </a:solidFill>
                <a:latin typeface="微軟正黑體"/>
              </a:defRPr>
            </a:pPr>
            <a:r>
              <a:rPr sz="3300">
                <a:solidFill>
                  <a:srgbClr val="F43F5E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有神兒子就有生命最上算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282828"/>
                </a:solidFill>
                <a:latin typeface="微軟正黑體"/>
              </a:defRPr>
            </a:pPr>
            <a:r>
              <a:rPr sz="2400"/>
              <a:t>經文：「死了的，無論大小，都站在寶座前。……照他們所行的受審判。……無論誰在生命冊上不見是記着的，就被扔在火湖裡。」（啟二十12，15）</a:t>
            </a:r>
          </a:p>
        </p:txBody>
      </p:sp>
      <p:pic>
        <p:nvPicPr>
          <p:cNvPr id="17" name="Picture 16" descr="story_算_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282828"/>
                </a:solidFill>
                <a:latin typeface="微軟正黑體"/>
              </a:defRPr>
            </a:pPr>
            <a:r>
              <a:rPr sz="1800"/>
              <a:t>回到經文 · 本篇一覽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F43F5E"/>
                </a:solidFill>
                <a:latin typeface="微軟正黑體"/>
              </a:defRPr>
            </a:pPr>
            <a:r>
              <a:rPr sz="4200" b="1">
                <a:solidFill>
                  <a:srgbClr val="F43F5E"/>
                </a:solidFill>
              </a:rPr>
              <a:t>「算」的鑰字經文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1672" cy="5486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人若賺得全世界，卻喪失自己，賠上自己，有甚麼益處？（路九25）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那為自己積財，對神卻不富足的，也是這樣。（路十二21）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20439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要贖回光陰，因為日子邪惡；要明白甚麼是主的旨意。（弗五15〜17）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7200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無論誰在生命冊上不見是記着的，就被扔在火湖裡。（啟二十15）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000" b="1">
                <a:solidFill>
                  <a:srgbClr val="282828"/>
                </a:solidFill>
                <a:latin typeface="微軟正黑體"/>
              </a:defRPr>
            </a:pPr>
            <a:r>
              <a:rPr sz="2000"/>
              <a:t>這些經文，就是剛才信息的根據。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000" b="1">
                <a:solidFill>
                  <a:srgbClr val="F43F5E"/>
                </a:solidFill>
                <a:latin typeface="微軟正黑體"/>
              </a:defRPr>
            </a:pPr>
            <a:r>
              <a:rPr sz="2000">
                <a:solidFill>
                  <a:srgbClr val="F43F5E"/>
                </a:solidFill>
              </a:rPr>
              <a:t>福音的答案 · 算清的光陰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600" b="1">
                <a:solidFill>
                  <a:srgbClr val="F43F5E"/>
                </a:solidFill>
                <a:latin typeface="微軟正黑體"/>
              </a:defRPr>
            </a:pPr>
            <a:r>
              <a:rPr sz="4600" b="1">
                <a:solidFill>
                  <a:srgbClr val="F43F5E"/>
                </a:solidFill>
              </a:rPr>
              <a:t>福音的答案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83080"/>
            <a:ext cx="10698480" cy="5486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F43F5E"/>
                </a:solidFill>
                <a:latin typeface="微軟正黑體"/>
              </a:defRPr>
            </a:pPr>
            <a:r>
              <a:rPr sz="3300">
                <a:solidFill>
                  <a:srgbClr val="F43F5E"/>
                </a:solidFill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19456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82828"/>
                </a:solidFill>
                <a:latin typeface="微軟正黑體"/>
              </a:defRPr>
            </a:pPr>
            <a:r>
              <a:rPr sz="3300">
                <a:solidFill>
                  <a:srgbClr val="282828"/>
                </a:solidFill>
              </a:rPr>
              <a:t>呼求主耶穌接受祂作救主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F43F5E"/>
                </a:solidFill>
                <a:latin typeface="微軟正黑體"/>
              </a:defRPr>
            </a:pPr>
            <a:r>
              <a:rPr sz="3300">
                <a:solidFill>
                  <a:srgbClr val="F43F5E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92608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82828"/>
                </a:solidFill>
                <a:latin typeface="微軟正黑體"/>
              </a:defRPr>
            </a:pPr>
            <a:r>
              <a:rPr sz="3300">
                <a:solidFill>
                  <a:srgbClr val="282828"/>
                </a:solidFill>
              </a:rPr>
              <a:t>罪得赦免得神兒子生命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F43F5E"/>
                </a:solidFill>
                <a:latin typeface="微軟正黑體"/>
              </a:defRPr>
            </a:pPr>
            <a:r>
              <a:rPr sz="3300">
                <a:solidFill>
                  <a:srgbClr val="F43F5E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65760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82828"/>
                </a:solidFill>
                <a:latin typeface="微軟正黑體"/>
              </a:defRPr>
            </a:pPr>
            <a:r>
              <a:rPr sz="3300">
                <a:solidFill>
                  <a:srgbClr val="282828"/>
                </a:solidFill>
              </a:rPr>
              <a:t>失去地上的一切仍然值得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6858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2400" b="0">
                <a:solidFill>
                  <a:srgbClr val="282828"/>
                </a:solidFill>
                <a:latin typeface="微軟正黑體"/>
              </a:defRPr>
            </a:pPr>
            <a:r>
              <a:rPr sz="2400">
                <a:solidFill>
                  <a:srgbClr val="282828"/>
                </a:solidFill>
              </a:rPr>
              <a:t>要脫離火湖永刑，除了接受主耶穌作救主之外，别無他法：祂是神的兒子，永遠生命在祂裡面，為我們的罪死在十字架上流血，三日復活。只要真心呼求：主耶穌啊，求你救我，我願意接受你作救主，得救就保險了，因有了神的兒子就有生命。</a:t>
            </a:r>
          </a:p>
        </p:txBody>
      </p:sp>
      <p:pic>
        <p:nvPicPr>
          <p:cNvPr id="12" name="Picture 11" descr="算_s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19456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282828"/>
                </a:solidFill>
                <a:latin typeface="微軟正黑體"/>
              </a:defRPr>
            </a:pPr>
            <a:r>
              <a:rPr sz="1800"/>
              <a:t>抉擇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F43F5E"/>
                </a:solidFill>
                <a:latin typeface="微軟正黑體"/>
              </a:defRPr>
            </a:pPr>
            <a:r>
              <a:rPr sz="4200" b="1">
                <a:solidFill>
                  <a:srgbClr val="F43F5E"/>
                </a:solidFill>
              </a:rPr>
              <a:t>今天，你願意嗎？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1672" cy="5486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7132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3600" b="1">
                <a:solidFill>
                  <a:srgbClr val="282828"/>
                </a:solidFill>
                <a:latin typeface="微軟正黑體"/>
              </a:defRPr>
            </a:pPr>
            <a:r>
              <a:rPr sz="3600"/>
              <a:t>你沒有打算則已，若要打算，就請快快為你的得救打算，現在就信，不要等到明天。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14800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600" b="0">
                <a:solidFill>
                  <a:srgbClr val="5A5A5A"/>
                </a:solidFill>
                <a:latin typeface="微軟正黑體"/>
              </a:defRPr>
            </a:pPr>
            <a:r>
              <a:rPr sz="2600"/>
              <a:t>不需要先作好、改好，只要現在作一個決定。</a:t>
            </a:r>
          </a:p>
        </p:txBody>
      </p:sp>
      <p:pic>
        <p:nvPicPr>
          <p:cNvPr id="8" name="Picture 7" descr="算_s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55448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282828"/>
                </a:solidFill>
                <a:latin typeface="微軟正黑體"/>
              </a:defRPr>
            </a:pPr>
            <a:r>
              <a:rPr sz="1800"/>
              <a:t>一起禱告 · 講一句，跟一句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F43F5E"/>
                </a:solidFill>
                <a:latin typeface="微軟正黑體"/>
              </a:defRPr>
            </a:pPr>
            <a:r>
              <a:rPr sz="4200" b="1">
                <a:solidFill>
                  <a:srgbClr val="F43F5E"/>
                </a:solidFill>
              </a:rPr>
              <a:t>哦，主耶穌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1672" cy="5486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F43F5E"/>
                </a:solidFill>
                <a:latin typeface="微軟正黑體"/>
              </a:defRPr>
            </a:pPr>
            <a:r>
              <a:rPr sz="2800">
                <a:solidFill>
                  <a:srgbClr val="F43F5E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63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主耶穌啊，求你救我。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F43F5E"/>
                </a:solidFill>
                <a:latin typeface="微軟正黑體"/>
              </a:defRPr>
            </a:pPr>
            <a:r>
              <a:rPr sz="2800">
                <a:solidFill>
                  <a:srgbClr val="F43F5E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2860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我願意接受你作我的救主。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F43F5E"/>
                </a:solidFill>
                <a:latin typeface="微軟正黑體"/>
              </a:defRPr>
            </a:pPr>
            <a:r>
              <a:rPr sz="2800">
                <a:solidFill>
                  <a:srgbClr val="F43F5E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108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求你赦免我的罪，賜我永遠的生命。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31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F43F5E"/>
                </a:solidFill>
                <a:latin typeface="微軟正黑體"/>
              </a:defRPr>
            </a:pPr>
            <a:r>
              <a:rPr sz="2800">
                <a:solidFill>
                  <a:srgbClr val="F43F5E"/>
                </a:solidFill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931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求你使我的名記在生命冊上。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282828"/>
                </a:solidFill>
                <a:latin typeface="微軟正黑體"/>
              </a:defRPr>
            </a:pPr>
            <a:r>
              <a:rPr sz="2400"/>
              <a:t>凡心裡相信，口裡承認，呼求主名的，就必得救。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282828"/>
                </a:solidFill>
                <a:latin typeface="微軟正黑體"/>
              </a:defRPr>
            </a:pPr>
            <a:r>
              <a:rPr sz="1800"/>
              <a:t>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F43F5E"/>
                </a:solidFill>
                <a:latin typeface="微軟正黑體"/>
              </a:defRPr>
            </a:pPr>
            <a:r>
              <a:rPr sz="4200" b="1">
                <a:solidFill>
                  <a:srgbClr val="F43F5E"/>
                </a:solidFill>
              </a:rPr>
              <a:t>不要讓這個福音停在今天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1672" cy="5486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F43F5E"/>
                </a:solidFill>
                <a:latin typeface="微軟正黑體"/>
              </a:defRPr>
            </a:pPr>
            <a:r>
              <a:rPr sz="3100">
                <a:solidFill>
                  <a:srgbClr val="F43F5E"/>
                </a:solidFill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554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留下聯絡方式，約定下次見面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F43F5E"/>
                </a:solidFill>
                <a:latin typeface="微軟正黑體"/>
              </a:defRPr>
            </a:pPr>
            <a:r>
              <a:rPr sz="3100">
                <a:solidFill>
                  <a:srgbClr val="F43F5E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331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邀請參加小排或福音聚會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F43F5E"/>
                </a:solidFill>
                <a:latin typeface="微軟正黑體"/>
              </a:defRPr>
            </a:pPr>
            <a:r>
              <a:rPr sz="3100">
                <a:solidFill>
                  <a:srgbClr val="F43F5E"/>
                </a:solidFill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1089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每天花一點時間呼求主名、讀經禱告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人生的奧祕（二）·福音鑰字「算」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