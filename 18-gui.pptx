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【約0.5分鐘】今天只講一個字——「貴」，設計主題是「貴重的器皿」。先讓朋友放鬆：給我大約十五分鐘，聽完再一起討論。本篇已按福音需要調整順序：先從生活談起，再回到經文，內容取自原文。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【約1.5分鐘】開場提問：達文西名畫救世主拍出四點五億美元天價，什麼才是真正寶貴、值得人付上代價的？ 讓朋友先說兩句，建立關係，不要急著辯論，也不要一開始就先背經文。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【約2.2分鐘】寶血贖回脫虛妄。投影片上的講解就是原文該段的濃縮，講的時候可以照著說，再展開一兩句自己的見證，不要偏離原文。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【約2.2分鐘】救恩五件寶貴。投影片上的講解就是原文該段的濃縮，講的時候可以照著說，再展開一兩句自己的見證，不要偏離原文。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【約2.2分鐘】貴重器皿盛裝神。投影片上的講解就是原文該段的濃縮，講的時候可以照著說，再展開一兩句自己的見證，不要偏離原文。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【約2.2分鐘】脫卑賤成貴重。投影片上的講解就是原文該段的濃縮，講的時候可以照著說，再展開一兩句自己的見證，不要偏離原文。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【約1分鐘】講完生活與信息後，再把本篇篇首的鑰字經文讀一遍，幫助朋友把剛才聽到的信息對回經文上。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物質的金銀能買得畫紙上的救世主，卻如畫餅充飢，不能給人飽足；真正的救主已經來到，祂死而復活成為賜生命的靈，把神分賜到人裏面。沒有什麼比神自己再寶貴，神之外的事都是卑賤的，只有屬神的事才是貴重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【約0.5分鐘】直接、溫和地問，不要強逼。朋友若有問題，記下來，講完禱告後再回答。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【約1分鐘】邀請朋友開口跟著禱告，一句一句慢慢來。只要他願意開口呼求主名，就恭喜他得救了，並立刻約定下一次見面。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【約0.5分鐘】結尾：留下手機或 Line，立刻邀請到小排或下次福音聚會。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貴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11680" y="1097280"/>
            <a:ext cx="81381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1097280"/>
            <a:ext cx="8138160" cy="109728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1828800"/>
            <a:ext cx="7223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5000" b="1">
                <a:solidFill>
                  <a:srgbClr val="89700B"/>
                </a:solidFill>
                <a:latin typeface="微軟正黑體"/>
              </a:defRPr>
            </a:pPr>
            <a:r>
              <a:rPr>
                <a:solidFill>
                  <a:srgbClr val="89700B"/>
                </a:solidFill>
              </a:rPr>
              <a:t>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3749039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600" b="0">
                <a:solidFill>
                  <a:srgbClr val="2B2B2B"/>
                </a:solidFill>
                <a:latin typeface="微軟正黑體"/>
              </a:defRPr>
            </a:pPr>
            <a:r>
              <a:rPr sz="2600"/>
              <a:t>貴重的器皿 · 神給人的恩典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4389120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400" b="0">
                <a:solidFill>
                  <a:srgbClr val="5A5A5A"/>
                </a:solidFill>
                <a:latin typeface="微軟正黑體"/>
              </a:defRPr>
            </a:pPr>
            <a:r>
              <a:rPr sz="2400"/>
              <a:t>第 18 個鑰字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5836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800" b="1">
                <a:solidFill>
                  <a:srgbClr val="FFFFFF"/>
                </a:solidFill>
                <a:latin typeface="微軟正黑體"/>
              </a:defRPr>
            </a:pPr>
            <a:r>
              <a:rPr sz="3800"/>
              <a:t>你有沒有想過……？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89700B"/>
                </a:solidFill>
                <a:latin typeface="微軟正黑體"/>
              </a:defRPr>
            </a:pPr>
            <a:r>
              <a:rPr sz="4000" b="1">
                <a:solidFill>
                  <a:srgbClr val="89700B"/>
                </a:solidFill>
              </a:rPr>
              <a:t>達文西名畫救世主拍出四點五億美元天價，什麼才是真正寶貴、值得人付上代價的？</a:t>
            </a:r>
          </a:p>
        </p:txBody>
      </p:sp>
      <p:pic>
        <p:nvPicPr>
          <p:cNvPr id="9" name="Picture 8" descr="貴_s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5836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9700B"/>
                </a:solidFill>
                <a:latin typeface="微軟正黑體"/>
              </a:defRPr>
            </a:pPr>
            <a:r>
              <a:rPr sz="4000" b="1">
                <a:solidFill>
                  <a:srgbClr val="89700B"/>
                </a:solidFill>
              </a:rPr>
              <a:t>寶血贖回脫虛妄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9700B"/>
                </a:solidFill>
                <a:latin typeface="微軟正黑體"/>
              </a:defRPr>
            </a:pPr>
            <a:r>
              <a:rPr sz="3300">
                <a:solidFill>
                  <a:srgbClr val="89700B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得贖非用能壞金銀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9700B"/>
                </a:solidFill>
                <a:latin typeface="微軟正黑體"/>
              </a:defRPr>
            </a:pPr>
            <a:r>
              <a:rPr sz="3300">
                <a:solidFill>
                  <a:srgbClr val="89700B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乃用基督寶血羔羊血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9700B"/>
                </a:solidFill>
                <a:latin typeface="微軟正黑體"/>
              </a:defRPr>
            </a:pPr>
            <a:r>
              <a:rPr sz="3300">
                <a:solidFill>
                  <a:srgbClr val="89700B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從虛妄生活到聖別生活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58360E"/>
                </a:solidFill>
                <a:latin typeface="微軟正黑體"/>
              </a:defRPr>
            </a:pPr>
            <a:r>
              <a:rPr sz="2400"/>
              <a:t>經文：知道你們得贖，脫離你們祖宗所傳流虛妄的生活，不是用能壞的金銀等物，乃是用基督的寶血，如同無瑕疵無玷污的羔羊之血。（彼前一18〜19）</a:t>
            </a:r>
          </a:p>
        </p:txBody>
      </p:sp>
      <p:pic>
        <p:nvPicPr>
          <p:cNvPr id="18" name="Picture 17" descr="story_貴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5836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9700B"/>
                </a:solidFill>
                <a:latin typeface="微軟正黑體"/>
              </a:defRPr>
            </a:pPr>
            <a:r>
              <a:rPr sz="4000" b="1">
                <a:solidFill>
                  <a:srgbClr val="89700B"/>
                </a:solidFill>
              </a:rPr>
              <a:t>救恩五件寶貴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9700B"/>
                </a:solidFill>
                <a:latin typeface="微軟正黑體"/>
              </a:defRPr>
            </a:pPr>
            <a:r>
              <a:rPr sz="3300">
                <a:solidFill>
                  <a:srgbClr val="89700B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寶貴活石就是主自己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9700B"/>
                </a:solidFill>
                <a:latin typeface="微軟正黑體"/>
              </a:defRPr>
            </a:pPr>
            <a:r>
              <a:rPr sz="3300">
                <a:solidFill>
                  <a:srgbClr val="89700B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寶貴血應許信試驗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9700B"/>
                </a:solidFill>
                <a:latin typeface="微軟正黑體"/>
              </a:defRPr>
            </a:pPr>
            <a:r>
              <a:rPr sz="3300">
                <a:solidFill>
                  <a:srgbClr val="89700B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皆表明基督的寶貴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58360E"/>
                </a:solidFill>
                <a:latin typeface="微軟正黑體"/>
              </a:defRPr>
            </a:pPr>
            <a:r>
              <a:rPr sz="2400"/>
              <a:t>經文：五件寶貴的東西：寶貴的石頭，就是主自己；寶貴的血；寶貴的應許；寶貴的信；寶貴的試驗。（彼前一7註3）</a:t>
            </a:r>
          </a:p>
        </p:txBody>
      </p:sp>
      <p:pic>
        <p:nvPicPr>
          <p:cNvPr id="18" name="Picture 17" descr="story_貴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5836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9700B"/>
                </a:solidFill>
                <a:latin typeface="微軟正黑體"/>
              </a:defRPr>
            </a:pPr>
            <a:r>
              <a:rPr sz="4000" b="1">
                <a:solidFill>
                  <a:srgbClr val="89700B"/>
                </a:solidFill>
              </a:rPr>
              <a:t>貴重器皿盛裝神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9700B"/>
                </a:solidFill>
                <a:latin typeface="微軟正黑體"/>
              </a:defRPr>
            </a:pPr>
            <a:r>
              <a:rPr sz="3300">
                <a:solidFill>
                  <a:srgbClr val="89700B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人按神形像造作器皿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9700B"/>
                </a:solidFill>
                <a:latin typeface="微軟正黑體"/>
              </a:defRPr>
            </a:pPr>
            <a:r>
              <a:rPr sz="3300">
                <a:solidFill>
                  <a:srgbClr val="89700B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如手套盛裝手般盛神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9700B"/>
                </a:solidFill>
                <a:latin typeface="微軟正黑體"/>
              </a:defRPr>
            </a:pPr>
            <a:r>
              <a:rPr sz="3300">
                <a:solidFill>
                  <a:srgbClr val="89700B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有神作內容即榮耀尊貴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58360E"/>
                </a:solidFill>
                <a:latin typeface="微軟正黑體"/>
              </a:defRPr>
            </a:pPr>
            <a:r>
              <a:rPr sz="2400"/>
              <a:t>經文：貴重的器皿。（羅九21）神按著自己的形像創造人。（創一27）</a:t>
            </a:r>
          </a:p>
        </p:txBody>
      </p:sp>
      <p:pic>
        <p:nvPicPr>
          <p:cNvPr id="18" name="Picture 17" descr="story_貴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5836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9700B"/>
                </a:solidFill>
                <a:latin typeface="微軟正黑體"/>
              </a:defRPr>
            </a:pPr>
            <a:r>
              <a:rPr sz="4000" b="1">
                <a:solidFill>
                  <a:srgbClr val="89700B"/>
                </a:solidFill>
              </a:rPr>
              <a:t>脫卑賤成貴重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9700B"/>
                </a:solidFill>
                <a:latin typeface="微軟正黑體"/>
              </a:defRPr>
            </a:pPr>
            <a:r>
              <a:rPr sz="3300">
                <a:solidFill>
                  <a:srgbClr val="89700B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金銀屬神木瓦屬人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9700B"/>
                </a:solidFill>
                <a:latin typeface="微軟正黑體"/>
              </a:defRPr>
            </a:pPr>
            <a:r>
              <a:rPr sz="3300">
                <a:solidFill>
                  <a:srgbClr val="89700B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貴重是性質非用處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9700B"/>
                </a:solidFill>
                <a:latin typeface="微軟正黑體"/>
              </a:defRPr>
            </a:pPr>
            <a:r>
              <a:rPr sz="3300">
                <a:solidFill>
                  <a:srgbClr val="89700B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歸向全能者必得建立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58360E"/>
                </a:solidFill>
                <a:latin typeface="微軟正黑體"/>
              </a:defRPr>
            </a:pPr>
            <a:r>
              <a:rPr sz="2400"/>
              <a:t>經文：脫離這些卑賤的，就必成為貴重的器皿，分別為聖，合乎主人使用，預備行各樣的善事。（提後二21）你若歸向全能者，就必得建立。（伯二二23）</a:t>
            </a:r>
          </a:p>
        </p:txBody>
      </p:sp>
      <p:pic>
        <p:nvPicPr>
          <p:cNvPr id="18" name="Picture 17" descr="story_貴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5836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89700B"/>
                </a:solidFill>
                <a:latin typeface="微軟正黑體"/>
              </a:defRPr>
            </a:pPr>
            <a:r>
              <a:rPr sz="1800">
                <a:solidFill>
                  <a:srgbClr val="89700B"/>
                </a:solidFill>
              </a:rPr>
              <a:t>回到經文 · 本篇一覽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9700B"/>
                </a:solidFill>
                <a:latin typeface="微軟正黑體"/>
              </a:defRPr>
            </a:pPr>
            <a:r>
              <a:rPr sz="4200" b="1">
                <a:solidFill>
                  <a:srgbClr val="89700B"/>
                </a:solidFill>
              </a:rPr>
              <a:t>「貴」的鑰字經文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乃是用基督的寶血，如同無瑕疵無玷污的羔羊之血（彼前一19）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五件寶貴的東西：寶貴的石頭、血、應許、信、試驗（彼前一7註3）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39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貴重的器皿（羅九21）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58360E"/>
                </a:solidFill>
                <a:latin typeface="微軟正黑體"/>
              </a:defRPr>
            </a:pPr>
            <a:r>
              <a:rPr sz="2000"/>
              <a:t>這些經文，就是剛才信息的根據。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C07A1A"/>
                </a:solidFill>
                <a:latin typeface="微軟正黑體"/>
              </a:defRPr>
            </a:pPr>
            <a:r>
              <a:rPr sz="2000">
                <a:solidFill>
                  <a:srgbClr val="C07A1A"/>
                </a:solidFill>
              </a:rPr>
              <a:t>福音的答案 · 貴重的器皿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>
                <a:solidFill>
                  <a:srgbClr val="89700B"/>
                </a:solidFill>
                <a:latin typeface="微軟正黑體"/>
              </a:defRPr>
            </a:pPr>
            <a:r>
              <a:rPr sz="4600" b="1">
                <a:solidFill>
                  <a:srgbClr val="89700B"/>
                </a:solidFill>
              </a:rPr>
              <a:t>福音的答案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698480" cy="54864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82828"/>
                </a:solidFill>
                <a:latin typeface="微軟正黑體"/>
              </a:defRPr>
            </a:pPr>
            <a:r>
              <a:rPr sz="3300">
                <a:solidFill>
                  <a:srgbClr val="282828"/>
                </a:solidFill>
              </a:rPr>
              <a:t>基督寶血代價最高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82828"/>
                </a:solidFill>
                <a:latin typeface="微軟正黑體"/>
              </a:defRPr>
            </a:pPr>
            <a:r>
              <a:rPr sz="3300">
                <a:solidFill>
                  <a:srgbClr val="282828"/>
                </a:solidFill>
              </a:rPr>
              <a:t>基督是宇宙的至寶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82828"/>
                </a:solidFill>
                <a:latin typeface="微軟正黑體"/>
              </a:defRPr>
            </a:pPr>
            <a:r>
              <a:rPr sz="3300">
                <a:solidFill>
                  <a:srgbClr val="282828"/>
                </a:solidFill>
              </a:rPr>
              <a:t>信託救主成為貴重器皿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400" b="0">
                <a:solidFill>
                  <a:srgbClr val="282828"/>
                </a:solidFill>
                <a:latin typeface="微軟正黑體"/>
              </a:defRPr>
            </a:pPr>
            <a:r>
              <a:rPr sz="2400">
                <a:solidFill>
                  <a:srgbClr val="282828"/>
                </a:solidFill>
              </a:rPr>
              <a:t>物質的金銀能買得畫紙上的救世主，卻如畫餅充飢，不能給人飽足；真正的救主已經來到，祂死而復活成為賜生命的靈，把神分賜到人裏面。沒有什麼比神自己再寶貴，神之外的事都是卑賤的，只有屬神的事才是貴重的。</a:t>
            </a:r>
          </a:p>
        </p:txBody>
      </p:sp>
      <p:pic>
        <p:nvPicPr>
          <p:cNvPr id="12" name="Picture 11" descr="貴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19456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5836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89700B"/>
                </a:solidFill>
                <a:latin typeface="微軟正黑體"/>
              </a:defRPr>
            </a:pPr>
            <a:r>
              <a:rPr sz="1800">
                <a:solidFill>
                  <a:srgbClr val="89700B"/>
                </a:solidFill>
              </a:rPr>
              <a:t>抉擇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9700B"/>
                </a:solidFill>
                <a:latin typeface="微軟正黑體"/>
              </a:defRPr>
            </a:pPr>
            <a:r>
              <a:rPr sz="4200" b="1">
                <a:solidFill>
                  <a:srgbClr val="89700B"/>
                </a:solidFill>
              </a:rPr>
              <a:t>今天，你願意嗎？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600" b="1">
                <a:solidFill>
                  <a:srgbClr val="58360E"/>
                </a:solidFill>
                <a:latin typeface="微軟正黑體"/>
              </a:defRPr>
            </a:pPr>
            <a:r>
              <a:rPr sz="3600"/>
              <a:t>願你把自己信託給這位為你付上生命代價的救主，這是最寶貴的，世上沒有一件事比這個再上算了。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5A5A5A"/>
                </a:solidFill>
                <a:latin typeface="微軟正黑體"/>
              </a:defRPr>
            </a:pPr>
            <a:r>
              <a:rPr sz="2600"/>
              <a:t>不需要先作好、改好，只要現在作一個決定。</a:t>
            </a:r>
          </a:p>
        </p:txBody>
      </p:sp>
      <p:pic>
        <p:nvPicPr>
          <p:cNvPr id="9" name="Picture 8" descr="貴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5836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89700B"/>
                </a:solidFill>
                <a:latin typeface="微軟正黑體"/>
              </a:defRPr>
            </a:pPr>
            <a:r>
              <a:rPr sz="1800">
                <a:solidFill>
                  <a:srgbClr val="89700B"/>
                </a:solidFill>
              </a:rPr>
              <a:t>一起禱告 · 講一句，跟一句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9700B"/>
                </a:solidFill>
                <a:latin typeface="微軟正黑體"/>
              </a:defRPr>
            </a:pPr>
            <a:r>
              <a:rPr sz="4200" b="1">
                <a:solidFill>
                  <a:srgbClr val="89700B"/>
                </a:solidFill>
              </a:rPr>
              <a:t>哦，主耶穌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9700B"/>
                </a:solidFill>
                <a:latin typeface="微軟正黑體"/>
              </a:defRPr>
            </a:pPr>
            <a:r>
              <a:rPr sz="2800">
                <a:solidFill>
                  <a:srgbClr val="89700B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主耶穌，感謝你在十字架上流寶血救贖我。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9700B"/>
                </a:solidFill>
                <a:latin typeface="微軟正黑體"/>
              </a:defRPr>
            </a:pPr>
            <a:r>
              <a:rPr sz="2800">
                <a:solidFill>
                  <a:srgbClr val="89700B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你為我付了最大的代價，救我脫去一切在神之外的事。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9700B"/>
                </a:solidFill>
                <a:latin typeface="微軟正黑體"/>
              </a:defRPr>
            </a:pPr>
            <a:r>
              <a:rPr sz="2800">
                <a:solidFill>
                  <a:srgbClr val="89700B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我願把自己信託給你，分別為聖作貴重的器皿。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9700B"/>
                </a:solidFill>
                <a:latin typeface="微軟正黑體"/>
              </a:defRPr>
            </a:pPr>
            <a:r>
              <a:rPr sz="2800">
                <a:solidFill>
                  <a:srgbClr val="89700B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我需要你，願更多得著你作我的內容和人生意義。阿們。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58360E"/>
                </a:solidFill>
                <a:latin typeface="微軟正黑體"/>
              </a:defRPr>
            </a:pPr>
            <a:r>
              <a:rPr sz="2400"/>
              <a:t>凡心裡相信，口裡承認，呼求主名的，就必得救。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5836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89700B"/>
                </a:solidFill>
                <a:latin typeface="微軟正黑體"/>
              </a:defRPr>
            </a:pPr>
            <a:r>
              <a:rPr sz="1800">
                <a:solidFill>
                  <a:srgbClr val="89700B"/>
                </a:solidFill>
              </a:rPr>
              <a:t>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9700B"/>
                </a:solidFill>
                <a:latin typeface="微軟正黑體"/>
              </a:defRPr>
            </a:pPr>
            <a:r>
              <a:rPr sz="4200" b="1">
                <a:solidFill>
                  <a:srgbClr val="89700B"/>
                </a:solidFill>
              </a:rPr>
              <a:t>不要讓這個福音停在今天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9700B"/>
                </a:solidFill>
                <a:latin typeface="微軟正黑體"/>
              </a:defRPr>
            </a:pPr>
            <a:r>
              <a:rPr sz="3100">
                <a:solidFill>
                  <a:srgbClr val="89700B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留下聯絡方式，約定下次見面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9700B"/>
                </a:solidFill>
                <a:latin typeface="微軟正黑體"/>
              </a:defRPr>
            </a:pPr>
            <a:r>
              <a:rPr sz="3100">
                <a:solidFill>
                  <a:srgbClr val="89700B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邀請參加小排或福音聚會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9700B"/>
                </a:solidFill>
                <a:latin typeface="微軟正黑體"/>
              </a:defRPr>
            </a:pPr>
            <a:r>
              <a:rPr sz="3100">
                <a:solidFill>
                  <a:srgbClr val="89700B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每天花一點時間呼求主名、讀經禱告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0">
                <a:solidFill>
                  <a:srgbClr val="5A5A5A"/>
                </a:solidFill>
                <a:latin typeface="微軟正黑體"/>
              </a:defRPr>
            </a:pPr>
            <a:r>
              <a:rPr sz="2000"/>
              <a:t>福音故事下册，一〇一至一〇二頁；神的橋梁與出路，第四篇；倪柝聲文集第二輯第二十六册，第一百八十二篇。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人生的奧祕（二）·福音鑰字「貴」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