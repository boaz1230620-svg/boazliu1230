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【約0.5分鐘】今天只講一個字——「我」，設計主題是「舊我與新我」。先讓朋友放鬆：給我大約十五分鐘，聽完再一起討論。本篇已按福音需要調整順序：先從生活談起，再回到經文，內容取自原文。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【約1.5分鐘】開場提問：立志為善由得我，行出來卻由不得我，人生苦惱，所為何事？ 讓朋友先說兩句，建立關係，不要急著辯論，也不要一開始就先背經文。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【約2.2分鐘】善惡二性相爭。投影片上的講解就是原文該段的濃縮，講的時候可以照著說，再展開一兩句自己的見證，不要偏離原文。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【約2.2分鐘】想要行善卻不能。投影片上的講解就是原文該段的濃縮，講的時候可以照著說，再展開一兩句自己的見證，不要偏離原文。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【約2.2分鐘】舊我同釘十字架。投影片上的講解就是原文該段的濃縮，講的時候可以照著說，再展開一兩句自己的見證，不要偏離原文。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【約2.2分鐘】基督活在我裡面。投影片上的講解就是原文該段的濃縮，講的時候可以照著說，再展開一兩句自己的見證，不要偏離原文。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【約1分鐘】講完生活與信息後，再把本篇篇首的鑰字經文讀一遍，幫助朋友把剛才聽到的信息對回經文上。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加拉太二章二十節給我們看見，保羅信主得救後，有罪生命的舊我已經與基督同釘十字架而被了結；他現在所活的，乃是得著神聖生命的新我。基督不僅在十字架上帶著我們同死，還要在我們裡面與我們同活，這是神奇妙的救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【約0.5分鐘】直接、溫和地問，不要強逼。朋友若有問題，記下來，講完禱告後再回答。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【約1分鐘】邀請朋友開口跟著禱告，一句一句慢慢來。只要他願意開口呼求主名，就恭喜他得救了，並立刻約定下一次見面。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【約0.5分鐘】結尾：留下手機或 Line，立刻邀請到小排或下次福音聚會。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D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我_r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0"/>
            <a:ext cx="484632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223760" y="0"/>
            <a:ext cx="118872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000" b="1">
                <a:solidFill>
                  <a:srgbClr val="26422A"/>
                </a:solidFill>
                <a:latin typeface="微軟正黑體"/>
              </a:defRPr>
            </a:pPr>
            <a:r>
              <a:rPr sz="3000">
                <a:solidFill>
                  <a:srgbClr val="26422A"/>
                </a:solidFill>
              </a:rPr>
              <a:t>舊我與新我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0">
                <a:solidFill>
                  <a:srgbClr val="26422A"/>
                </a:solidFill>
                <a:latin typeface="微軟正黑體"/>
              </a:defRPr>
            </a:pPr>
            <a:r>
              <a:rPr sz="2400">
                <a:solidFill>
                  <a:srgbClr val="26422A"/>
                </a:solidFill>
              </a:rPr>
              <a:t>人的負面情形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3840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9000" b="1">
                <a:solidFill>
                  <a:srgbClr val="74601E"/>
                </a:solidFill>
                <a:latin typeface="微軟正黑體"/>
              </a:defRPr>
            </a:pPr>
            <a:r>
              <a:rPr>
                <a:solidFill>
                  <a:srgbClr val="74601E"/>
                </a:solidFill>
              </a:rPr>
              <a:t>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120640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200" b="1">
                <a:solidFill>
                  <a:srgbClr val="C07A1A"/>
                </a:solidFill>
                <a:latin typeface="微軟正黑體"/>
              </a:defRPr>
            </a:pPr>
            <a:r>
              <a:rPr sz="3200">
                <a:solidFill>
                  <a:srgbClr val="C07A1A"/>
                </a:solidFill>
              </a:rPr>
              <a:t>第 6 個鑰字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800" b="1">
                <a:solidFill>
                  <a:srgbClr val="C07A1A"/>
                </a:solidFill>
                <a:latin typeface="微軟正黑體"/>
              </a:defRPr>
            </a:pPr>
            <a:r>
              <a:rPr sz="3800" b="1">
                <a:solidFill>
                  <a:srgbClr val="C07A1A"/>
                </a:solidFill>
              </a:rPr>
              <a:t>你有沒有想過……？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201168" cy="20116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188720"/>
            <a:ext cx="201168" cy="20116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88720"/>
            <a:ext cx="201168" cy="20116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7132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4000" b="1">
                <a:solidFill>
                  <a:srgbClr val="74601E"/>
                </a:solidFill>
                <a:latin typeface="微軟正黑體"/>
              </a:defRPr>
            </a:pPr>
            <a:r>
              <a:rPr sz="4000" b="1">
                <a:solidFill>
                  <a:srgbClr val="74601E"/>
                </a:solidFill>
              </a:rPr>
              <a:t>立志為善由得我，行出來卻由不得我，人生苦惱，所為何事？</a:t>
            </a:r>
          </a:p>
        </p:txBody>
      </p:sp>
      <p:pic>
        <p:nvPicPr>
          <p:cNvPr id="10" name="Picture 9" descr="我_sid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55448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74601E"/>
                </a:solidFill>
                <a:latin typeface="微軟正黑體"/>
              </a:defRPr>
            </a:pPr>
            <a:r>
              <a:rPr sz="4000" b="1">
                <a:solidFill>
                  <a:srgbClr val="74601E"/>
                </a:solidFill>
              </a:rPr>
              <a:t>善惡二性相爭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201168" cy="20116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188720"/>
            <a:ext cx="201168" cy="20116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88720"/>
            <a:ext cx="201168" cy="20116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74601E"/>
                </a:solidFill>
                <a:latin typeface="微軟正黑體"/>
              </a:defRPr>
            </a:pPr>
            <a:r>
              <a:rPr sz="3300">
                <a:solidFill>
                  <a:srgbClr val="74601E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人按神形像造，有善性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74601E"/>
                </a:solidFill>
                <a:latin typeface="微軟正黑體"/>
              </a:defRPr>
            </a:pPr>
            <a:r>
              <a:rPr sz="3300">
                <a:solidFill>
                  <a:srgbClr val="74601E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吃了善惡樹果子，有了惡性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74601E"/>
                </a:solidFill>
                <a:latin typeface="微軟正黑體"/>
              </a:defRPr>
            </a:pPr>
            <a:r>
              <a:rPr sz="3300">
                <a:solidFill>
                  <a:srgbClr val="74601E"/>
                </a:solidFill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善惡二性在人裡面相爭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26422A"/>
                </a:solidFill>
                <a:latin typeface="微軟正黑體"/>
              </a:defRPr>
            </a:pPr>
            <a:r>
              <a:rPr sz="2400"/>
              <a:t>經文：立志為善由得我，只是行出來由不得我。（羅七18）</a:t>
            </a:r>
          </a:p>
        </p:txBody>
      </p:sp>
      <p:pic>
        <p:nvPicPr>
          <p:cNvPr id="19" name="Picture 18" descr="story_我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74601E"/>
                </a:solidFill>
                <a:latin typeface="微軟正黑體"/>
              </a:defRPr>
            </a:pPr>
            <a:r>
              <a:rPr sz="4000" b="1">
                <a:solidFill>
                  <a:srgbClr val="74601E"/>
                </a:solidFill>
              </a:rPr>
              <a:t>想要行善卻不能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201168" cy="20116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188720"/>
            <a:ext cx="201168" cy="20116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88720"/>
            <a:ext cx="201168" cy="20116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74601E"/>
                </a:solidFill>
                <a:latin typeface="微軟正黑體"/>
              </a:defRPr>
            </a:pPr>
            <a:r>
              <a:rPr sz="3300">
                <a:solidFill>
                  <a:srgbClr val="74601E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沒有人願意貪婪嫉妒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74601E"/>
                </a:solidFill>
                <a:latin typeface="微軟正黑體"/>
              </a:defRPr>
            </a:pPr>
            <a:r>
              <a:rPr sz="3300">
                <a:solidFill>
                  <a:srgbClr val="74601E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貪欲傲氣卻在人裡面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74601E"/>
                </a:solidFill>
                <a:latin typeface="微軟正黑體"/>
              </a:defRPr>
            </a:pPr>
            <a:r>
              <a:rPr sz="3300">
                <a:solidFill>
                  <a:srgbClr val="74601E"/>
                </a:solidFill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人無法脫離這些惡性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26422A"/>
                </a:solidFill>
                <a:latin typeface="微軟正黑體"/>
              </a:defRPr>
            </a:pPr>
            <a:r>
              <a:rPr sz="2400"/>
              <a:t>經文：我所願意的善，我反不作；我所不願意的惡，我倒去作。（羅七19）</a:t>
            </a:r>
          </a:p>
        </p:txBody>
      </p:sp>
      <p:pic>
        <p:nvPicPr>
          <p:cNvPr id="19" name="Picture 18" descr="story_我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74601E"/>
                </a:solidFill>
                <a:latin typeface="微軟正黑體"/>
              </a:defRPr>
            </a:pPr>
            <a:r>
              <a:rPr sz="4000" b="1">
                <a:solidFill>
                  <a:srgbClr val="74601E"/>
                </a:solidFill>
              </a:rPr>
              <a:t>舊我同釘十字架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201168" cy="20116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188720"/>
            <a:ext cx="201168" cy="20116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88720"/>
            <a:ext cx="201168" cy="20116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74601E"/>
                </a:solidFill>
                <a:latin typeface="微軟正黑體"/>
              </a:defRPr>
            </a:pPr>
            <a:r>
              <a:rPr sz="3300">
                <a:solidFill>
                  <a:srgbClr val="74601E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神不改變敗壞生命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74601E"/>
                </a:solidFill>
                <a:latin typeface="微軟正黑體"/>
              </a:defRPr>
            </a:pPr>
            <a:r>
              <a:rPr sz="3300">
                <a:solidFill>
                  <a:srgbClr val="74601E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乃是從根本上治死它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74601E"/>
                </a:solidFill>
                <a:latin typeface="微軟正黑體"/>
              </a:defRPr>
            </a:pPr>
            <a:r>
              <a:rPr sz="3300">
                <a:solidFill>
                  <a:srgbClr val="74601E"/>
                </a:solidFill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已死的人就從罪開釋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26422A"/>
                </a:solidFill>
                <a:latin typeface="微軟正黑體"/>
              </a:defRPr>
            </a:pPr>
            <a:r>
              <a:rPr sz="2400"/>
              <a:t>經文：我已經與基督同釘十字架；現在活著的，不再是我。（加二20上）</a:t>
            </a:r>
          </a:p>
        </p:txBody>
      </p:sp>
      <p:pic>
        <p:nvPicPr>
          <p:cNvPr id="19" name="Picture 18" descr="story_我_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74601E"/>
                </a:solidFill>
                <a:latin typeface="微軟正黑體"/>
              </a:defRPr>
            </a:pPr>
            <a:r>
              <a:rPr sz="4000" b="1">
                <a:solidFill>
                  <a:srgbClr val="74601E"/>
                </a:solidFill>
              </a:rPr>
              <a:t>基督活在我裡面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201168" cy="20116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188720"/>
            <a:ext cx="201168" cy="20116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88720"/>
            <a:ext cx="201168" cy="20116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74601E"/>
                </a:solidFill>
                <a:latin typeface="微軟正黑體"/>
              </a:defRPr>
            </a:pPr>
            <a:r>
              <a:rPr sz="3300">
                <a:solidFill>
                  <a:srgbClr val="74601E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主復活成為賜生命的靈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74601E"/>
                </a:solidFill>
                <a:latin typeface="微軟正黑體"/>
              </a:defRPr>
            </a:pPr>
            <a:r>
              <a:rPr sz="3300">
                <a:solidFill>
                  <a:srgbClr val="74601E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信祂的人都能接受祂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74601E"/>
                </a:solidFill>
                <a:latin typeface="微軟正黑體"/>
              </a:defRPr>
            </a:pPr>
            <a:r>
              <a:rPr sz="3300">
                <a:solidFill>
                  <a:srgbClr val="74601E"/>
                </a:solidFill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憑所接上的樹而活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26422A"/>
                </a:solidFill>
                <a:latin typeface="微軟正黑體"/>
              </a:defRPr>
            </a:pPr>
            <a:r>
              <a:rPr sz="2400"/>
              <a:t>經文：乃是基督在我裡面活著。（加二20上）</a:t>
            </a:r>
          </a:p>
        </p:txBody>
      </p:sp>
      <p:pic>
        <p:nvPicPr>
          <p:cNvPr id="19" name="Picture 18" descr="story_我_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74601E"/>
                </a:solidFill>
                <a:latin typeface="微軟正黑體"/>
              </a:defRPr>
            </a:pPr>
            <a:r>
              <a:rPr sz="1800">
                <a:solidFill>
                  <a:srgbClr val="74601E"/>
                </a:solidFill>
              </a:rPr>
              <a:t>回到經文 · 本篇一覽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74601E"/>
                </a:solidFill>
                <a:latin typeface="微軟正黑體"/>
              </a:defRPr>
            </a:pPr>
            <a:r>
              <a:rPr sz="4200" b="1">
                <a:solidFill>
                  <a:srgbClr val="74601E"/>
                </a:solidFill>
              </a:rPr>
              <a:t>「我」的鑰字經文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201168" cy="20116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188720"/>
            <a:ext cx="201168" cy="20116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88720"/>
            <a:ext cx="201168" cy="20116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200" b="0">
                <a:solidFill>
                  <a:srgbClr val="2B2B2B"/>
                </a:solidFill>
                <a:latin typeface="微軟正黑體"/>
              </a:defRPr>
            </a:pPr>
            <a:r>
              <a:rPr sz="2200"/>
              <a:t>我是個苦惱的人！誰要救我？（羅七24上）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200" b="0">
                <a:solidFill>
                  <a:srgbClr val="2B2B2B"/>
                </a:solidFill>
                <a:latin typeface="微軟正黑體"/>
              </a:defRPr>
            </a:pPr>
            <a:r>
              <a:rPr sz="2200"/>
              <a:t>人想要為善，是何等的苦惱。（羅七7註2）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546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200" b="0">
                <a:solidFill>
                  <a:srgbClr val="2B2B2B"/>
                </a:solidFill>
                <a:latin typeface="微軟正黑體"/>
              </a:defRPr>
            </a:pPr>
            <a:r>
              <a:rPr sz="2200"/>
              <a:t>人需要神的憐憫，因為他們無能、軟弱且苦惱。（約五2註2）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023359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200" b="0">
                <a:solidFill>
                  <a:srgbClr val="2B2B2B"/>
                </a:solidFill>
                <a:latin typeface="微軟正黑體"/>
              </a:defRPr>
            </a:pPr>
            <a:r>
              <a:rPr sz="2200"/>
              <a:t>我已經與基督同釘十字架；現在活著的，不再是我，乃是基督在我裡面活著。（加二20上）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89204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200" b="0">
                <a:solidFill>
                  <a:srgbClr val="2B2B2B"/>
                </a:solidFill>
                <a:latin typeface="微軟正黑體"/>
              </a:defRPr>
            </a:pPr>
            <a:r>
              <a:rPr sz="2200"/>
              <a:t>神的經綸乃是：『我』在基督的死裡被釘死，基督在祂的復活裡活在我裡面。（加二20註3）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67512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基督和那靈接管了『我』和肉體的地位，信仰頂替了律法，使我們能憑那靈活基督。（加三2註3）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000" b="1">
                <a:solidFill>
                  <a:srgbClr val="26422A"/>
                </a:solidFill>
                <a:latin typeface="微軟正黑體"/>
              </a:defRPr>
            </a:pPr>
            <a:r>
              <a:rPr sz="2000"/>
              <a:t>這些經文，就是剛才信息的根據。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000" b="1">
                <a:solidFill>
                  <a:srgbClr val="C07A1A"/>
                </a:solidFill>
                <a:latin typeface="微軟正黑體"/>
              </a:defRPr>
            </a:pPr>
            <a:r>
              <a:rPr sz="2000">
                <a:solidFill>
                  <a:srgbClr val="C07A1A"/>
                </a:solidFill>
              </a:rPr>
              <a:t>福音的答案 · 舊我與新我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600" b="1">
                <a:solidFill>
                  <a:srgbClr val="74601E"/>
                </a:solidFill>
                <a:latin typeface="微軟正黑體"/>
              </a:defRPr>
            </a:pPr>
            <a:r>
              <a:rPr sz="4600" b="1">
                <a:solidFill>
                  <a:srgbClr val="74601E"/>
                </a:solidFill>
              </a:rPr>
              <a:t>福音的答案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83080"/>
            <a:ext cx="1069848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C07A1A"/>
                </a:solidFill>
                <a:latin typeface="微軟正黑體"/>
              </a:defRPr>
            </a:pPr>
            <a:r>
              <a:rPr sz="3300">
                <a:solidFill>
                  <a:srgbClr val="C07A1A"/>
                </a:solidFill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19456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6422A"/>
                </a:solidFill>
                <a:latin typeface="微軟正黑體"/>
              </a:defRPr>
            </a:pPr>
            <a:r>
              <a:rPr sz="3300">
                <a:solidFill>
                  <a:srgbClr val="26422A"/>
                </a:solidFill>
              </a:rPr>
              <a:t>舊我與基督同釘十字架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C07A1A"/>
                </a:solidFill>
                <a:latin typeface="微軟正黑體"/>
              </a:defRPr>
            </a:pPr>
            <a:r>
              <a:rPr sz="3300">
                <a:solidFill>
                  <a:srgbClr val="C07A1A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92608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6422A"/>
                </a:solidFill>
                <a:latin typeface="微軟正黑體"/>
              </a:defRPr>
            </a:pPr>
            <a:r>
              <a:rPr sz="3300">
                <a:solidFill>
                  <a:srgbClr val="26422A"/>
                </a:solidFill>
              </a:rPr>
              <a:t>新我得著神聖的生命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C07A1A"/>
                </a:solidFill>
                <a:latin typeface="微軟正黑體"/>
              </a:defRPr>
            </a:pPr>
            <a:r>
              <a:rPr sz="3300">
                <a:solidFill>
                  <a:srgbClr val="C07A1A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65760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6422A"/>
                </a:solidFill>
                <a:latin typeface="微軟正黑體"/>
              </a:defRPr>
            </a:pPr>
            <a:r>
              <a:rPr sz="3300">
                <a:solidFill>
                  <a:srgbClr val="26422A"/>
                </a:solidFill>
              </a:rPr>
              <a:t>基督在我裡面活著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6858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2400" b="0">
                <a:solidFill>
                  <a:srgbClr val="26422A"/>
                </a:solidFill>
                <a:latin typeface="微軟正黑體"/>
              </a:defRPr>
            </a:pPr>
            <a:r>
              <a:rPr sz="2400">
                <a:solidFill>
                  <a:srgbClr val="26422A"/>
                </a:solidFill>
              </a:rPr>
              <a:t>加拉太二章二十節給我們看見，保羅信主得救後，有罪生命的舊我已經與基督同釘十字架而被了結；他現在所活的，乃是得著神聖生命的新我。基督不僅在十字架上帶著我們同死，還要在我們裡面與我們同活，這是神奇妙的救恩。</a:t>
            </a:r>
          </a:p>
        </p:txBody>
      </p:sp>
      <p:pic>
        <p:nvPicPr>
          <p:cNvPr id="12" name="Picture 11" descr="我_si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19456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74601E"/>
                </a:solidFill>
                <a:latin typeface="微軟正黑體"/>
              </a:defRPr>
            </a:pPr>
            <a:r>
              <a:rPr sz="1800">
                <a:solidFill>
                  <a:srgbClr val="74601E"/>
                </a:solidFill>
              </a:rPr>
              <a:t>抉擇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74601E"/>
                </a:solidFill>
                <a:latin typeface="微軟正黑體"/>
              </a:defRPr>
            </a:pPr>
            <a:r>
              <a:rPr sz="4200" b="1">
                <a:solidFill>
                  <a:srgbClr val="74601E"/>
                </a:solidFill>
              </a:rPr>
              <a:t>今天，你願意嗎？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201168" cy="20116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188720"/>
            <a:ext cx="201168" cy="20116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88720"/>
            <a:ext cx="201168" cy="20116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7132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3600" b="1">
                <a:solidFill>
                  <a:srgbClr val="26422A"/>
                </a:solidFill>
                <a:latin typeface="微軟正黑體"/>
              </a:defRPr>
            </a:pPr>
            <a:r>
              <a:rPr sz="3600"/>
              <a:t>今天就接受祂作你的救主，經歷祂這奇妙的救恩。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14800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600" b="0">
                <a:solidFill>
                  <a:srgbClr val="5A5A5A"/>
                </a:solidFill>
                <a:latin typeface="微軟正黑體"/>
              </a:defRPr>
            </a:pPr>
            <a:r>
              <a:rPr sz="2600"/>
              <a:t>不需要先作好、改好，只要現在作一個決定。</a:t>
            </a:r>
          </a:p>
        </p:txBody>
      </p:sp>
      <p:pic>
        <p:nvPicPr>
          <p:cNvPr id="10" name="Picture 9" descr="我_si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55448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74601E"/>
                </a:solidFill>
                <a:latin typeface="微軟正黑體"/>
              </a:defRPr>
            </a:pPr>
            <a:r>
              <a:rPr sz="1800">
                <a:solidFill>
                  <a:srgbClr val="74601E"/>
                </a:solidFill>
              </a:rPr>
              <a:t>一起禱告 · 講一句，跟一句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74601E"/>
                </a:solidFill>
                <a:latin typeface="微軟正黑體"/>
              </a:defRPr>
            </a:pPr>
            <a:r>
              <a:rPr sz="4200" b="1">
                <a:solidFill>
                  <a:srgbClr val="74601E"/>
                </a:solidFill>
              </a:rPr>
              <a:t>哦，主耶穌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201168" cy="20116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188720"/>
            <a:ext cx="201168" cy="20116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88720"/>
            <a:ext cx="201168" cy="20116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74601E"/>
                </a:solidFill>
                <a:latin typeface="微軟正黑體"/>
              </a:defRPr>
            </a:pPr>
            <a:r>
              <a:rPr sz="2800">
                <a:solidFill>
                  <a:srgbClr val="74601E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463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主耶穌，我是個苦惱的人，立志為善卻行不出來。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860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74601E"/>
                </a:solidFill>
                <a:latin typeface="微軟正黑體"/>
              </a:defRPr>
            </a:pPr>
            <a:r>
              <a:rPr sz="2800">
                <a:solidFill>
                  <a:srgbClr val="74601E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2860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謝謝你為我釘十字架，我的舊我已經與你同釘。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089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74601E"/>
                </a:solidFill>
                <a:latin typeface="微軟正黑體"/>
              </a:defRPr>
            </a:pPr>
            <a:r>
              <a:rPr sz="2800">
                <a:solidFill>
                  <a:srgbClr val="74601E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108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求你進到我裡面，作我的生命和能力。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31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74601E"/>
                </a:solidFill>
                <a:latin typeface="微軟正黑體"/>
              </a:defRPr>
            </a:pPr>
            <a:r>
              <a:rPr sz="2800">
                <a:solidFill>
                  <a:srgbClr val="74601E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931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從今天起，讓基督在我裡面活著。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26422A"/>
                </a:solidFill>
                <a:latin typeface="微軟正黑體"/>
              </a:defRPr>
            </a:pPr>
            <a:r>
              <a:rPr sz="2400"/>
              <a:t>凡心裡相信，口裡承認，呼求主名的，就必得救。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74601E"/>
                </a:solidFill>
                <a:latin typeface="微軟正黑體"/>
              </a:defRPr>
            </a:pPr>
            <a:r>
              <a:rPr sz="1800">
                <a:solidFill>
                  <a:srgbClr val="74601E"/>
                </a:solidFill>
              </a:rPr>
              <a:t>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74601E"/>
                </a:solidFill>
                <a:latin typeface="微軟正黑體"/>
              </a:defRPr>
            </a:pPr>
            <a:r>
              <a:rPr sz="4200" b="1">
                <a:solidFill>
                  <a:srgbClr val="74601E"/>
                </a:solidFill>
              </a:rPr>
              <a:t>不要讓這個福音停在今天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201168" cy="20116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188720"/>
            <a:ext cx="201168" cy="20116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88720"/>
            <a:ext cx="201168" cy="20116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74601E"/>
                </a:solidFill>
                <a:latin typeface="微軟正黑體"/>
              </a:defRPr>
            </a:pPr>
            <a:r>
              <a:rPr sz="3100">
                <a:solidFill>
                  <a:srgbClr val="74601E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554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留下聯絡方式，約定下次見面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317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74601E"/>
                </a:solidFill>
                <a:latin typeface="微軟正黑體"/>
              </a:defRPr>
            </a:pPr>
            <a:r>
              <a:rPr sz="3100">
                <a:solidFill>
                  <a:srgbClr val="74601E"/>
                </a:solidFill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331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邀請參加小排或福音聚會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089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74601E"/>
                </a:solidFill>
                <a:latin typeface="微軟正黑體"/>
              </a:defRPr>
            </a:pPr>
            <a:r>
              <a:rPr sz="3100">
                <a:solidFill>
                  <a:srgbClr val="74601E"/>
                </a:solidFill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1089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每天花一點時間呼求主名、讀經禱告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人生的奧祕（二）·福音鑰字「我」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