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【約0.5分鐘】今天只講一個字——「忙」，設計主題是「熙攘中的停下」。先讓朋友放鬆：給我大約十五分鐘，聽完再一起討論。本篇已按福音需要調整順序：先從生活談起，再回到經文，內容取自原文。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【約1.5分鐘】開場提問：你所忙的每件事，都是一定要你作的麼？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【約2.2分鐘】忙得團團轉心亡。投影片上的講解就是原文該段的濃縮，講的時候可以照著說，再展開一兩句自己的見證，不要偏離原文。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【約2.2分鐘】奔自己房屋白忙。投影片上的講解就是原文該段的濃縮，講的時候可以照著說，再展開一兩句自己的見證，不要偏離原文。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【約2.2分鐘】賺世界賠上自己。投影片上的講解就是原文該段的濃縮，講的時候可以照著說，再展開一兩句自己的見證，不要偏離原文。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【約2.2分鐘】不可少只有一件。投影片上的講解就是原文該段的濃縮，講的時候可以照著說，再展開一兩句自己的見證，不要偏離原文。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祂與你相近，就在你口裡，也在你心裡。你不必到外面去找祂，祂離你太近了，幾乎變作你的一部分。安靜下來，在靈裡遇見神，和神交談，吸取神自己，祂就作你的生命、食糧、力量、亮光、喜樂、安慰，你需要甚麼，祂就是甚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8A6913"/>
                </a:solidFill>
                <a:latin typeface="微軟正黑體"/>
              </a:defRPr>
            </a:pPr>
            <a:r>
              <a:rPr sz="2600">
                <a:solidFill>
                  <a:srgbClr val="8A6913"/>
                </a:solidFill>
              </a:rPr>
              <a:t>熙攘中的停下 · 人的負面情形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8A6913"/>
                </a:solidFill>
                <a:latin typeface="微軟正黑體"/>
              </a:defRPr>
            </a:pPr>
            <a:r>
              <a:rPr>
                <a:solidFill>
                  <a:srgbClr val="8A6913"/>
                </a:solidFill>
              </a:rPr>
              <a:t>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C07A1A"/>
                </a:solidFill>
                <a:latin typeface="微軟正黑體"/>
              </a:defRPr>
            </a:pPr>
            <a:r>
              <a:rPr sz="3200">
                <a:solidFill>
                  <a:srgbClr val="C07A1A"/>
                </a:solidFill>
              </a:rPr>
              <a:t>第 4 個鑰字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8A6913"/>
                </a:solidFill>
                <a:latin typeface="微軟正黑體"/>
              </a:defRPr>
            </a:pPr>
            <a:r>
              <a:rPr sz="2600">
                <a:solidFill>
                  <a:srgbClr val="8A6913"/>
                </a:solidFill>
              </a:rPr>
              <a:t>一個字，一個福音信息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07408"/>
            <a:ext cx="12188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忙_bott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8895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9A3412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A6913"/>
                </a:solidFill>
                <a:latin typeface="微軟正黑體"/>
              </a:defRPr>
            </a:pPr>
            <a:r>
              <a:rPr sz="4000" b="1">
                <a:solidFill>
                  <a:srgbClr val="8A6913"/>
                </a:solidFill>
              </a:rPr>
              <a:t>你所忙的每件事，都是一定要你作的麼？</a:t>
            </a:r>
          </a:p>
        </p:txBody>
      </p:sp>
      <p:pic>
        <p:nvPicPr>
          <p:cNvPr id="9" name="Picture 8" descr="忙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6913"/>
                </a:solidFill>
                <a:latin typeface="微軟正黑體"/>
              </a:defRPr>
            </a:pPr>
            <a:r>
              <a:rPr sz="4000" b="1">
                <a:solidFill>
                  <a:srgbClr val="8A6913"/>
                </a:solidFill>
              </a:rPr>
              <a:t>忙得團團轉心亡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一天到晚勞碌無一刻閒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忙的不是大事是細瑣事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心一忙就跑出去亡了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9A3412"/>
                </a:solidFill>
                <a:latin typeface="微軟正黑體"/>
              </a:defRPr>
            </a:pPr>
            <a:r>
              <a:rPr sz="2400"/>
              <a:t>經文：馬大伺候的事多，各方忙亂，就進前來，說，主阿，我妹妹留下我獨自一人伺候，你不在意麼？（路十40）</a:t>
            </a:r>
          </a:p>
        </p:txBody>
      </p:sp>
      <p:pic>
        <p:nvPicPr>
          <p:cNvPr id="18" name="Picture 17" descr="story_忙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6913"/>
                </a:solidFill>
                <a:latin typeface="微軟正黑體"/>
              </a:defRPr>
            </a:pPr>
            <a:r>
              <a:rPr sz="4000" b="1">
                <a:solidFill>
                  <a:srgbClr val="8A6913"/>
                </a:solidFill>
              </a:rPr>
              <a:t>奔自己房屋白忙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任憑神殿荒涼只顧己屋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收到家中，神就吹去了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許多忙碌是不必而忙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9A3412"/>
                </a:solidFill>
                <a:latin typeface="微軟正黑體"/>
              </a:defRPr>
            </a:pPr>
            <a:r>
              <a:rPr sz="2400"/>
              <a:t>經文：你們盼望多得，所得的卻少；你們收到家中，我就吹去。這是為什麼呢？因為我的殿荒涼，你們各人卻奔向自己的房屋。（該一9）</a:t>
            </a:r>
          </a:p>
        </p:txBody>
      </p:sp>
      <p:pic>
        <p:nvPicPr>
          <p:cNvPr id="18" name="Picture 17" descr="story_忙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6913"/>
                </a:solidFill>
                <a:latin typeface="微軟正黑體"/>
              </a:defRPr>
            </a:pPr>
            <a:r>
              <a:rPr sz="4000" b="1">
                <a:solidFill>
                  <a:srgbClr val="8A6913"/>
                </a:solidFill>
              </a:rPr>
              <a:t>賺世界賠上自己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財主拆倉另蓋更大倉房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今夜必要你的魂歸誰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只知打魚不補網終無獲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9A3412"/>
                </a:solidFill>
                <a:latin typeface="微軟正黑體"/>
              </a:defRPr>
            </a:pPr>
            <a:r>
              <a:rPr sz="2400"/>
              <a:t>經文：人若賺得全世界，卻喪失自己，賠上自己，有什麼益處？（路九25）</a:t>
            </a:r>
          </a:p>
        </p:txBody>
      </p:sp>
      <p:pic>
        <p:nvPicPr>
          <p:cNvPr id="18" name="Picture 17" descr="story_忙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6913"/>
                </a:solidFill>
                <a:latin typeface="微軟正黑體"/>
              </a:defRPr>
            </a:pPr>
            <a:r>
              <a:rPr sz="4000" b="1">
                <a:solidFill>
                  <a:srgbClr val="8A6913"/>
                </a:solidFill>
              </a:rPr>
              <a:t>不可少只有一件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馬利亞選美好的分不奪去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不可少的一件就是基督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安靜在主前，口認心信得救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9A3412"/>
                </a:solidFill>
                <a:latin typeface="微軟正黑體"/>
              </a:defRPr>
            </a:pPr>
            <a:r>
              <a:rPr sz="2400"/>
              <a:t>經文：要贖回光陰，因為日子邪惡。所以不要作愚昧人，卻要明白什麼是主的旨意。（弗五16-17）</a:t>
            </a:r>
          </a:p>
        </p:txBody>
      </p:sp>
      <p:pic>
        <p:nvPicPr>
          <p:cNvPr id="18" name="Picture 17" descr="story_忙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C07A1A"/>
                </a:solidFill>
                <a:latin typeface="微軟正黑體"/>
              </a:defRPr>
            </a:pPr>
            <a:r>
              <a:rPr sz="1800" b="1">
                <a:solidFill>
                  <a:srgbClr val="C07A1A"/>
                </a:solidFill>
              </a:rPr>
              <a:t>回到經文 · 本篇一覽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6913"/>
                </a:solidFill>
                <a:latin typeface="微軟正黑體"/>
              </a:defRPr>
            </a:pPr>
            <a:r>
              <a:rPr sz="4200" b="1">
                <a:solidFill>
                  <a:srgbClr val="8A6913"/>
                </a:solidFill>
              </a:rPr>
              <a:t>「忙」的鑰字經文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A. 忙得團團轉。（路十40註1）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B. 你們盼望多得，所得的卻少……這是為什麼呢？因為你們各人忙於照顧自己的房屋。（該一9註1）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C. 人若賺得全世界，卻喪失自己，賠上自己，有什麼益處？（路九25）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D. 要把握每一有利的時機，因為日子邪惡；明白主的旨意，是把握每一有利時機最好的路。（弗五16註1，2，17註1）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9A3412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熙攘中的停下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A6913"/>
                </a:solidFill>
                <a:latin typeface="微軟正黑體"/>
              </a:defRPr>
            </a:pPr>
            <a:r>
              <a:rPr sz="4600" b="1">
                <a:solidFill>
                  <a:srgbClr val="8A6913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神願意住在你裡面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不必到外面天上去找祂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8A6913"/>
                </a:solidFill>
                <a:latin typeface="微軟正黑體"/>
              </a:defRPr>
            </a:pPr>
            <a:r>
              <a:rPr sz="3300">
                <a:solidFill>
                  <a:srgbClr val="8A6913"/>
                </a:solidFill>
              </a:rPr>
              <a:t>安靜吸取神作你一切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8A6913"/>
                </a:solidFill>
                <a:latin typeface="微軟正黑體"/>
              </a:defRPr>
            </a:pPr>
            <a:r>
              <a:rPr sz="2400">
                <a:solidFill>
                  <a:srgbClr val="8A6913"/>
                </a:solidFill>
              </a:rPr>
              <a:t>祂與你相近，就在你口裡，也在你心裡。你不必到外面去找祂，祂離你太近了，幾乎變作你的一部分。安靜下來，在靈裡遇見神，和神交談，吸取神自己，祂就作你的生命、食糧、力量、亮光、喜樂、安慰，你需要甚麼，祂就是甚麼。</a:t>
            </a:r>
          </a:p>
        </p:txBody>
      </p:sp>
      <p:pic>
        <p:nvPicPr>
          <p:cNvPr id="12" name="Picture 11" descr="忙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C07A1A"/>
                </a:solidFill>
                <a:latin typeface="微軟正黑體"/>
              </a:defRPr>
            </a:pPr>
            <a:r>
              <a:rPr sz="4200" b="1">
                <a:solidFill>
                  <a:srgbClr val="C07A1A"/>
                </a:solidFill>
              </a:rPr>
              <a:t>抉擇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6913"/>
                </a:solidFill>
                <a:latin typeface="微軟正黑體"/>
              </a:defRPr>
            </a:pPr>
            <a:r>
              <a:rPr sz="4200" b="1">
                <a:solidFill>
                  <a:srgbClr val="8A6913"/>
                </a:solidFill>
              </a:rPr>
              <a:t>今天，你願意嗎？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9A3412"/>
                </a:solidFill>
                <a:latin typeface="微軟正黑體"/>
              </a:defRPr>
            </a:pPr>
            <a:r>
              <a:rPr sz="3600"/>
              <a:t>現在就請你安靜下來禱告，接受主耶穌作你上好的福分，不再為生活忙亂。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忙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C07A1A"/>
                </a:solidFill>
                <a:latin typeface="微軟正黑體"/>
              </a:defRPr>
            </a:pPr>
            <a:r>
              <a:rPr sz="4400" b="1">
                <a:solidFill>
                  <a:srgbClr val="C07A1A"/>
                </a:solidFill>
              </a:rPr>
              <a:t>一起禱告 · 講一句，跟一句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6913"/>
                </a:solidFill>
                <a:latin typeface="微軟正黑體"/>
              </a:defRPr>
            </a:pPr>
            <a:r>
              <a:rPr sz="4200" b="1">
                <a:solidFill>
                  <a:srgbClr val="8A6913"/>
                </a:solidFill>
              </a:rPr>
              <a:t>哦，主耶穌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6913"/>
                </a:solidFill>
                <a:latin typeface="微軟正黑體"/>
              </a:defRPr>
            </a:pPr>
            <a:r>
              <a:rPr sz="2800">
                <a:solidFill>
                  <a:srgbClr val="8A6913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哦，主耶穌，我願意相信你。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6913"/>
                </a:solidFill>
                <a:latin typeface="微軟正黑體"/>
              </a:defRPr>
            </a:pPr>
            <a:r>
              <a:rPr sz="2800">
                <a:solidFill>
                  <a:srgbClr val="8A6913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我向你敞開，請你進到我的靈裡，住在我裡面。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6913"/>
                </a:solidFill>
                <a:latin typeface="微軟正黑體"/>
              </a:defRPr>
            </a:pPr>
            <a:r>
              <a:rPr sz="2800">
                <a:solidFill>
                  <a:srgbClr val="8A6913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主阿，我身體疲憊，精神困倦，求你賜我能力，使我雖然忙碌，卻能常與你有交通。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6913"/>
                </a:solidFill>
                <a:latin typeface="微軟正黑體"/>
              </a:defRPr>
            </a:pPr>
            <a:r>
              <a:rPr sz="2800">
                <a:solidFill>
                  <a:srgbClr val="8A6913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主耶穌，使我不為生活忙亂，你來作我的一切，我要得著你作我上好的福分。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9A3412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C07A1A"/>
                </a:solidFill>
                <a:latin typeface="微軟正黑體"/>
              </a:defRPr>
            </a:pPr>
            <a:r>
              <a:rPr sz="4400" b="1">
                <a:solidFill>
                  <a:srgbClr val="C07A1A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6913"/>
                </a:solidFill>
                <a:latin typeface="微軟正黑體"/>
              </a:defRPr>
            </a:pPr>
            <a:r>
              <a:rPr sz="4200" b="1">
                <a:solidFill>
                  <a:srgbClr val="8A6913"/>
                </a:solidFill>
              </a:rPr>
              <a:t>不要讓這個福音停在今天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6913"/>
                </a:solidFill>
                <a:latin typeface="微軟正黑體"/>
              </a:defRPr>
            </a:pPr>
            <a:r>
              <a:rPr sz="31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6913"/>
                </a:solidFill>
                <a:latin typeface="微軟正黑體"/>
              </a:defRPr>
            </a:pPr>
            <a:r>
              <a:rPr sz="31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6913"/>
                </a:solidFill>
                <a:latin typeface="微軟正黑體"/>
              </a:defRPr>
            </a:pPr>
            <a:r>
              <a:rPr sz="3100">
                <a:solidFill>
                  <a:srgbClr val="8A6913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人生的奧祕（二）·福音鑰字「忙」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