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【約0.5分鐘】今天只講一個字——「焦」，設計主題是「風暴中的平靜」。先讓朋友放鬆：給我大約十五分鐘，聽完再一起討論。本篇已按福音需要調整順序：先從生活談起，再回到經文，內容取自原文。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【約1.5分鐘】開場提問：在你我一生當中，究竟要如何才能卸下這些焦慮和憂愁呢？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【約2.2分鐘】焦慮人人都有。投影片上的講解就是原文該段的濃縮，講的時候可以照著說，再展開一兩句自己的見證，不要偏離原文。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【約2.2分鐘】信靠試驗石頭。投影片上的講解就是原文該段的濃縮，講的時候可以照著說，再展開一兩句自己的見證，不要偏離原文。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【約2.2分鐘】一切憂慮卸給神。投影片上的講解就是原文該段的濃縮，講的時候可以照著說，再展開一兩句自己的見證，不要偏離原文。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【約2.2分鐘】禱告得神平安。投影片上的講解就是原文該段的濃縮，講的時候可以照著說，再展開一兩句自己的見證，不要偏離原文。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親愛的朋友，今天你若有難處、痛苦、焦慮，或擔不了的情形，可以簡單對神說，神阿，我將自己交託在你手裡。將凡事交託給神，就有超越人所能理解的平安保衛心懷意念，事實上這平安就是平安的神自己。這就是神平安的福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焦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80" y="1097280"/>
            <a:ext cx="81381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1097280"/>
            <a:ext cx="8138160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7223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5000" b="1">
                <a:solidFill>
                  <a:srgbClr val="187469"/>
                </a:solidFill>
                <a:latin typeface="微軟正黑體"/>
              </a:defRPr>
            </a:pPr>
            <a:r>
              <a:rPr>
                <a:solidFill>
                  <a:srgbClr val="187469"/>
                </a:solidFill>
              </a:rPr>
              <a:t>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749039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600" b="0">
                <a:solidFill>
                  <a:srgbClr val="2B2B2B"/>
                </a:solidFill>
                <a:latin typeface="微軟正黑體"/>
              </a:defRPr>
            </a:pPr>
            <a:r>
              <a:rPr sz="2600"/>
              <a:t>風暴中的平靜 · 人的負面情形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38912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400" b="0">
                <a:solidFill>
                  <a:srgbClr val="5A5A5A"/>
                </a:solidFill>
                <a:latin typeface="微軟正黑體"/>
              </a:defRPr>
            </a:pPr>
            <a:r>
              <a:rPr sz="2400"/>
              <a:t>第 3 個鑰字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FFFFFF"/>
                </a:solidFill>
                <a:latin typeface="微軟正黑體"/>
              </a:defRPr>
            </a:pPr>
            <a:r>
              <a:rPr sz="3800"/>
              <a:t>你有沒有想過……？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187469"/>
                </a:solidFill>
                <a:latin typeface="微軟正黑體"/>
              </a:defRPr>
            </a:pPr>
            <a:r>
              <a:rPr sz="4000" b="1">
                <a:solidFill>
                  <a:srgbClr val="187469"/>
                </a:solidFill>
              </a:rPr>
              <a:t>在你我一生當中，究竟要如何才能卸下這些焦慮和憂愁呢？</a:t>
            </a:r>
          </a:p>
        </p:txBody>
      </p:sp>
      <p:pic>
        <p:nvPicPr>
          <p:cNvPr id="9" name="Picture 8" descr="焦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187469"/>
                </a:solidFill>
                <a:latin typeface="微軟正黑體"/>
              </a:defRPr>
            </a:pPr>
            <a:r>
              <a:rPr sz="4000" b="1">
                <a:solidFill>
                  <a:srgbClr val="187469"/>
                </a:solidFill>
              </a:rPr>
              <a:t>焦慮人人都有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87469"/>
                </a:solidFill>
                <a:latin typeface="微軟正黑體"/>
              </a:defRPr>
            </a:pPr>
            <a:r>
              <a:rPr sz="33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面對壓力，擔心未來事件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87469"/>
                </a:solidFill>
                <a:latin typeface="微軟正黑體"/>
              </a:defRPr>
            </a:pPr>
            <a:r>
              <a:rPr sz="33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真假難辨消息使人心惶惶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87469"/>
                </a:solidFill>
                <a:latin typeface="微軟正黑體"/>
              </a:defRPr>
            </a:pPr>
            <a:r>
              <a:rPr sz="33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嚴重時影響生活與身體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74151"/>
                </a:solidFill>
                <a:latin typeface="微軟正黑體"/>
              </a:defRPr>
            </a:pPr>
            <a:r>
              <a:rPr sz="2400"/>
              <a:t>經文：心裡焦急，如同火燒。（詩一一九139）</a:t>
            </a:r>
          </a:p>
        </p:txBody>
      </p:sp>
      <p:pic>
        <p:nvPicPr>
          <p:cNvPr id="18" name="Picture 17" descr="story_焦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187469"/>
                </a:solidFill>
                <a:latin typeface="微軟正黑體"/>
              </a:defRPr>
            </a:pPr>
            <a:r>
              <a:rPr sz="4000" b="1">
                <a:solidFill>
                  <a:srgbClr val="187469"/>
                </a:solidFill>
              </a:rPr>
              <a:t>信靠試驗石頭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87469"/>
                </a:solidFill>
                <a:latin typeface="微軟正黑體"/>
              </a:defRPr>
            </a:pPr>
            <a:r>
              <a:rPr sz="33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基督受試驗，從未失敗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87469"/>
                </a:solidFill>
                <a:latin typeface="微軟正黑體"/>
              </a:defRPr>
            </a:pPr>
            <a:r>
              <a:rPr sz="33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信靠可靠根基就不著急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87469"/>
                </a:solidFill>
                <a:latin typeface="微軟正黑體"/>
              </a:defRPr>
            </a:pPr>
            <a:r>
              <a:rPr sz="33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著急驚惶是出於魔鬼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74151"/>
                </a:solidFill>
                <a:latin typeface="微軟正黑體"/>
              </a:defRPr>
            </a:pPr>
            <a:r>
              <a:rPr sz="2400"/>
              <a:t>經文：看哪，我在錫安放一塊石頭，作為根基，是試驗過的石頭，是寶貴的房角石，作為穩固的根基；信靠的人必不著急。（賽二八16）</a:t>
            </a:r>
          </a:p>
        </p:txBody>
      </p:sp>
      <p:pic>
        <p:nvPicPr>
          <p:cNvPr id="18" name="Picture 17" descr="story_焦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187469"/>
                </a:solidFill>
                <a:latin typeface="微軟正黑體"/>
              </a:defRPr>
            </a:pPr>
            <a:r>
              <a:rPr sz="4000" b="1">
                <a:solidFill>
                  <a:srgbClr val="187469"/>
                </a:solidFill>
              </a:rPr>
              <a:t>一切憂慮卸給神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87469"/>
                </a:solidFill>
                <a:latin typeface="微軟正黑體"/>
              </a:defRPr>
            </a:pPr>
            <a:r>
              <a:rPr sz="33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卸就是拋給神交託給神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87469"/>
                </a:solidFill>
                <a:latin typeface="微軟正黑體"/>
              </a:defRPr>
            </a:pPr>
            <a:r>
              <a:rPr sz="33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一生全部憂慮都該卸下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87469"/>
                </a:solidFill>
                <a:latin typeface="微軟正黑體"/>
              </a:defRPr>
            </a:pPr>
            <a:r>
              <a:rPr sz="33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拿回來了，就再卸給祂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74151"/>
                </a:solidFill>
                <a:latin typeface="微軟正黑體"/>
              </a:defRPr>
            </a:pPr>
            <a:r>
              <a:rPr sz="2400"/>
              <a:t>經文：你們要將一切的憂慮卸給神，因為祂顧念你們。（彼前五7）</a:t>
            </a:r>
          </a:p>
        </p:txBody>
      </p:sp>
      <p:pic>
        <p:nvPicPr>
          <p:cNvPr id="18" name="Picture 17" descr="story_焦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187469"/>
                </a:solidFill>
                <a:latin typeface="微軟正黑體"/>
              </a:defRPr>
            </a:pPr>
            <a:r>
              <a:rPr sz="4000" b="1">
                <a:solidFill>
                  <a:srgbClr val="187469"/>
                </a:solidFill>
              </a:rPr>
              <a:t>禱告得神平安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87469"/>
                </a:solidFill>
                <a:latin typeface="微軟正黑體"/>
              </a:defRPr>
            </a:pPr>
            <a:r>
              <a:rPr sz="33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凡事告訴神，帶著感謝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87469"/>
                </a:solidFill>
                <a:latin typeface="微軟正黑體"/>
              </a:defRPr>
            </a:pPr>
            <a:r>
              <a:rPr sz="33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神平安像兵士把守城池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87469"/>
                </a:solidFill>
                <a:latin typeface="微軟正黑體"/>
              </a:defRPr>
            </a:pPr>
            <a:r>
              <a:rPr sz="33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保衛心懷，憂愁不得入侵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74151"/>
                </a:solidFill>
                <a:latin typeface="微軟正黑體"/>
              </a:defRPr>
            </a:pPr>
            <a:r>
              <a:rPr sz="2400"/>
              <a:t>經文：主是近的。應當一無罣慮，只要凡事藉著禱告、祈求，帶著感謝，將你們所要的告訴神。（腓四5下-6）</a:t>
            </a:r>
          </a:p>
        </p:txBody>
      </p:sp>
      <p:pic>
        <p:nvPicPr>
          <p:cNvPr id="18" name="Picture 17" descr="story_焦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187469"/>
                </a:solidFill>
                <a:latin typeface="微軟正黑體"/>
              </a:defRPr>
            </a:pPr>
            <a:r>
              <a:rPr sz="1800">
                <a:solidFill>
                  <a:srgbClr val="187469"/>
                </a:solidFill>
              </a:rPr>
              <a:t>回到經文 · 本篇一覽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187469"/>
                </a:solidFill>
                <a:latin typeface="微軟正黑體"/>
              </a:defRPr>
            </a:pPr>
            <a:r>
              <a:rPr sz="4200" b="1">
                <a:solidFill>
                  <a:srgbClr val="187469"/>
                </a:solidFill>
              </a:rPr>
              <a:t>「焦」的鑰字經文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A. 心裡焦急，如同火燒。（詩一一九139）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B. 不要為飲食和穿著的欲望和嗜好憂慮。（太六25註1）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C. 誰能因憂慮使自己的壽數多加一肘？（太六27下，註1）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D. 主是近的，應當一無掛慮，只要凡事藉著禱告、祈求，帶著感謝，將你們所要的告訴神。憂慮來自撒但，是人生活的總和，攪擾信徒活基督的生活。（腓四5下-6，6註1）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374151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187469"/>
                </a:solidFill>
                <a:latin typeface="微軟正黑體"/>
              </a:defRPr>
            </a:pPr>
            <a:r>
              <a:rPr sz="2000">
                <a:solidFill>
                  <a:srgbClr val="187469"/>
                </a:solidFill>
              </a:rPr>
              <a:t>福音的答案 · 風暴中的平靜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187469"/>
                </a:solidFill>
                <a:latin typeface="微軟正黑體"/>
              </a:defRPr>
            </a:pPr>
            <a:r>
              <a:rPr sz="4600" b="1">
                <a:solidFill>
                  <a:srgbClr val="187469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87469"/>
                </a:solidFill>
                <a:latin typeface="微軟正黑體"/>
              </a:defRPr>
            </a:pPr>
            <a:r>
              <a:rPr sz="33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信靠基督穩固根基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87469"/>
                </a:solidFill>
                <a:latin typeface="微軟正黑體"/>
              </a:defRPr>
            </a:pPr>
            <a:r>
              <a:rPr sz="33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將憂慮一生卸給神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187469"/>
                </a:solidFill>
                <a:latin typeface="微軟正黑體"/>
              </a:defRPr>
            </a:pPr>
            <a:r>
              <a:rPr sz="33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神平安保衛你心懷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282828"/>
                </a:solidFill>
                <a:latin typeface="微軟正黑體"/>
              </a:defRPr>
            </a:pPr>
            <a:r>
              <a:rPr sz="2400">
                <a:solidFill>
                  <a:srgbClr val="282828"/>
                </a:solidFill>
              </a:rPr>
              <a:t>親愛的朋友，今天你若有難處、痛苦、焦慮，或擔不了的情形，可以簡單對神說，神阿，我將自己交託在你手裡。將凡事交託給神，就有超越人所能理解的平安保衛心懷意念，事實上這平安就是平安的神自己。這就是神平安的福音。</a:t>
            </a:r>
          </a:p>
        </p:txBody>
      </p:sp>
      <p:pic>
        <p:nvPicPr>
          <p:cNvPr id="12" name="Picture 11" descr="焦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187469"/>
                </a:solidFill>
                <a:latin typeface="微軟正黑體"/>
              </a:defRPr>
            </a:pPr>
            <a:r>
              <a:rPr sz="1800">
                <a:solidFill>
                  <a:srgbClr val="187469"/>
                </a:solidFill>
              </a:rPr>
              <a:t>抉擇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187469"/>
                </a:solidFill>
                <a:latin typeface="微軟正黑體"/>
              </a:defRPr>
            </a:pPr>
            <a:r>
              <a:rPr sz="4200" b="1">
                <a:solidFill>
                  <a:srgbClr val="187469"/>
                </a:solidFill>
              </a:rPr>
              <a:t>今天，你願意嗎？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374151"/>
                </a:solidFill>
                <a:latin typeface="微軟正黑體"/>
              </a:defRPr>
            </a:pPr>
            <a:r>
              <a:rPr sz="3600"/>
              <a:t>今天你若有焦慮，可以簡單的對神說：神阿，我將自己交託在你手裡。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9" name="Picture 8" descr="焦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187469"/>
                </a:solidFill>
                <a:latin typeface="微軟正黑體"/>
              </a:defRPr>
            </a:pPr>
            <a:r>
              <a:rPr sz="1800">
                <a:solidFill>
                  <a:srgbClr val="187469"/>
                </a:solidFill>
              </a:rPr>
              <a:t>一起禱告 · 講一句，跟一句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187469"/>
                </a:solidFill>
                <a:latin typeface="微軟正黑體"/>
              </a:defRPr>
            </a:pPr>
            <a:r>
              <a:rPr sz="4200" b="1">
                <a:solidFill>
                  <a:srgbClr val="187469"/>
                </a:solidFill>
              </a:rPr>
              <a:t>哦，主耶穌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87469"/>
                </a:solidFill>
                <a:latin typeface="微軟正黑體"/>
              </a:defRPr>
            </a:pPr>
            <a:r>
              <a:rPr sz="2800">
                <a:solidFill>
                  <a:srgbClr val="187469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主阿，赦免我把這憂慮從你拿回來。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87469"/>
                </a:solidFill>
                <a:latin typeface="微軟正黑體"/>
              </a:defRPr>
            </a:pPr>
            <a:r>
              <a:rPr sz="2800">
                <a:solidFill>
                  <a:srgbClr val="187469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我要再一次將憂慮卸給你，不只今天，也將未來的憂慮交給你。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87469"/>
                </a:solidFill>
                <a:latin typeface="微軟正黑體"/>
              </a:defRPr>
            </a:pPr>
            <a:r>
              <a:rPr sz="2800">
                <a:solidFill>
                  <a:srgbClr val="187469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主是近的，我將所要的藉著禱告、祈求，帶著感謝告訴你。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87469"/>
                </a:solidFill>
                <a:latin typeface="微軟正黑體"/>
              </a:defRPr>
            </a:pPr>
            <a:r>
              <a:rPr sz="2800">
                <a:solidFill>
                  <a:srgbClr val="187469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求你超越人所能理解的平安，在基督耶穌裡保衛我的心懷意念。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74151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187469"/>
                </a:solidFill>
                <a:latin typeface="微軟正黑體"/>
              </a:defRPr>
            </a:pPr>
            <a:r>
              <a:rPr sz="1800">
                <a:solidFill>
                  <a:srgbClr val="187469"/>
                </a:solidFill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187469"/>
                </a:solidFill>
                <a:latin typeface="微軟正黑體"/>
              </a:defRPr>
            </a:pPr>
            <a:r>
              <a:rPr sz="4200" b="1">
                <a:solidFill>
                  <a:srgbClr val="187469"/>
                </a:solidFill>
              </a:rPr>
              <a:t>不要讓這個福音停在今天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187469"/>
                </a:solidFill>
                <a:latin typeface="微軟正黑體"/>
              </a:defRPr>
            </a:pPr>
            <a:r>
              <a:rPr sz="31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187469"/>
                </a:solidFill>
                <a:latin typeface="微軟正黑體"/>
              </a:defRPr>
            </a:pPr>
            <a:r>
              <a:rPr sz="31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187469"/>
                </a:solidFill>
                <a:latin typeface="微軟正黑體"/>
              </a:defRPr>
            </a:pPr>
            <a:r>
              <a:rPr sz="3100">
                <a:solidFill>
                  <a:srgbClr val="187469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人生的奧祕（二）·福音鑰字「焦」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