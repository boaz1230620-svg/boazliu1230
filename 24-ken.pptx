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【約0.5分鐘】今天只講一個字——「肯」，設計主題是「肯接受的禮物」。先讓朋友放鬆：給我大約十五分鐘，聽完再一起討論。本篇已按福音需要調整順序：先從生活談起，再回到經文，內容取自原文。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【約1.5分鐘】開場提問：得救到底難不難，要怎樣才能得着救主？ 讓朋友先說兩句，建立關係，不要急著辯論，也不要一開始就先背經文。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【約3.0分鐘】肯白白赴筵席。投影片上的講解就是原文該段的濃縮，講的時候可以照著說，再展開一兩句自己的見證，不要偏離原文。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【約3.0分鐘】肯用靈認罪。投影片上的講解就是原文該段的濃縮，講的時候可以照著說，再展開一兩句自己的見證，不要偏離原文。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【約3.0分鐘】肯放下理由接受。投影片上的講解就是原文該段的濃縮，講的時候可以照著說，再展開一兩句自己的見證，不要偏離原文。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【約1分鐘】講完生活與信息後，再把本篇篇首的鑰字經文讀一遍，幫助朋友把剛才聽到的信息對回經文上。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原文結尾說：耶穌是神來作人，已死在十字架上流寶血贖罪，又復活進到人裡面作生命；只要用靈和真實接受，在禱告中透徹認罪，主就會進來，人就得着救恩。如今祂成為那靈，無所不在，能進到我們裡面感動我們，分賜生命，叫我們有大能勝過各種罪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【約0.5分鐘】直接、溫和地問，不要強逼。朋友若有問題，記下來，講完禱告後再回答。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【約1分鐘】邀請朋友開口跟著禱告，一句一句慢慢來。只要他願意開口呼求主名，就恭喜他得救了，並立刻約定下一次見面。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【約0.5分鐘】結尾：留下手機或 Line，立刻邀請到小排或下次福音聚會。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600" b="0">
                <a:solidFill>
                  <a:srgbClr val="883E3E"/>
                </a:solidFill>
                <a:latin typeface="微軟正黑體"/>
              </a:defRPr>
            </a:pPr>
            <a:r>
              <a:rPr sz="2600">
                <a:solidFill>
                  <a:srgbClr val="883E3E"/>
                </a:solidFill>
              </a:rPr>
              <a:t>肯接受的禮物 · 人應有的態度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3291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6000" b="1">
                <a:solidFill>
                  <a:srgbClr val="883E3E"/>
                </a:solidFill>
                <a:latin typeface="微軟正黑體"/>
              </a:defRPr>
            </a:pPr>
            <a:r>
              <a:rPr>
                <a:solidFill>
                  <a:srgbClr val="883E3E"/>
                </a:solidFill>
              </a:rPr>
              <a:t>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18288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200" b="1">
                <a:solidFill>
                  <a:srgbClr val="883E3E"/>
                </a:solidFill>
                <a:latin typeface="微軟正黑體"/>
              </a:defRPr>
            </a:pPr>
            <a:r>
              <a:rPr sz="3200">
                <a:solidFill>
                  <a:srgbClr val="883E3E"/>
                </a:solidFill>
              </a:rPr>
              <a:t>第 24 個鑰字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4688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600" b="0">
                <a:solidFill>
                  <a:srgbClr val="883E3E"/>
                </a:solidFill>
                <a:latin typeface="微軟正黑體"/>
              </a:defRPr>
            </a:pPr>
            <a:r>
              <a:rPr sz="2600">
                <a:solidFill>
                  <a:srgbClr val="883E3E"/>
                </a:solidFill>
              </a:rPr>
              <a:t>一個字，一個福音信息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407408"/>
            <a:ext cx="12188952" cy="7315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肯_botto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80560"/>
            <a:ext cx="12188952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A2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800" b="1">
                <a:solidFill>
                  <a:srgbClr val="5A2414"/>
                </a:solidFill>
                <a:latin typeface="微軟正黑體"/>
              </a:defRPr>
            </a:pPr>
            <a:r>
              <a:rPr sz="3800"/>
              <a:t>你有沒有想過……？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54864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7132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4000" b="1">
                <a:solidFill>
                  <a:srgbClr val="883E3E"/>
                </a:solidFill>
                <a:latin typeface="微軟正黑體"/>
              </a:defRPr>
            </a:pPr>
            <a:r>
              <a:rPr sz="4000" b="1">
                <a:solidFill>
                  <a:srgbClr val="883E3E"/>
                </a:solidFill>
              </a:rPr>
              <a:t>得救到底難不難，要怎樣才能得着救主？</a:t>
            </a:r>
          </a:p>
        </p:txBody>
      </p:sp>
      <p:pic>
        <p:nvPicPr>
          <p:cNvPr id="9" name="Picture 8" descr="肯_sid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55448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A2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883E3E"/>
                </a:solidFill>
                <a:latin typeface="微軟正黑體"/>
              </a:defRPr>
            </a:pPr>
            <a:r>
              <a:rPr sz="4000" b="1">
                <a:solidFill>
                  <a:srgbClr val="883E3E"/>
                </a:solidFill>
              </a:rPr>
              <a:t>肯白白赴筵席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54864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83E3E"/>
                </a:solidFill>
                <a:latin typeface="微軟正黑體"/>
              </a:defRPr>
            </a:pPr>
            <a:r>
              <a:rPr sz="3300">
                <a:solidFill>
                  <a:srgbClr val="883E3E"/>
                </a:solidFill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救恩各樣都已經齊備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83E3E"/>
                </a:solidFill>
                <a:latin typeface="微軟正黑體"/>
              </a:defRPr>
            </a:pPr>
            <a:r>
              <a:rPr sz="3300">
                <a:solidFill>
                  <a:srgbClr val="883E3E"/>
                </a:solidFill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不必豫備酬金或禮物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83E3E"/>
                </a:solidFill>
                <a:latin typeface="微軟正黑體"/>
              </a:defRPr>
            </a:pPr>
            <a:r>
              <a:rPr sz="3300">
                <a:solidFill>
                  <a:srgbClr val="883E3E"/>
                </a:solidFill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兩手空空來吃來喝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5A2414"/>
                </a:solidFill>
                <a:latin typeface="微軟正黑體"/>
              </a:defRPr>
            </a:pPr>
            <a:r>
              <a:rPr sz="2400"/>
              <a:t>經文：「願意的都可以白白取生命的水喝。」（啟二二17）</a:t>
            </a:r>
          </a:p>
        </p:txBody>
      </p:sp>
      <p:pic>
        <p:nvPicPr>
          <p:cNvPr id="18" name="Picture 17" descr="story_肯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A2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883E3E"/>
                </a:solidFill>
                <a:latin typeface="微軟正黑體"/>
              </a:defRPr>
            </a:pPr>
            <a:r>
              <a:rPr sz="4000" b="1">
                <a:solidFill>
                  <a:srgbClr val="883E3E"/>
                </a:solidFill>
              </a:rPr>
              <a:t>肯用靈認罪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54864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83E3E"/>
                </a:solidFill>
                <a:latin typeface="微軟正黑體"/>
              </a:defRPr>
            </a:pPr>
            <a:r>
              <a:rPr sz="3300">
                <a:solidFill>
                  <a:srgbClr val="883E3E"/>
                </a:solidFill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用靈不用耳目頭腦接觸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83E3E"/>
                </a:solidFill>
                <a:latin typeface="微軟正黑體"/>
              </a:defRPr>
            </a:pPr>
            <a:r>
              <a:rPr sz="3300">
                <a:solidFill>
                  <a:srgbClr val="883E3E"/>
                </a:solidFill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隨感覺一件件承認出來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83E3E"/>
                </a:solidFill>
                <a:latin typeface="微軟正黑體"/>
              </a:defRPr>
            </a:pPr>
            <a:r>
              <a:rPr sz="3300">
                <a:solidFill>
                  <a:srgbClr val="883E3E"/>
                </a:solidFill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越認擔子越輕越明亮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5A2414"/>
                </a:solidFill>
                <a:latin typeface="微軟正黑體"/>
              </a:defRPr>
            </a:pPr>
            <a:r>
              <a:rPr sz="2400"/>
              <a:t>經文：「我們若認自己的罪，神是信實的，是公義的，必要赦免我們的罪，洗淨我們一切的不義。」（約壹一9）</a:t>
            </a:r>
          </a:p>
        </p:txBody>
      </p:sp>
      <p:pic>
        <p:nvPicPr>
          <p:cNvPr id="18" name="Picture 17" descr="story_肯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A2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883E3E"/>
                </a:solidFill>
                <a:latin typeface="微軟正黑體"/>
              </a:defRPr>
            </a:pPr>
            <a:r>
              <a:rPr sz="4000" b="1">
                <a:solidFill>
                  <a:srgbClr val="883E3E"/>
                </a:solidFill>
              </a:rPr>
              <a:t>肯放下理由接受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54864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83E3E"/>
                </a:solidFill>
                <a:latin typeface="微軟正黑體"/>
              </a:defRPr>
            </a:pPr>
            <a:r>
              <a:rPr sz="3300">
                <a:solidFill>
                  <a:srgbClr val="883E3E"/>
                </a:solidFill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不必等改好明白才來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83E3E"/>
                </a:solidFill>
                <a:latin typeface="微軟正黑體"/>
              </a:defRPr>
            </a:pPr>
            <a:r>
              <a:rPr sz="3300">
                <a:solidFill>
                  <a:srgbClr val="883E3E"/>
                </a:solidFill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疑難學問暫時擺一邊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83E3E"/>
                </a:solidFill>
                <a:latin typeface="微軟正黑體"/>
              </a:defRPr>
            </a:pPr>
            <a:r>
              <a:rPr sz="3300">
                <a:solidFill>
                  <a:srgbClr val="883E3E"/>
                </a:solidFill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現在聽見就能簡單得救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5A2414"/>
                </a:solidFill>
                <a:latin typeface="微軟正黑體"/>
              </a:defRPr>
            </a:pPr>
            <a:r>
              <a:rPr sz="2400"/>
              <a:t>經文：「我的筵席已經豫備好了，公牛和肥畜已經宰了，各樣都齊備，請來赴婚筵。」（太二二4）</a:t>
            </a:r>
          </a:p>
        </p:txBody>
      </p:sp>
      <p:pic>
        <p:nvPicPr>
          <p:cNvPr id="18" name="Picture 17" descr="story_肯_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A2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883E3E"/>
                </a:solidFill>
                <a:latin typeface="微軟正黑體"/>
              </a:defRPr>
            </a:pPr>
            <a:r>
              <a:rPr sz="1800" b="1">
                <a:solidFill>
                  <a:srgbClr val="883E3E"/>
                </a:solidFill>
              </a:rPr>
              <a:t>回到經文 · 本篇一覽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883E3E"/>
                </a:solidFill>
                <a:latin typeface="微軟正黑體"/>
              </a:defRPr>
            </a:pPr>
            <a:r>
              <a:rPr sz="4200" b="1">
                <a:solidFill>
                  <a:srgbClr val="883E3E"/>
                </a:solidFill>
              </a:rPr>
              <a:t>「肯」的鑰字經文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54864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200" b="0">
                <a:solidFill>
                  <a:srgbClr val="2B2B2B"/>
                </a:solidFill>
                <a:latin typeface="微軟正黑體"/>
              </a:defRPr>
            </a:pPr>
            <a:r>
              <a:rPr sz="2200"/>
              <a:t>啟二二17：願意的都可以白白取生命的水喝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200" b="0">
                <a:solidFill>
                  <a:srgbClr val="2B2B2B"/>
                </a:solidFill>
                <a:latin typeface="微軟正黑體"/>
              </a:defRPr>
            </a:pPr>
            <a:r>
              <a:rPr sz="2200"/>
              <a:t>約壹一9：我們若認自己的罪，神必要赦免，洗淨一切不義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546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200" b="0">
                <a:solidFill>
                  <a:srgbClr val="2B2B2B"/>
                </a:solidFill>
                <a:latin typeface="微軟正黑體"/>
              </a:defRPr>
            </a:pPr>
            <a:r>
              <a:rPr sz="2200"/>
              <a:t>林後八12：人若熱切願做，必蒙悅納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23359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200" b="0">
                <a:solidFill>
                  <a:srgbClr val="2B2B2B"/>
                </a:solidFill>
                <a:latin typeface="微軟正黑體"/>
              </a:defRPr>
            </a:pPr>
            <a:r>
              <a:rPr sz="2200"/>
              <a:t>太二二4：筵席已經豫備好了，各樣都齊備，請來赴婚筵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9204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200" b="0">
                <a:solidFill>
                  <a:srgbClr val="2B2B2B"/>
                </a:solidFill>
                <a:latin typeface="微軟正黑體"/>
              </a:defRPr>
            </a:pPr>
            <a:r>
              <a:rPr sz="2200"/>
              <a:t>詩八四5：因你有力量，心中想往錫安大道的，這人便為有福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000" b="1">
                <a:solidFill>
                  <a:srgbClr val="5A2414"/>
                </a:solidFill>
                <a:latin typeface="微軟正黑體"/>
              </a:defRPr>
            </a:pPr>
            <a:r>
              <a:rPr sz="2000"/>
              <a:t>這些經文，就是剛才信息的根據。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000" b="1">
                <a:solidFill>
                  <a:srgbClr val="883E3E"/>
                </a:solidFill>
                <a:latin typeface="微軟正黑體"/>
              </a:defRPr>
            </a:pPr>
            <a:r>
              <a:rPr sz="2000">
                <a:solidFill>
                  <a:srgbClr val="883E3E"/>
                </a:solidFill>
              </a:rPr>
              <a:t>福音的答案 · 肯接受的禮物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600" b="1">
                <a:solidFill>
                  <a:srgbClr val="883E3E"/>
                </a:solidFill>
                <a:latin typeface="微軟正黑體"/>
              </a:defRPr>
            </a:pPr>
            <a:r>
              <a:rPr sz="4600" b="1">
                <a:solidFill>
                  <a:srgbClr val="883E3E"/>
                </a:solidFill>
              </a:rPr>
              <a:t>福音的答案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83080"/>
            <a:ext cx="10698480" cy="54864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83E3E"/>
                </a:solidFill>
                <a:latin typeface="微軟正黑體"/>
              </a:defRPr>
            </a:pPr>
            <a:r>
              <a:rPr sz="3300">
                <a:solidFill>
                  <a:srgbClr val="883E3E"/>
                </a:solidFill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19456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883E3E"/>
                </a:solidFill>
                <a:latin typeface="微軟正黑體"/>
              </a:defRPr>
            </a:pPr>
            <a:r>
              <a:rPr sz="3300">
                <a:solidFill>
                  <a:srgbClr val="883E3E"/>
                </a:solidFill>
              </a:rPr>
              <a:t>一切得救的事主都作成了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83E3E"/>
                </a:solidFill>
                <a:latin typeface="微軟正黑體"/>
              </a:defRPr>
            </a:pPr>
            <a:r>
              <a:rPr sz="3300">
                <a:solidFill>
                  <a:srgbClr val="883E3E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92608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883E3E"/>
                </a:solidFill>
                <a:latin typeface="微軟正黑體"/>
              </a:defRPr>
            </a:pPr>
            <a:r>
              <a:rPr sz="3300">
                <a:solidFill>
                  <a:srgbClr val="883E3E"/>
                </a:solidFill>
              </a:rPr>
              <a:t>你不必掙扎再試別的方法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83E3E"/>
                </a:solidFill>
                <a:latin typeface="微軟正黑體"/>
              </a:defRPr>
            </a:pPr>
            <a:r>
              <a:rPr sz="3300">
                <a:solidFill>
                  <a:srgbClr val="883E3E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65760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883E3E"/>
                </a:solidFill>
                <a:latin typeface="微軟正黑體"/>
              </a:defRPr>
            </a:pPr>
            <a:r>
              <a:rPr sz="3300">
                <a:solidFill>
                  <a:srgbClr val="883E3E"/>
                </a:solidFill>
              </a:rPr>
              <a:t>只要肯簡單地接受就得着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6858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2400" b="0">
                <a:solidFill>
                  <a:srgbClr val="883E3E"/>
                </a:solidFill>
                <a:latin typeface="微軟正黑體"/>
              </a:defRPr>
            </a:pPr>
            <a:r>
              <a:rPr sz="2400">
                <a:solidFill>
                  <a:srgbClr val="883E3E"/>
                </a:solidFill>
              </a:rPr>
              <a:t>原文結尾說：耶穌是神來作人，已死在十字架上流寶血贖罪，又復活進到人裡面作生命；只要用靈和真實接受，在禱告中透徹認罪，主就會進來，人就得着救恩。如今祂成為那靈，無所不在，能進到我們裡面感動我們，分賜生命，叫我們有大能勝過各種罪惡。</a:t>
            </a:r>
          </a:p>
        </p:txBody>
      </p:sp>
      <p:pic>
        <p:nvPicPr>
          <p:cNvPr id="12" name="Picture 11" descr="肯_sid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19456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A2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883E3E"/>
                </a:solidFill>
                <a:latin typeface="微軟正黑體"/>
              </a:defRPr>
            </a:pPr>
            <a:r>
              <a:rPr sz="4200" b="1">
                <a:solidFill>
                  <a:srgbClr val="883E3E"/>
                </a:solidFill>
              </a:rPr>
              <a:t>抉擇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883E3E"/>
                </a:solidFill>
                <a:latin typeface="微軟正黑體"/>
              </a:defRPr>
            </a:pPr>
            <a:r>
              <a:rPr sz="4200" b="1">
                <a:solidFill>
                  <a:srgbClr val="883E3E"/>
                </a:solidFill>
              </a:rPr>
              <a:t>今天，你願意嗎？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54864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7132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3600" b="1">
                <a:solidFill>
                  <a:srgbClr val="5A2414"/>
                </a:solidFill>
                <a:latin typeface="微軟正黑體"/>
              </a:defRPr>
            </a:pPr>
            <a:r>
              <a:rPr sz="3600"/>
              <a:t>你只要願意來吃、來喝、來接受就好。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600" b="0">
                <a:solidFill>
                  <a:srgbClr val="5A5A5A"/>
                </a:solidFill>
                <a:latin typeface="微軟正黑體"/>
              </a:defRPr>
            </a:pPr>
            <a:r>
              <a:rPr sz="2600"/>
              <a:t>不需要先作好、改好，只要現在作一個決定。</a:t>
            </a:r>
          </a:p>
        </p:txBody>
      </p:sp>
      <p:pic>
        <p:nvPicPr>
          <p:cNvPr id="9" name="Picture 8" descr="肯_sid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55448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A2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400" b="1">
                <a:solidFill>
                  <a:srgbClr val="883E3E"/>
                </a:solidFill>
                <a:latin typeface="微軟正黑體"/>
              </a:defRPr>
            </a:pPr>
            <a:r>
              <a:rPr sz="4400" b="1">
                <a:solidFill>
                  <a:srgbClr val="883E3E"/>
                </a:solidFill>
              </a:rPr>
              <a:t>一起禱告 · 講一句，跟一句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883E3E"/>
                </a:solidFill>
                <a:latin typeface="微軟正黑體"/>
              </a:defRPr>
            </a:pPr>
            <a:r>
              <a:rPr sz="4200" b="1">
                <a:solidFill>
                  <a:srgbClr val="883E3E"/>
                </a:solidFill>
              </a:rPr>
              <a:t>哦，主耶穌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54864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883E3E"/>
                </a:solidFill>
                <a:latin typeface="微軟正黑體"/>
              </a:defRPr>
            </a:pPr>
            <a:r>
              <a:rPr sz="2800">
                <a:solidFill>
                  <a:srgbClr val="883E3E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463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主耶穌，我肯白白來吃來喝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883E3E"/>
                </a:solidFill>
                <a:latin typeface="微軟正黑體"/>
              </a:defRPr>
            </a:pPr>
            <a:r>
              <a:rPr sz="2800">
                <a:solidFill>
                  <a:srgbClr val="883E3E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2860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主耶穌，我肯用靈接受你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883E3E"/>
                </a:solidFill>
                <a:latin typeface="微軟正黑體"/>
              </a:defRPr>
            </a:pPr>
            <a:r>
              <a:rPr sz="2800">
                <a:solidFill>
                  <a:srgbClr val="883E3E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108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主耶穌，我願意一件件向你認罪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31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883E3E"/>
                </a:solidFill>
                <a:latin typeface="微軟正黑體"/>
              </a:defRPr>
            </a:pPr>
            <a:r>
              <a:rPr sz="2800">
                <a:solidFill>
                  <a:srgbClr val="883E3E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931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主耶穌，求你進來作我的救主和生命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5A2414"/>
                </a:solidFill>
                <a:latin typeface="微軟正黑體"/>
              </a:defRPr>
            </a:pPr>
            <a:r>
              <a:rPr sz="2400"/>
              <a:t>凡心裡相信，口裡承認，呼求主名的，就必得救。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A2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400" b="1">
                <a:solidFill>
                  <a:srgbClr val="883E3E"/>
                </a:solidFill>
                <a:latin typeface="微軟正黑體"/>
              </a:defRPr>
            </a:pPr>
            <a:r>
              <a:rPr sz="4400" b="1">
                <a:solidFill>
                  <a:srgbClr val="883E3E"/>
                </a:solidFill>
              </a:rPr>
              <a:t>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883E3E"/>
                </a:solidFill>
                <a:latin typeface="微軟正黑體"/>
              </a:defRPr>
            </a:pPr>
            <a:r>
              <a:rPr sz="4200" b="1">
                <a:solidFill>
                  <a:srgbClr val="883E3E"/>
                </a:solidFill>
              </a:rPr>
              <a:t>不要讓這個福音停在今天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8800" cy="54864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883E3E"/>
                </a:solidFill>
                <a:latin typeface="微軟正黑體"/>
              </a:defRPr>
            </a:pPr>
            <a:r>
              <a:rPr sz="3100">
                <a:solidFill>
                  <a:srgbClr val="883E3E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554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留下聯絡方式，約定下次見面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883E3E"/>
                </a:solidFill>
                <a:latin typeface="微軟正黑體"/>
              </a:defRPr>
            </a:pPr>
            <a:r>
              <a:rPr sz="3100">
                <a:solidFill>
                  <a:srgbClr val="883E3E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331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邀請參加小排或福音聚會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883E3E"/>
                </a:solidFill>
                <a:latin typeface="微軟正黑體"/>
              </a:defRPr>
            </a:pPr>
            <a:r>
              <a:rPr sz="3100">
                <a:solidFill>
                  <a:srgbClr val="883E3E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1089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每天花一點時間呼求主名、讀經禱告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06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000" b="0">
                <a:solidFill>
                  <a:srgbClr val="5A5A5A"/>
                </a:solidFill>
                <a:latin typeface="微軟正黑體"/>
              </a:defRPr>
            </a:pPr>
            <a:r>
              <a:rPr sz="2000"/>
              <a:t>基督是福音的負擔，第十二篇。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人生的奧祕（二）·福音鑰字「肯」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