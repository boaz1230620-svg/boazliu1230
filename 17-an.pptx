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【約0.5分鐘】今天只講一個字——「安」，設計主題是「平靜的湖面」。先讓朋友放鬆：給我大約十五分鐘，聽完再一起討論。本篇已按福音需要調整順序：先從生活談起，再回到經文，內容取自原文。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【約1.5分鐘】開場提問：天災人禍不斷，人心惶惶，內心恐慌更是傷人，人們該當如何面對此等人生困境？ 讓朋友先說兩句，建立關係，不要急著辯論，也不要一開始就先背經文。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【約2.2分鐘】主賜平安不改變。投影片上的講解就是原文該段的濃縮，講的時候可以照著說，再展開一兩句自己的見證，不要偏離原文。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【約2.2分鐘】在主裡面有平安。投影片上的講解就是原文該段的濃縮，講的時候可以照著說，再展開一兩句自己的見證，不要偏離原文。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【約2.2分鐘】祂自己是和平。投影片上的講解就是原文該段的濃縮，講的時候可以照著說，再展開一兩句自己的見證，不要偏離原文。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【約2.2分鐘】接主上船一無罣慮。投影片上的講解就是原文該段的濃縮，講的時候可以照著說，再展開一兩句自己的見證，不要偏離原文。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【約1分鐘】講完生活與信息後，再把本篇篇首的鑰字經文讀一遍，幫助朋友把剛才聽到的信息對回經文上。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分鐘】平安不是環境無事，而是裏面的主耶穌自己。祂已勝了世界，廢除了掌死權的魔鬼，拆毀了隔斷的牆。只要把主接到人生的船上，凡事藉著禱告告訴神，神的平安就要像兵士把守城池那樣保衛我們的心，使我們在風波中平安經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【約0.5分鐘】直接、溫和地問，不要強逼。朋友若有問題，記下來，講完禱告後再回答。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【約1分鐘】邀請朋友開口跟著禱告，一句一句慢慢來。只要他願意開口呼求主名，就恭喜他得救了，並立刻約定下一次見面。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【約0.5分鐘】結尾：留下手機或 Line，立刻邀請到小排或下次福音聚會。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D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安_bann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2743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2743200"/>
            <a:ext cx="12188952" cy="73152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5000" b="1">
                <a:solidFill>
                  <a:srgbClr val="44748A"/>
                </a:solidFill>
                <a:latin typeface="微軟正黑體"/>
              </a:defRPr>
            </a:pPr>
            <a:r>
              <a:rPr>
                <a:solidFill>
                  <a:srgbClr val="44748A"/>
                </a:solidFill>
              </a:rPr>
              <a:t>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402336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800" b="0">
                <a:solidFill>
                  <a:srgbClr val="0C4A6E"/>
                </a:solidFill>
                <a:latin typeface="微軟正黑體"/>
              </a:defRPr>
            </a:pPr>
            <a:r>
              <a:rPr sz="2800">
                <a:solidFill>
                  <a:srgbClr val="0C4A6E"/>
                </a:solidFill>
              </a:rPr>
              <a:t>神給人的恩典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466344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0">
                <a:solidFill>
                  <a:srgbClr val="0C4A6E"/>
                </a:solidFill>
                <a:latin typeface="微軟正黑體"/>
              </a:defRPr>
            </a:pPr>
            <a:r>
              <a:rPr sz="2400">
                <a:solidFill>
                  <a:srgbClr val="0C4A6E"/>
                </a:solidFill>
              </a:rPr>
              <a:t>第 17 個鑰字 · 一個字，一個福音信息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800" b="1">
                <a:solidFill>
                  <a:srgbClr val="44748A"/>
                </a:solidFill>
                <a:latin typeface="微軟正黑體"/>
              </a:defRPr>
            </a:pPr>
            <a:r>
              <a:rPr sz="3800" b="1">
                <a:solidFill>
                  <a:srgbClr val="44748A"/>
                </a:solidFill>
              </a:rPr>
              <a:t>你有沒有想過……？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0" y="1188720"/>
            <a:ext cx="1371600" cy="54864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7132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4000" b="1">
                <a:solidFill>
                  <a:srgbClr val="44748A"/>
                </a:solidFill>
                <a:latin typeface="微軟正黑體"/>
              </a:defRPr>
            </a:pPr>
            <a:r>
              <a:rPr sz="4000" b="1">
                <a:solidFill>
                  <a:srgbClr val="44748A"/>
                </a:solidFill>
              </a:rPr>
              <a:t>天災人禍不斷，人心惶惶，內心恐慌更是傷人，人們該當如何面對此等人生困境？</a:t>
            </a:r>
          </a:p>
        </p:txBody>
      </p:sp>
      <p:pic>
        <p:nvPicPr>
          <p:cNvPr id="8" name="Picture 7" descr="安_sid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554480"/>
            <a:ext cx="33832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4000" b="1">
                <a:solidFill>
                  <a:srgbClr val="44748A"/>
                </a:solidFill>
                <a:latin typeface="微軟正黑體"/>
              </a:defRPr>
            </a:pPr>
            <a:r>
              <a:rPr sz="4000" b="1">
                <a:solidFill>
                  <a:srgbClr val="44748A"/>
                </a:solidFill>
              </a:rPr>
              <a:t>主賜平安不改變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0" y="1188720"/>
            <a:ext cx="1371600" cy="54864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44748A"/>
                </a:solidFill>
                <a:latin typeface="微軟正黑體"/>
              </a:defRPr>
            </a:pPr>
            <a:r>
              <a:rPr sz="3300">
                <a:solidFill>
                  <a:srgbClr val="44748A"/>
                </a:solidFill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世人平安隨環境改變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44748A"/>
                </a:solidFill>
                <a:latin typeface="微軟正黑體"/>
              </a:defRPr>
            </a:pPr>
            <a:r>
              <a:rPr sz="3300">
                <a:solidFill>
                  <a:srgbClr val="44748A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主的平安永不改變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44748A"/>
                </a:solidFill>
                <a:latin typeface="微軟正黑體"/>
              </a:defRPr>
            </a:pPr>
            <a:r>
              <a:rPr sz="3300">
                <a:solidFill>
                  <a:srgbClr val="44748A"/>
                </a:solidFill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心裏不要受攪擾膽怯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0C4A6E"/>
                </a:solidFill>
                <a:latin typeface="微軟正黑體"/>
              </a:defRPr>
            </a:pPr>
            <a:r>
              <a:rPr sz="2400"/>
              <a:t>經文：我留下平安給你們，我將我的平安賜給你們；我所賜給你們的，不像世人所賜的。（約十四27）</a:t>
            </a:r>
          </a:p>
        </p:txBody>
      </p:sp>
      <p:pic>
        <p:nvPicPr>
          <p:cNvPr id="17" name="Picture 16" descr="story_安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4000" b="1">
                <a:solidFill>
                  <a:srgbClr val="44748A"/>
                </a:solidFill>
                <a:latin typeface="微軟正黑體"/>
              </a:defRPr>
            </a:pPr>
            <a:r>
              <a:rPr sz="4000" b="1">
                <a:solidFill>
                  <a:srgbClr val="44748A"/>
                </a:solidFill>
              </a:rPr>
              <a:t>在主裡面有平安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0" y="1188720"/>
            <a:ext cx="1371600" cy="54864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44748A"/>
                </a:solidFill>
                <a:latin typeface="微軟正黑體"/>
              </a:defRPr>
            </a:pPr>
            <a:r>
              <a:rPr sz="3300">
                <a:solidFill>
                  <a:srgbClr val="44748A"/>
                </a:solidFill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在世上有苦難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44748A"/>
                </a:solidFill>
                <a:latin typeface="微軟正黑體"/>
              </a:defRPr>
            </a:pPr>
            <a:r>
              <a:rPr sz="3300">
                <a:solidFill>
                  <a:srgbClr val="44748A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在主裏面有平安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44748A"/>
                </a:solidFill>
                <a:latin typeface="微軟正黑體"/>
              </a:defRPr>
            </a:pPr>
            <a:r>
              <a:rPr sz="3300">
                <a:solidFill>
                  <a:srgbClr val="44748A"/>
                </a:solidFill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主已經勝了世界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0C4A6E"/>
                </a:solidFill>
                <a:latin typeface="微軟正黑體"/>
              </a:defRPr>
            </a:pPr>
            <a:r>
              <a:rPr sz="2400"/>
              <a:t>經文：要叫你們在我裏面有平安。在世上你們有苦難，但你們可以放心，我已經勝了世界。（約十六33）</a:t>
            </a:r>
          </a:p>
        </p:txBody>
      </p:sp>
      <p:pic>
        <p:nvPicPr>
          <p:cNvPr id="17" name="Picture 16" descr="story_安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4000" b="1">
                <a:solidFill>
                  <a:srgbClr val="44748A"/>
                </a:solidFill>
                <a:latin typeface="微軟正黑體"/>
              </a:defRPr>
            </a:pPr>
            <a:r>
              <a:rPr sz="4000" b="1">
                <a:solidFill>
                  <a:srgbClr val="44748A"/>
                </a:solidFill>
              </a:rPr>
              <a:t>祂自己是和平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0" y="1188720"/>
            <a:ext cx="1371600" cy="54864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44748A"/>
                </a:solidFill>
                <a:latin typeface="微軟正黑體"/>
              </a:defRPr>
            </a:pPr>
            <a:r>
              <a:rPr sz="3300">
                <a:solidFill>
                  <a:srgbClr val="44748A"/>
                </a:solidFill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祂自己是我們的和平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44748A"/>
                </a:solidFill>
                <a:latin typeface="微軟正黑體"/>
              </a:defRPr>
            </a:pPr>
            <a:r>
              <a:rPr sz="3300">
                <a:solidFill>
                  <a:srgbClr val="44748A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拆毀隔斷牆就是仇恨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44748A"/>
                </a:solidFill>
                <a:latin typeface="微軟正黑體"/>
              </a:defRPr>
            </a:pPr>
            <a:r>
              <a:rPr sz="3300">
                <a:solidFill>
                  <a:srgbClr val="44748A"/>
                </a:solidFill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傳和平福音給遠離者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0C4A6E"/>
                </a:solidFill>
                <a:latin typeface="微軟正黑體"/>
              </a:defRPr>
            </a:pPr>
            <a:r>
              <a:rPr sz="2400"/>
              <a:t>經文：因祂自己是我們的和平，將兩下作成一個，拆毀了中間隔斷的牆，就是仇恨，又來傳和平為福音，給你們這遠離的人。（弗二14，17）</a:t>
            </a:r>
          </a:p>
        </p:txBody>
      </p:sp>
      <p:pic>
        <p:nvPicPr>
          <p:cNvPr id="17" name="Picture 16" descr="story_安_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4000" b="1">
                <a:solidFill>
                  <a:srgbClr val="44748A"/>
                </a:solidFill>
                <a:latin typeface="微軟正黑體"/>
              </a:defRPr>
            </a:pPr>
            <a:r>
              <a:rPr sz="4000" b="1">
                <a:solidFill>
                  <a:srgbClr val="44748A"/>
                </a:solidFill>
              </a:rPr>
              <a:t>接主上船一無罣慮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0" y="1188720"/>
            <a:ext cx="1371600" cy="54864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44748A"/>
                </a:solidFill>
                <a:latin typeface="微軟正黑體"/>
              </a:defRPr>
            </a:pPr>
            <a:r>
              <a:rPr sz="3300">
                <a:solidFill>
                  <a:srgbClr val="44748A"/>
                </a:solidFill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接主上船立刻到岸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44748A"/>
                </a:solidFill>
                <a:latin typeface="微軟正黑體"/>
              </a:defRPr>
            </a:pPr>
            <a:r>
              <a:rPr sz="3300">
                <a:solidFill>
                  <a:srgbClr val="44748A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凡事禱告祈求感謝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44748A"/>
                </a:solidFill>
                <a:latin typeface="微軟正黑體"/>
              </a:defRPr>
            </a:pPr>
            <a:r>
              <a:rPr sz="3300">
                <a:solidFill>
                  <a:srgbClr val="44748A"/>
                </a:solidFill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神平安保衛心懷意念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0C4A6E"/>
                </a:solidFill>
                <a:latin typeface="微軟正黑體"/>
              </a:defRPr>
            </a:pPr>
            <a:r>
              <a:rPr sz="2400"/>
              <a:t>經文：門徒接祂上船，船立刻到了他們所要去的地方。（約六21）應當一無罣慮，只要凡事藉著禱告、祈求，帶著感謝，將你們所要的告訴神。（腓四6）</a:t>
            </a:r>
          </a:p>
        </p:txBody>
      </p:sp>
      <p:pic>
        <p:nvPicPr>
          <p:cNvPr id="17" name="Picture 16" descr="story_安_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" b="1">
                <a:solidFill>
                  <a:srgbClr val="44748A"/>
                </a:solidFill>
                <a:latin typeface="微軟正黑體"/>
              </a:defRPr>
            </a:pPr>
            <a:r>
              <a:rPr sz="1800">
                <a:solidFill>
                  <a:srgbClr val="44748A"/>
                </a:solidFill>
              </a:rPr>
              <a:t>回到經文 · 本篇一覽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4200" b="1">
                <a:solidFill>
                  <a:srgbClr val="44748A"/>
                </a:solidFill>
                <a:latin typeface="微軟正黑體"/>
              </a:defRPr>
            </a:pPr>
            <a:r>
              <a:rPr sz="4200" b="1">
                <a:solidFill>
                  <a:srgbClr val="44748A"/>
                </a:solidFill>
              </a:rPr>
              <a:t>「安」的鑰字經文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0" y="1188720"/>
            <a:ext cx="1371600" cy="54864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400" b="0">
                <a:solidFill>
                  <a:srgbClr val="2B2B2B"/>
                </a:solidFill>
                <a:latin typeface="微軟正黑體"/>
              </a:defRPr>
            </a:pPr>
            <a:r>
              <a:rPr sz="2400"/>
              <a:t>我將我的平安賜給你們；我所賜給你們的，不像世人所賜的（約十四27）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400" b="0">
                <a:solidFill>
                  <a:srgbClr val="2B2B2B"/>
                </a:solidFill>
                <a:latin typeface="微軟正黑體"/>
              </a:defRPr>
            </a:pPr>
            <a:r>
              <a:rPr sz="2400"/>
              <a:t>你們在我裏面有平安，在世上你們有苦難（約十六33）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20439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400" b="0">
                <a:solidFill>
                  <a:srgbClr val="2B2B2B"/>
                </a:solidFill>
                <a:latin typeface="微軟正黑體"/>
              </a:defRPr>
            </a:pPr>
            <a:r>
              <a:rPr sz="2400"/>
              <a:t>因祂自己是我們的和平（弗二14）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000" b="1">
                <a:solidFill>
                  <a:srgbClr val="0C4A6E"/>
                </a:solidFill>
                <a:latin typeface="微軟正黑體"/>
              </a:defRPr>
            </a:pPr>
            <a:r>
              <a:rPr sz="2000"/>
              <a:t>這些經文，就是剛才信息的根據。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000" b="1">
                <a:solidFill>
                  <a:srgbClr val="44748A"/>
                </a:solidFill>
                <a:latin typeface="微軟正黑體"/>
              </a:defRPr>
            </a:pPr>
            <a:r>
              <a:rPr sz="2000">
                <a:solidFill>
                  <a:srgbClr val="44748A"/>
                </a:solidFill>
              </a:rPr>
              <a:t>福音的答案 · 平靜的湖面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600" b="1">
                <a:solidFill>
                  <a:srgbClr val="44748A"/>
                </a:solidFill>
                <a:latin typeface="微軟正黑體"/>
              </a:defRPr>
            </a:pPr>
            <a:r>
              <a:rPr sz="4600" b="1">
                <a:solidFill>
                  <a:srgbClr val="44748A"/>
                </a:solidFill>
              </a:rPr>
              <a:t>福音的答案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83080"/>
            <a:ext cx="10698480" cy="54864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44748A"/>
                </a:solidFill>
                <a:latin typeface="微軟正黑體"/>
              </a:defRPr>
            </a:pPr>
            <a:r>
              <a:rPr sz="3300">
                <a:solidFill>
                  <a:srgbClr val="44748A"/>
                </a:solidFill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19456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0C4A6E"/>
                </a:solidFill>
                <a:latin typeface="微軟正黑體"/>
              </a:defRPr>
            </a:pPr>
            <a:r>
              <a:rPr sz="3300">
                <a:solidFill>
                  <a:srgbClr val="0C4A6E"/>
                </a:solidFill>
              </a:rPr>
              <a:t>主自己就是我們的平安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44748A"/>
                </a:solidFill>
                <a:latin typeface="微軟正黑體"/>
              </a:defRPr>
            </a:pPr>
            <a:r>
              <a:rPr sz="3300">
                <a:solidFill>
                  <a:srgbClr val="44748A"/>
                </a:solidFill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92608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0C4A6E"/>
                </a:solidFill>
                <a:latin typeface="微軟正黑體"/>
              </a:defRPr>
            </a:pPr>
            <a:r>
              <a:rPr sz="3300">
                <a:solidFill>
                  <a:srgbClr val="0C4A6E"/>
                </a:solidFill>
              </a:rPr>
              <a:t>在得勝的基督裏有平安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44748A"/>
                </a:solidFill>
                <a:latin typeface="微軟正黑體"/>
              </a:defRPr>
            </a:pPr>
            <a:r>
              <a:rPr sz="3300">
                <a:solidFill>
                  <a:srgbClr val="44748A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65760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0C4A6E"/>
                </a:solidFill>
                <a:latin typeface="微軟正黑體"/>
              </a:defRPr>
            </a:pPr>
            <a:r>
              <a:rPr sz="3300">
                <a:solidFill>
                  <a:srgbClr val="0C4A6E"/>
                </a:solidFill>
              </a:rPr>
              <a:t>接主上船同享平安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72000"/>
            <a:ext cx="6858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2400" b="0">
                <a:solidFill>
                  <a:srgbClr val="0C4A6E"/>
                </a:solidFill>
                <a:latin typeface="微軟正黑體"/>
              </a:defRPr>
            </a:pPr>
            <a:r>
              <a:rPr sz="2400">
                <a:solidFill>
                  <a:srgbClr val="0C4A6E"/>
                </a:solidFill>
              </a:rPr>
              <a:t>平安不是環境無事，而是裏面的主耶穌自己。祂已勝了世界，廢除了掌死權的魔鬼，拆毀了隔斷的牆。只要把主接到人生的船上，凡事藉著禱告告訴神，神的平安就要像兵士把守城池那樣保衛我們的心，使我們在風波中平安經過。</a:t>
            </a:r>
          </a:p>
        </p:txBody>
      </p:sp>
      <p:pic>
        <p:nvPicPr>
          <p:cNvPr id="12" name="Picture 11" descr="安_sid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2194560"/>
            <a:ext cx="33832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" b="1">
                <a:solidFill>
                  <a:srgbClr val="44748A"/>
                </a:solidFill>
                <a:latin typeface="微軟正黑體"/>
              </a:defRPr>
            </a:pPr>
            <a:r>
              <a:rPr sz="1800">
                <a:solidFill>
                  <a:srgbClr val="44748A"/>
                </a:solidFill>
              </a:rPr>
              <a:t>抉擇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4200" b="1">
                <a:solidFill>
                  <a:srgbClr val="44748A"/>
                </a:solidFill>
                <a:latin typeface="微軟正黑體"/>
              </a:defRPr>
            </a:pPr>
            <a:r>
              <a:rPr sz="4200" b="1">
                <a:solidFill>
                  <a:srgbClr val="44748A"/>
                </a:solidFill>
              </a:rPr>
              <a:t>今天，你願意嗎？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0" y="1188720"/>
            <a:ext cx="1371600" cy="54864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7132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3600" b="1">
                <a:solidFill>
                  <a:srgbClr val="0C4A6E"/>
                </a:solidFill>
                <a:latin typeface="微軟正黑體"/>
              </a:defRPr>
            </a:pPr>
            <a:r>
              <a:rPr sz="3600"/>
              <a:t>親愛的朋友，何不快快將主耶穌接到你的船上，今天就把你的罣慮告訴神？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14800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600" b="0">
                <a:solidFill>
                  <a:srgbClr val="5A5A5A"/>
                </a:solidFill>
                <a:latin typeface="微軟正黑體"/>
              </a:defRPr>
            </a:pPr>
            <a:r>
              <a:rPr sz="2600"/>
              <a:t>不需要先作好、改好，只要現在作一個決定。</a:t>
            </a:r>
          </a:p>
        </p:txBody>
      </p:sp>
      <p:pic>
        <p:nvPicPr>
          <p:cNvPr id="8" name="Picture 7" descr="安_sid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554480"/>
            <a:ext cx="33832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" b="1">
                <a:solidFill>
                  <a:srgbClr val="44748A"/>
                </a:solidFill>
                <a:latin typeface="微軟正黑體"/>
              </a:defRPr>
            </a:pPr>
            <a:r>
              <a:rPr sz="1800">
                <a:solidFill>
                  <a:srgbClr val="44748A"/>
                </a:solidFill>
              </a:rPr>
              <a:t>一起禱告 · 講一句，跟一句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4200" b="1">
                <a:solidFill>
                  <a:srgbClr val="44748A"/>
                </a:solidFill>
                <a:latin typeface="微軟正黑體"/>
              </a:defRPr>
            </a:pPr>
            <a:r>
              <a:rPr sz="4200" b="1">
                <a:solidFill>
                  <a:srgbClr val="44748A"/>
                </a:solidFill>
              </a:rPr>
              <a:t>哦，主耶穌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0" y="1188720"/>
            <a:ext cx="1371600" cy="54864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44748A"/>
                </a:solidFill>
                <a:latin typeface="微軟正黑體"/>
              </a:defRPr>
            </a:pPr>
            <a:r>
              <a:rPr sz="2800">
                <a:solidFill>
                  <a:srgbClr val="44748A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63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主耶穌，我心裏常受攪擾，也常膽怯。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44748A"/>
                </a:solidFill>
                <a:latin typeface="微軟正黑體"/>
              </a:defRPr>
            </a:pPr>
            <a:r>
              <a:rPr sz="2800">
                <a:solidFill>
                  <a:srgbClr val="44748A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2860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謝謝你將你的平安賜給我，你自己就是我的平安。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089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44748A"/>
                </a:solidFill>
                <a:latin typeface="微軟正黑體"/>
              </a:defRPr>
            </a:pPr>
            <a:r>
              <a:rPr sz="2800">
                <a:solidFill>
                  <a:srgbClr val="44748A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108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我願意接你上我的船，進入我的家庭和工作。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319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44748A"/>
                </a:solidFill>
                <a:latin typeface="微軟正黑體"/>
              </a:defRPr>
            </a:pPr>
            <a:r>
              <a:rPr sz="2800">
                <a:solidFill>
                  <a:srgbClr val="44748A"/>
                </a:solidFill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931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求你的平安保衛我的心懷意念，使我一無罣慮。阿們。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120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0C4A6E"/>
                </a:solidFill>
                <a:latin typeface="微軟正黑體"/>
              </a:defRPr>
            </a:pPr>
            <a:r>
              <a:rPr sz="2400"/>
              <a:t>凡心裡相信，口裡承認，呼求主名的，就必得救。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" b="1">
                <a:solidFill>
                  <a:srgbClr val="44748A"/>
                </a:solidFill>
                <a:latin typeface="微軟正黑體"/>
              </a:defRPr>
            </a:pPr>
            <a:r>
              <a:rPr sz="1800">
                <a:solidFill>
                  <a:srgbClr val="44748A"/>
                </a:solidFill>
              </a:rPr>
              <a:t>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4200" b="1">
                <a:solidFill>
                  <a:srgbClr val="44748A"/>
                </a:solidFill>
                <a:latin typeface="微軟正黑體"/>
              </a:defRPr>
            </a:pPr>
            <a:r>
              <a:rPr sz="4200" b="1">
                <a:solidFill>
                  <a:srgbClr val="44748A"/>
                </a:solidFill>
              </a:rPr>
              <a:t>不要讓這個福音停在今天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0" y="1188720"/>
            <a:ext cx="1371600" cy="54864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100" b="1">
                <a:solidFill>
                  <a:srgbClr val="44748A"/>
                </a:solidFill>
                <a:latin typeface="微軟正黑體"/>
              </a:defRPr>
            </a:pPr>
            <a:r>
              <a:rPr sz="3100">
                <a:solidFill>
                  <a:srgbClr val="44748A"/>
                </a:solidFill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5544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留下聯絡方式，約定下次見面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100" b="1">
                <a:solidFill>
                  <a:srgbClr val="44748A"/>
                </a:solidFill>
                <a:latin typeface="微軟正黑體"/>
              </a:defRPr>
            </a:pPr>
            <a:r>
              <a:rPr sz="3100">
                <a:solidFill>
                  <a:srgbClr val="44748A"/>
                </a:solidFill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3317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邀請參加小排或福音聚會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089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100" b="1">
                <a:solidFill>
                  <a:srgbClr val="44748A"/>
                </a:solidFill>
                <a:latin typeface="微軟正黑體"/>
              </a:defRPr>
            </a:pPr>
            <a:r>
              <a:rPr sz="3100">
                <a:solidFill>
                  <a:srgbClr val="44748A"/>
                </a:solidFill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1089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每天花一點時間呼求主名、讀經禱告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人生的奧祕（二）·福音鑰字「安」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