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【約0.5分鐘】今天只講一個字——「能」，設計主題是「大能的瀑布」。先讓朋友放鬆：給我大約十五分鐘，聽完再一起討論。本篇已按福音需要調整順序：先從生活談起，再回到經文，內容取自原文。</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【約1.5分鐘】開場提問：這個世界有許多教導人行善的哲學、道理和辦法，這些辦法人作得到麼？ 讓朋友先說兩句，建立關係，不要急著辯論，也不要一開始就先背經文。</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【約2.2分鐘】立志行善由不得。投影片上的講解就是原文該段的濃縮，講的時候可以照著說，再展開一兩句自己的見證，不要偏離原文。</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【約2.2分鐘】福音是神的大能。投影片上的講解就是原文該段的濃縮，講的時候可以照著說，再展開一兩句自己的見證，不要偏離原文。</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【約2.2分鐘】三不能惟耶穌能。投影片上的講解就是原文該段的濃縮，講的時候可以照著說，再展開一兩句自己的見證，不要偏離原文。</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【約2.2分鐘】生命之靈律釋放。投影片上的講解就是原文該段的濃縮，講的時候可以照著說，再展開一兩句自己的見證，不要偏離原文。</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【約1分鐘】講完生活與信息後，再把本篇篇首的鑰字經文讀一遍，幫助朋友把剛才聽到的信息對回經文上。</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約1分鐘】死在罪中的輭弱人，不是任何辦法、努力或宗教所能救治的，必須這位活的救主耶穌基督用祂大能的生命纔能救人脫離死亡和輭弱。只要今天相信祂、接受祂作救主，祂就進到人裏頭，叫人得著祂的生命，脫開人所不能脫開的，作人所不能作的。</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【約0.5分鐘】直接、溫和地問，不要強逼。朋友若有問題，記下來，講完禱告後再回答。</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【約1分鐘】邀請朋友開口跟著禱告，一句一句慢慢來。只要他願意開口呼求主名，就恭喜他得救了，並立刻約定下一次見面。</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【約0.5分鐘】結尾：留下手機或 Line，立刻邀請到小排或下次福音聚會。</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4.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5.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6.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7.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6DE"/>
        </a:solidFill>
        <a:effectLst/>
      </p:bgPr>
    </p:bg>
    <p:spTree>
      <p:nvGrpSpPr>
        <p:cNvPr id="1" name=""/>
        <p:cNvGrpSpPr/>
        <p:nvPr/>
      </p:nvGrpSpPr>
      <p:grpSpPr/>
      <p:pic>
        <p:nvPicPr>
          <p:cNvPr id="2" name="Picture 1" descr="能_full.jpg"/>
          <p:cNvPicPr>
            <a:picLocks noChangeAspect="1"/>
          </p:cNvPicPr>
          <p:nvPr/>
        </p:nvPicPr>
        <p:blipFill>
          <a:blip r:embed="rId2"/>
          <a:stretch>
            <a:fillRect/>
          </a:stretch>
        </p:blipFill>
        <p:spPr>
          <a:xfrm>
            <a:off x="0" y="0"/>
            <a:ext cx="12188952" cy="6858000"/>
          </a:xfrm>
          <a:prstGeom prst="rect">
            <a:avLst/>
          </a:prstGeom>
        </p:spPr>
      </p:pic>
      <p:sp>
        <p:nvSpPr>
          <p:cNvPr id="3" name="Rectangle 2"/>
          <p:cNvSpPr/>
          <p:nvPr/>
        </p:nvSpPr>
        <p:spPr>
          <a:xfrm>
            <a:off x="0" y="4206240"/>
            <a:ext cx="12188952" cy="2651760"/>
          </a:xfrm>
          <a:prstGeom prst="rect">
            <a:avLst/>
          </a:prstGeom>
          <a:solidFill>
            <a:srgbClr val="451A0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4206240"/>
            <a:ext cx="12188952" cy="73152"/>
          </a:xfrm>
          <a:prstGeom prst="rect">
            <a:avLst/>
          </a:prstGeom>
          <a:solidFill>
            <a:srgbClr val="FB92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4434840"/>
            <a:ext cx="2743200" cy="2011680"/>
          </a:xfrm>
          <a:prstGeom prst="rect">
            <a:avLst/>
          </a:prstGeom>
          <a:noFill/>
        </p:spPr>
        <p:txBody>
          <a:bodyPr wrap="square">
            <a:spAutoFit/>
          </a:bodyPr>
          <a:lstStyle/>
          <a:p>
            <a:pPr algn="ctr">
              <a:lnSpc>
                <a:spcPct val="115000"/>
              </a:lnSpc>
              <a:defRPr sz="16000" b="1">
                <a:solidFill>
                  <a:srgbClr val="8A5021"/>
                </a:solidFill>
                <a:latin typeface="微軟正黑體"/>
              </a:defRPr>
            </a:pPr>
            <a:r>
              <a:rPr>
                <a:solidFill>
                  <a:srgbClr val="8A5021"/>
                </a:solidFill>
              </a:rPr>
              <a:t>能</a:t>
            </a:r>
          </a:p>
        </p:txBody>
      </p:sp>
      <p:sp>
        <p:nvSpPr>
          <p:cNvPr id="7" name="TextBox 6"/>
          <p:cNvSpPr txBox="1"/>
          <p:nvPr/>
        </p:nvSpPr>
        <p:spPr>
          <a:xfrm>
            <a:off x="3657600" y="5029200"/>
            <a:ext cx="7772400" cy="548640"/>
          </a:xfrm>
          <a:prstGeom prst="rect">
            <a:avLst/>
          </a:prstGeom>
          <a:noFill/>
        </p:spPr>
        <p:txBody>
          <a:bodyPr wrap="square">
            <a:spAutoFit/>
          </a:bodyPr>
          <a:lstStyle/>
          <a:p>
            <a:pPr algn="l">
              <a:lnSpc>
                <a:spcPct val="115000"/>
              </a:lnSpc>
              <a:defRPr sz="2600" b="0">
                <a:solidFill>
                  <a:srgbClr val="451A03"/>
                </a:solidFill>
                <a:latin typeface="微軟正黑體"/>
              </a:defRPr>
            </a:pPr>
            <a:r>
              <a:rPr sz="2600">
                <a:solidFill>
                  <a:srgbClr val="451A03"/>
                </a:solidFill>
              </a:rPr>
              <a:t>大能的瀑布 · 神給人的恩典</a:t>
            </a:r>
          </a:p>
        </p:txBody>
      </p:sp>
      <p:sp>
        <p:nvSpPr>
          <p:cNvPr id="8" name="TextBox 7"/>
          <p:cNvSpPr txBox="1"/>
          <p:nvPr/>
        </p:nvSpPr>
        <p:spPr>
          <a:xfrm>
            <a:off x="3657600" y="5669280"/>
            <a:ext cx="7772400" cy="548640"/>
          </a:xfrm>
          <a:prstGeom prst="rect">
            <a:avLst/>
          </a:prstGeom>
          <a:noFill/>
        </p:spPr>
        <p:txBody>
          <a:bodyPr wrap="square">
            <a:spAutoFit/>
          </a:bodyPr>
          <a:lstStyle/>
          <a:p>
            <a:pPr algn="l">
              <a:lnSpc>
                <a:spcPct val="115000"/>
              </a:lnSpc>
              <a:defRPr sz="2200" b="0">
                <a:solidFill>
                  <a:srgbClr val="451A03"/>
                </a:solidFill>
                <a:latin typeface="微軟正黑體"/>
              </a:defRPr>
            </a:pPr>
            <a:r>
              <a:rPr sz="2200">
                <a:solidFill>
                  <a:srgbClr val="451A03"/>
                </a:solidFill>
              </a:rPr>
              <a:t>第 20 個鑰字 · 一個字，一個福音信息</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3" name="TextBox 2"/>
          <p:cNvSpPr txBox="1"/>
          <p:nvPr/>
        </p:nvSpPr>
        <p:spPr>
          <a:xfrm>
            <a:off x="548640" y="548640"/>
            <a:ext cx="11064240" cy="548640"/>
          </a:xfrm>
          <a:prstGeom prst="rect">
            <a:avLst/>
          </a:prstGeom>
          <a:noFill/>
        </p:spPr>
        <p:txBody>
          <a:bodyPr wrap="square">
            <a:spAutoFit/>
          </a:bodyPr>
          <a:lstStyle/>
          <a:p>
            <a:pPr algn="l">
              <a:lnSpc>
                <a:spcPct val="115000"/>
              </a:lnSpc>
              <a:defRPr sz="3800" b="1">
                <a:solidFill>
                  <a:srgbClr val="8A5021"/>
                </a:solidFill>
                <a:latin typeface="微軟正黑體"/>
              </a:defRPr>
            </a:pPr>
            <a:r>
              <a:rPr sz="3800" b="1">
                <a:solidFill>
                  <a:srgbClr val="8A5021"/>
                </a:solidFill>
              </a:rPr>
              <a:t>你有沒有想過……？</a:t>
            </a:r>
          </a:p>
        </p:txBody>
      </p:sp>
      <p:sp>
        <p:nvSpPr>
          <p:cNvPr id="4" name="Rectangle 3"/>
          <p:cNvSpPr/>
          <p:nvPr/>
        </p:nvSpPr>
        <p:spPr>
          <a:xfrm>
            <a:off x="548640" y="1188720"/>
            <a:ext cx="11091672" cy="54864"/>
          </a:xfrm>
          <a:prstGeom prst="rect">
            <a:avLst/>
          </a:prstGeom>
          <a:solidFill>
            <a:srgbClr val="FB92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1737360"/>
            <a:ext cx="7132320" cy="1645920"/>
          </a:xfrm>
          <a:prstGeom prst="rect">
            <a:avLst/>
          </a:prstGeom>
          <a:noFill/>
        </p:spPr>
        <p:txBody>
          <a:bodyPr wrap="square">
            <a:spAutoFit/>
          </a:bodyPr>
          <a:lstStyle/>
          <a:p>
            <a:pPr algn="l">
              <a:lnSpc>
                <a:spcPct val="120000"/>
              </a:lnSpc>
              <a:defRPr sz="4000" b="1">
                <a:solidFill>
                  <a:srgbClr val="8A5021"/>
                </a:solidFill>
                <a:latin typeface="微軟正黑體"/>
              </a:defRPr>
            </a:pPr>
            <a:r>
              <a:rPr sz="4000" b="1">
                <a:solidFill>
                  <a:srgbClr val="8A5021"/>
                </a:solidFill>
              </a:rPr>
              <a:t>這個世界有許多教導人行善的哲學、道理和辦法，這些辦法人作得到麼？</a:t>
            </a:r>
          </a:p>
        </p:txBody>
      </p:sp>
      <p:pic>
        <p:nvPicPr>
          <p:cNvPr id="8" name="Picture 7" descr="能_side1.jpg"/>
          <p:cNvPicPr>
            <a:picLocks noChangeAspect="1"/>
          </p:cNvPicPr>
          <p:nvPr/>
        </p:nvPicPr>
        <p:blipFill>
          <a:blip r:embed="rId2"/>
          <a:stretch>
            <a:fillRect/>
          </a:stretch>
        </p:blipFill>
        <p:spPr>
          <a:xfrm>
            <a:off x="8229600" y="1554480"/>
            <a:ext cx="3383280" cy="2359152"/>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3" name="TextBox 2"/>
          <p:cNvSpPr txBox="1"/>
          <p:nvPr/>
        </p:nvSpPr>
        <p:spPr>
          <a:xfrm>
            <a:off x="548640" y="548640"/>
            <a:ext cx="11064240" cy="548640"/>
          </a:xfrm>
          <a:prstGeom prst="rect">
            <a:avLst/>
          </a:prstGeom>
          <a:noFill/>
        </p:spPr>
        <p:txBody>
          <a:bodyPr wrap="square">
            <a:spAutoFit/>
          </a:bodyPr>
          <a:lstStyle/>
          <a:p>
            <a:pPr algn="l">
              <a:lnSpc>
                <a:spcPct val="115000"/>
              </a:lnSpc>
              <a:defRPr sz="4000" b="1">
                <a:solidFill>
                  <a:srgbClr val="8A5021"/>
                </a:solidFill>
                <a:latin typeface="微軟正黑體"/>
              </a:defRPr>
            </a:pPr>
            <a:r>
              <a:rPr sz="4000" b="1">
                <a:solidFill>
                  <a:srgbClr val="8A5021"/>
                </a:solidFill>
              </a:rPr>
              <a:t>立志行善由不得</a:t>
            </a:r>
          </a:p>
        </p:txBody>
      </p:sp>
      <p:sp>
        <p:nvSpPr>
          <p:cNvPr id="4" name="Rectangle 3"/>
          <p:cNvSpPr/>
          <p:nvPr/>
        </p:nvSpPr>
        <p:spPr>
          <a:xfrm>
            <a:off x="548640" y="1188720"/>
            <a:ext cx="11091672" cy="54864"/>
          </a:xfrm>
          <a:prstGeom prst="rect">
            <a:avLst/>
          </a:prstGeom>
          <a:solidFill>
            <a:srgbClr val="FB92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0" y="4389120"/>
            <a:ext cx="3200400" cy="2011680"/>
          </a:xfrm>
          <a:prstGeom prst="rect">
            <a:avLst/>
          </a:prstGeom>
          <a:noFill/>
        </p:spPr>
        <p:txBody>
          <a:bodyPr wrap="square">
            <a:spAutoFit/>
          </a:bodyPr>
          <a:lstStyle/>
          <a:p>
            <a:pPr algn="ctr">
              <a:lnSpc>
                <a:spcPct val="115000"/>
              </a:lnSpc>
              <a:defRPr sz="18000" b="1">
                <a:solidFill>
                  <a:srgbClr val="F7E8B8"/>
                </a:solidFill>
                <a:latin typeface="微軟正黑體"/>
              </a:defRPr>
            </a:pPr>
            <a:r>
              <a:rPr>
                <a:solidFill>
                  <a:srgbClr val="F7E8B8"/>
                </a:solidFill>
              </a:rPr>
              <a:t>能</a:t>
            </a:r>
          </a:p>
        </p:txBody>
      </p:sp>
      <p:sp>
        <p:nvSpPr>
          <p:cNvPr id="7" name="TextBox 6"/>
          <p:cNvSpPr txBox="1"/>
          <p:nvPr/>
        </p:nvSpPr>
        <p:spPr>
          <a:xfrm>
            <a:off x="822960" y="1463040"/>
            <a:ext cx="457200" cy="548640"/>
          </a:xfrm>
          <a:prstGeom prst="rect">
            <a:avLst/>
          </a:prstGeom>
          <a:noFill/>
        </p:spPr>
        <p:txBody>
          <a:bodyPr wrap="square">
            <a:spAutoFit/>
          </a:bodyPr>
          <a:lstStyle/>
          <a:p>
            <a:pPr algn="ctr">
              <a:lnSpc>
                <a:spcPct val="115000"/>
              </a:lnSpc>
              <a:defRPr sz="3300" b="1">
                <a:solidFill>
                  <a:srgbClr val="8A5021"/>
                </a:solidFill>
                <a:latin typeface="微軟正黑體"/>
              </a:defRPr>
            </a:pPr>
            <a:r>
              <a:rPr sz="3300">
                <a:solidFill>
                  <a:srgbClr val="8A5021"/>
                </a:solidFill>
              </a:rPr>
              <a:t>•</a:t>
            </a:r>
          </a:p>
        </p:txBody>
      </p:sp>
      <p:sp>
        <p:nvSpPr>
          <p:cNvPr id="8" name="TextBox 7"/>
          <p:cNvSpPr txBox="1"/>
          <p:nvPr/>
        </p:nvSpPr>
        <p:spPr>
          <a:xfrm>
            <a:off x="1280160" y="1463040"/>
            <a:ext cx="6400800" cy="640080"/>
          </a:xfrm>
          <a:prstGeom prst="rect">
            <a:avLst/>
          </a:prstGeom>
          <a:noFill/>
        </p:spPr>
        <p:txBody>
          <a:bodyPr wrap="square">
            <a:spAutoFit/>
          </a:bodyPr>
          <a:lstStyle/>
          <a:p>
            <a:pPr algn="l">
              <a:lnSpc>
                <a:spcPct val="115000"/>
              </a:lnSpc>
              <a:defRPr sz="3300" b="0">
                <a:solidFill>
                  <a:srgbClr val="2B2B2B"/>
                </a:solidFill>
                <a:latin typeface="微軟正黑體"/>
              </a:defRPr>
            </a:pPr>
            <a:r>
              <a:rPr sz="3300"/>
              <a:t>立志為善行出由不得</a:t>
            </a:r>
          </a:p>
        </p:txBody>
      </p:sp>
      <p:sp>
        <p:nvSpPr>
          <p:cNvPr id="9" name="TextBox 8"/>
          <p:cNvSpPr txBox="1"/>
          <p:nvPr/>
        </p:nvSpPr>
        <p:spPr>
          <a:xfrm>
            <a:off x="822960" y="2194560"/>
            <a:ext cx="457200" cy="548640"/>
          </a:xfrm>
          <a:prstGeom prst="rect">
            <a:avLst/>
          </a:prstGeom>
          <a:noFill/>
        </p:spPr>
        <p:txBody>
          <a:bodyPr wrap="square">
            <a:spAutoFit/>
          </a:bodyPr>
          <a:lstStyle/>
          <a:p>
            <a:pPr algn="ctr">
              <a:lnSpc>
                <a:spcPct val="115000"/>
              </a:lnSpc>
              <a:defRPr sz="3300" b="1">
                <a:solidFill>
                  <a:srgbClr val="8A5021"/>
                </a:solidFill>
                <a:latin typeface="微軟正黑體"/>
              </a:defRPr>
            </a:pPr>
            <a:r>
              <a:rPr sz="3300">
                <a:solidFill>
                  <a:srgbClr val="8A5021"/>
                </a:solidFill>
              </a:rPr>
              <a:t>•</a:t>
            </a:r>
          </a:p>
        </p:txBody>
      </p:sp>
      <p:sp>
        <p:nvSpPr>
          <p:cNvPr id="10" name="TextBox 9"/>
          <p:cNvSpPr txBox="1"/>
          <p:nvPr/>
        </p:nvSpPr>
        <p:spPr>
          <a:xfrm>
            <a:off x="1280160" y="2194560"/>
            <a:ext cx="6400800" cy="640080"/>
          </a:xfrm>
          <a:prstGeom prst="rect">
            <a:avLst/>
          </a:prstGeom>
          <a:noFill/>
        </p:spPr>
        <p:txBody>
          <a:bodyPr wrap="square">
            <a:spAutoFit/>
          </a:bodyPr>
          <a:lstStyle/>
          <a:p>
            <a:pPr algn="l">
              <a:lnSpc>
                <a:spcPct val="115000"/>
              </a:lnSpc>
              <a:defRPr sz="3300" b="0">
                <a:solidFill>
                  <a:srgbClr val="2B2B2B"/>
                </a:solidFill>
                <a:latin typeface="微軟正黑體"/>
              </a:defRPr>
            </a:pPr>
            <a:r>
              <a:rPr sz="3300"/>
              <a:t>所願善反不作惡倒作</a:t>
            </a:r>
          </a:p>
        </p:txBody>
      </p:sp>
      <p:sp>
        <p:nvSpPr>
          <p:cNvPr id="11" name="TextBox 10"/>
          <p:cNvSpPr txBox="1"/>
          <p:nvPr/>
        </p:nvSpPr>
        <p:spPr>
          <a:xfrm>
            <a:off x="822960" y="2926080"/>
            <a:ext cx="457200" cy="548640"/>
          </a:xfrm>
          <a:prstGeom prst="rect">
            <a:avLst/>
          </a:prstGeom>
          <a:noFill/>
        </p:spPr>
        <p:txBody>
          <a:bodyPr wrap="square">
            <a:spAutoFit/>
          </a:bodyPr>
          <a:lstStyle/>
          <a:p>
            <a:pPr algn="ctr">
              <a:lnSpc>
                <a:spcPct val="115000"/>
              </a:lnSpc>
              <a:defRPr sz="3300" b="1">
                <a:solidFill>
                  <a:srgbClr val="8A5021"/>
                </a:solidFill>
                <a:latin typeface="微軟正黑體"/>
              </a:defRPr>
            </a:pPr>
            <a:r>
              <a:rPr sz="3300">
                <a:solidFill>
                  <a:srgbClr val="8A5021"/>
                </a:solidFill>
              </a:rPr>
              <a:t>•</a:t>
            </a:r>
          </a:p>
        </p:txBody>
      </p:sp>
      <p:sp>
        <p:nvSpPr>
          <p:cNvPr id="12" name="TextBox 11"/>
          <p:cNvSpPr txBox="1"/>
          <p:nvPr/>
        </p:nvSpPr>
        <p:spPr>
          <a:xfrm>
            <a:off x="1280160" y="2926080"/>
            <a:ext cx="6400800" cy="640080"/>
          </a:xfrm>
          <a:prstGeom prst="rect">
            <a:avLst/>
          </a:prstGeom>
          <a:noFill/>
        </p:spPr>
        <p:txBody>
          <a:bodyPr wrap="square">
            <a:spAutoFit/>
          </a:bodyPr>
          <a:lstStyle/>
          <a:p>
            <a:pPr algn="l">
              <a:lnSpc>
                <a:spcPct val="115000"/>
              </a:lnSpc>
              <a:defRPr sz="3300" b="0">
                <a:solidFill>
                  <a:srgbClr val="2B2B2B"/>
                </a:solidFill>
                <a:latin typeface="微軟正黑體"/>
              </a:defRPr>
            </a:pPr>
            <a:r>
              <a:rPr sz="3300"/>
              <a:t>肉體裡面沒有良善</a:t>
            </a:r>
          </a:p>
        </p:txBody>
      </p:sp>
      <p:sp>
        <p:nvSpPr>
          <p:cNvPr id="15" name="Rectangle 14"/>
          <p:cNvSpPr/>
          <p:nvPr/>
        </p:nvSpPr>
        <p:spPr>
          <a:xfrm>
            <a:off x="640080" y="5394960"/>
            <a:ext cx="109728" cy="685800"/>
          </a:xfrm>
          <a:prstGeom prst="rect">
            <a:avLst/>
          </a:prstGeom>
          <a:solidFill>
            <a:srgbClr val="FB92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0" y="5029200"/>
            <a:ext cx="10972800" cy="1097280"/>
          </a:xfrm>
          <a:prstGeom prst="rect">
            <a:avLst/>
          </a:prstGeom>
          <a:noFill/>
        </p:spPr>
        <p:txBody>
          <a:bodyPr wrap="square">
            <a:spAutoFit/>
          </a:bodyPr>
          <a:lstStyle/>
          <a:p>
            <a:pPr algn="l">
              <a:lnSpc>
                <a:spcPct val="115000"/>
              </a:lnSpc>
              <a:defRPr sz="2400" b="1">
                <a:solidFill>
                  <a:srgbClr val="451A03"/>
                </a:solidFill>
                <a:latin typeface="微軟正黑體"/>
              </a:defRPr>
            </a:pPr>
            <a:r>
              <a:rPr sz="2400"/>
              <a:t>經文：立志為善由得我，只是行出來由不得我。因為我所願意的善，我反不作；我所不願意的惡，我倒去作。（羅七18〜19）</a:t>
            </a:r>
          </a:p>
        </p:txBody>
      </p:sp>
      <p:pic>
        <p:nvPicPr>
          <p:cNvPr id="17" name="Picture 16" descr="story_能_1.jpg"/>
          <p:cNvPicPr>
            <a:picLocks noChangeAspect="1"/>
          </p:cNvPicPr>
          <p:nvPr/>
        </p:nvPicPr>
        <p:blipFill>
          <a:blip r:embed="rId3"/>
          <a:stretch>
            <a:fillRect/>
          </a:stretch>
        </p:blipFill>
        <p:spPr>
          <a:xfrm>
            <a:off x="7955279" y="1463040"/>
            <a:ext cx="3566160" cy="329184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3" name="TextBox 2"/>
          <p:cNvSpPr txBox="1"/>
          <p:nvPr/>
        </p:nvSpPr>
        <p:spPr>
          <a:xfrm>
            <a:off x="548640" y="548640"/>
            <a:ext cx="11064240" cy="548640"/>
          </a:xfrm>
          <a:prstGeom prst="rect">
            <a:avLst/>
          </a:prstGeom>
          <a:noFill/>
        </p:spPr>
        <p:txBody>
          <a:bodyPr wrap="square">
            <a:spAutoFit/>
          </a:bodyPr>
          <a:lstStyle/>
          <a:p>
            <a:pPr algn="l">
              <a:lnSpc>
                <a:spcPct val="115000"/>
              </a:lnSpc>
              <a:defRPr sz="4000" b="1">
                <a:solidFill>
                  <a:srgbClr val="8A5021"/>
                </a:solidFill>
                <a:latin typeface="微軟正黑體"/>
              </a:defRPr>
            </a:pPr>
            <a:r>
              <a:rPr sz="4000" b="1">
                <a:solidFill>
                  <a:srgbClr val="8A5021"/>
                </a:solidFill>
              </a:rPr>
              <a:t>福音是神的大能</a:t>
            </a:r>
          </a:p>
        </p:txBody>
      </p:sp>
      <p:sp>
        <p:nvSpPr>
          <p:cNvPr id="4" name="Rectangle 3"/>
          <p:cNvSpPr/>
          <p:nvPr/>
        </p:nvSpPr>
        <p:spPr>
          <a:xfrm>
            <a:off x="548640" y="1188720"/>
            <a:ext cx="11091672" cy="54864"/>
          </a:xfrm>
          <a:prstGeom prst="rect">
            <a:avLst/>
          </a:prstGeom>
          <a:solidFill>
            <a:srgbClr val="FB92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0" y="4389120"/>
            <a:ext cx="3200400" cy="2011680"/>
          </a:xfrm>
          <a:prstGeom prst="rect">
            <a:avLst/>
          </a:prstGeom>
          <a:noFill/>
        </p:spPr>
        <p:txBody>
          <a:bodyPr wrap="square">
            <a:spAutoFit/>
          </a:bodyPr>
          <a:lstStyle/>
          <a:p>
            <a:pPr algn="ctr">
              <a:lnSpc>
                <a:spcPct val="115000"/>
              </a:lnSpc>
              <a:defRPr sz="18000" b="1">
                <a:solidFill>
                  <a:srgbClr val="F7E8B8"/>
                </a:solidFill>
                <a:latin typeface="微軟正黑體"/>
              </a:defRPr>
            </a:pPr>
            <a:r>
              <a:rPr>
                <a:solidFill>
                  <a:srgbClr val="F7E8B8"/>
                </a:solidFill>
              </a:rPr>
              <a:t>能</a:t>
            </a:r>
          </a:p>
        </p:txBody>
      </p:sp>
      <p:sp>
        <p:nvSpPr>
          <p:cNvPr id="7" name="TextBox 6"/>
          <p:cNvSpPr txBox="1"/>
          <p:nvPr/>
        </p:nvSpPr>
        <p:spPr>
          <a:xfrm>
            <a:off x="822960" y="1463040"/>
            <a:ext cx="457200" cy="548640"/>
          </a:xfrm>
          <a:prstGeom prst="rect">
            <a:avLst/>
          </a:prstGeom>
          <a:noFill/>
        </p:spPr>
        <p:txBody>
          <a:bodyPr wrap="square">
            <a:spAutoFit/>
          </a:bodyPr>
          <a:lstStyle/>
          <a:p>
            <a:pPr algn="ctr">
              <a:lnSpc>
                <a:spcPct val="115000"/>
              </a:lnSpc>
              <a:defRPr sz="3300" b="1">
                <a:solidFill>
                  <a:srgbClr val="8A5021"/>
                </a:solidFill>
                <a:latin typeface="微軟正黑體"/>
              </a:defRPr>
            </a:pPr>
            <a:r>
              <a:rPr sz="3300">
                <a:solidFill>
                  <a:srgbClr val="8A5021"/>
                </a:solidFill>
              </a:rPr>
              <a:t>•</a:t>
            </a:r>
          </a:p>
        </p:txBody>
      </p:sp>
      <p:sp>
        <p:nvSpPr>
          <p:cNvPr id="8" name="TextBox 7"/>
          <p:cNvSpPr txBox="1"/>
          <p:nvPr/>
        </p:nvSpPr>
        <p:spPr>
          <a:xfrm>
            <a:off x="1280160" y="1463040"/>
            <a:ext cx="6400800" cy="640080"/>
          </a:xfrm>
          <a:prstGeom prst="rect">
            <a:avLst/>
          </a:prstGeom>
          <a:noFill/>
        </p:spPr>
        <p:txBody>
          <a:bodyPr wrap="square">
            <a:spAutoFit/>
          </a:bodyPr>
          <a:lstStyle/>
          <a:p>
            <a:pPr algn="l">
              <a:lnSpc>
                <a:spcPct val="115000"/>
              </a:lnSpc>
              <a:defRPr sz="3300" b="0">
                <a:solidFill>
                  <a:srgbClr val="2B2B2B"/>
                </a:solidFill>
                <a:latin typeface="微軟正黑體"/>
              </a:defRPr>
            </a:pPr>
            <a:r>
              <a:rPr sz="3300"/>
              <a:t>福音本是神的大能</a:t>
            </a:r>
          </a:p>
        </p:txBody>
      </p:sp>
      <p:sp>
        <p:nvSpPr>
          <p:cNvPr id="9" name="TextBox 8"/>
          <p:cNvSpPr txBox="1"/>
          <p:nvPr/>
        </p:nvSpPr>
        <p:spPr>
          <a:xfrm>
            <a:off x="822960" y="2194560"/>
            <a:ext cx="457200" cy="548640"/>
          </a:xfrm>
          <a:prstGeom prst="rect">
            <a:avLst/>
          </a:prstGeom>
          <a:noFill/>
        </p:spPr>
        <p:txBody>
          <a:bodyPr wrap="square">
            <a:spAutoFit/>
          </a:bodyPr>
          <a:lstStyle/>
          <a:p>
            <a:pPr algn="ctr">
              <a:lnSpc>
                <a:spcPct val="115000"/>
              </a:lnSpc>
              <a:defRPr sz="3300" b="1">
                <a:solidFill>
                  <a:srgbClr val="8A5021"/>
                </a:solidFill>
                <a:latin typeface="微軟正黑體"/>
              </a:defRPr>
            </a:pPr>
            <a:r>
              <a:rPr sz="3300">
                <a:solidFill>
                  <a:srgbClr val="8A5021"/>
                </a:solidFill>
              </a:rPr>
              <a:t>•</a:t>
            </a:r>
          </a:p>
        </p:txBody>
      </p:sp>
      <p:sp>
        <p:nvSpPr>
          <p:cNvPr id="10" name="TextBox 9"/>
          <p:cNvSpPr txBox="1"/>
          <p:nvPr/>
        </p:nvSpPr>
        <p:spPr>
          <a:xfrm>
            <a:off x="1280160" y="2194560"/>
            <a:ext cx="6400800" cy="640080"/>
          </a:xfrm>
          <a:prstGeom prst="rect">
            <a:avLst/>
          </a:prstGeom>
          <a:noFill/>
        </p:spPr>
        <p:txBody>
          <a:bodyPr wrap="square">
            <a:spAutoFit/>
          </a:bodyPr>
          <a:lstStyle/>
          <a:p>
            <a:pPr algn="l">
              <a:lnSpc>
                <a:spcPct val="115000"/>
              </a:lnSpc>
              <a:defRPr sz="3300" b="0">
                <a:solidFill>
                  <a:srgbClr val="2B2B2B"/>
                </a:solidFill>
                <a:latin typeface="微軟正黑體"/>
              </a:defRPr>
            </a:pPr>
            <a:r>
              <a:rPr sz="3300"/>
              <a:t>救一切信的人脫定罪</a:t>
            </a:r>
          </a:p>
        </p:txBody>
      </p:sp>
      <p:sp>
        <p:nvSpPr>
          <p:cNvPr id="11" name="TextBox 10"/>
          <p:cNvSpPr txBox="1"/>
          <p:nvPr/>
        </p:nvSpPr>
        <p:spPr>
          <a:xfrm>
            <a:off x="822960" y="2926080"/>
            <a:ext cx="457200" cy="548640"/>
          </a:xfrm>
          <a:prstGeom prst="rect">
            <a:avLst/>
          </a:prstGeom>
          <a:noFill/>
        </p:spPr>
        <p:txBody>
          <a:bodyPr wrap="square">
            <a:spAutoFit/>
          </a:bodyPr>
          <a:lstStyle/>
          <a:p>
            <a:pPr algn="ctr">
              <a:lnSpc>
                <a:spcPct val="115000"/>
              </a:lnSpc>
              <a:defRPr sz="3300" b="1">
                <a:solidFill>
                  <a:srgbClr val="8A5021"/>
                </a:solidFill>
                <a:latin typeface="微軟正黑體"/>
              </a:defRPr>
            </a:pPr>
            <a:r>
              <a:rPr sz="3300">
                <a:solidFill>
                  <a:srgbClr val="8A5021"/>
                </a:solidFill>
              </a:rPr>
              <a:t>•</a:t>
            </a:r>
          </a:p>
        </p:txBody>
      </p:sp>
      <p:sp>
        <p:nvSpPr>
          <p:cNvPr id="12" name="TextBox 11"/>
          <p:cNvSpPr txBox="1"/>
          <p:nvPr/>
        </p:nvSpPr>
        <p:spPr>
          <a:xfrm>
            <a:off x="1280160" y="2926080"/>
            <a:ext cx="6400800" cy="640080"/>
          </a:xfrm>
          <a:prstGeom prst="rect">
            <a:avLst/>
          </a:prstGeom>
          <a:noFill/>
        </p:spPr>
        <p:txBody>
          <a:bodyPr wrap="square">
            <a:spAutoFit/>
          </a:bodyPr>
          <a:lstStyle/>
          <a:p>
            <a:pPr algn="l">
              <a:lnSpc>
                <a:spcPct val="115000"/>
              </a:lnSpc>
              <a:defRPr sz="3300" b="0">
                <a:solidFill>
                  <a:srgbClr val="2B2B2B"/>
                </a:solidFill>
                <a:latin typeface="微軟正黑體"/>
              </a:defRPr>
            </a:pPr>
            <a:r>
              <a:rPr sz="3300"/>
              <a:t>脫天然自己被建造</a:t>
            </a:r>
          </a:p>
        </p:txBody>
      </p:sp>
      <p:sp>
        <p:nvSpPr>
          <p:cNvPr id="15" name="Rectangle 14"/>
          <p:cNvSpPr/>
          <p:nvPr/>
        </p:nvSpPr>
        <p:spPr>
          <a:xfrm>
            <a:off x="640080" y="5394960"/>
            <a:ext cx="109728" cy="685800"/>
          </a:xfrm>
          <a:prstGeom prst="rect">
            <a:avLst/>
          </a:prstGeom>
          <a:solidFill>
            <a:srgbClr val="FB92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0" y="5029200"/>
            <a:ext cx="10972800" cy="1097280"/>
          </a:xfrm>
          <a:prstGeom prst="rect">
            <a:avLst/>
          </a:prstGeom>
          <a:noFill/>
        </p:spPr>
        <p:txBody>
          <a:bodyPr wrap="square">
            <a:spAutoFit/>
          </a:bodyPr>
          <a:lstStyle/>
          <a:p>
            <a:pPr algn="l">
              <a:lnSpc>
                <a:spcPct val="115000"/>
              </a:lnSpc>
              <a:defRPr sz="2400" b="1">
                <a:solidFill>
                  <a:srgbClr val="451A03"/>
                </a:solidFill>
                <a:latin typeface="微軟正黑體"/>
              </a:defRPr>
            </a:pPr>
            <a:r>
              <a:rPr sz="2400"/>
              <a:t>經文：這福音本是神的大能，要救一切信的人。（羅一16）</a:t>
            </a:r>
          </a:p>
        </p:txBody>
      </p:sp>
      <p:pic>
        <p:nvPicPr>
          <p:cNvPr id="17" name="Picture 16" descr="story_能_2.jpg"/>
          <p:cNvPicPr>
            <a:picLocks noChangeAspect="1"/>
          </p:cNvPicPr>
          <p:nvPr/>
        </p:nvPicPr>
        <p:blipFill>
          <a:blip r:embed="rId3"/>
          <a:stretch>
            <a:fillRect/>
          </a:stretch>
        </p:blipFill>
        <p:spPr>
          <a:xfrm>
            <a:off x="7955279" y="1463040"/>
            <a:ext cx="3566160" cy="329184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3" name="TextBox 2"/>
          <p:cNvSpPr txBox="1"/>
          <p:nvPr/>
        </p:nvSpPr>
        <p:spPr>
          <a:xfrm>
            <a:off x="548640" y="548640"/>
            <a:ext cx="11064240" cy="548640"/>
          </a:xfrm>
          <a:prstGeom prst="rect">
            <a:avLst/>
          </a:prstGeom>
          <a:noFill/>
        </p:spPr>
        <p:txBody>
          <a:bodyPr wrap="square">
            <a:spAutoFit/>
          </a:bodyPr>
          <a:lstStyle/>
          <a:p>
            <a:pPr algn="l">
              <a:lnSpc>
                <a:spcPct val="115000"/>
              </a:lnSpc>
              <a:defRPr sz="4000" b="1">
                <a:solidFill>
                  <a:srgbClr val="8A5021"/>
                </a:solidFill>
                <a:latin typeface="微軟正黑體"/>
              </a:defRPr>
            </a:pPr>
            <a:r>
              <a:rPr sz="4000" b="1">
                <a:solidFill>
                  <a:srgbClr val="8A5021"/>
                </a:solidFill>
              </a:rPr>
              <a:t>三不能惟耶穌能</a:t>
            </a:r>
          </a:p>
        </p:txBody>
      </p:sp>
      <p:sp>
        <p:nvSpPr>
          <p:cNvPr id="4" name="Rectangle 3"/>
          <p:cNvSpPr/>
          <p:nvPr/>
        </p:nvSpPr>
        <p:spPr>
          <a:xfrm>
            <a:off x="548640" y="1188720"/>
            <a:ext cx="11091672" cy="54864"/>
          </a:xfrm>
          <a:prstGeom prst="rect">
            <a:avLst/>
          </a:prstGeom>
          <a:solidFill>
            <a:srgbClr val="FB92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0" y="4389120"/>
            <a:ext cx="3200400" cy="2011680"/>
          </a:xfrm>
          <a:prstGeom prst="rect">
            <a:avLst/>
          </a:prstGeom>
          <a:noFill/>
        </p:spPr>
        <p:txBody>
          <a:bodyPr wrap="square">
            <a:spAutoFit/>
          </a:bodyPr>
          <a:lstStyle/>
          <a:p>
            <a:pPr algn="ctr">
              <a:lnSpc>
                <a:spcPct val="115000"/>
              </a:lnSpc>
              <a:defRPr sz="18000" b="1">
                <a:solidFill>
                  <a:srgbClr val="F7E8B8"/>
                </a:solidFill>
                <a:latin typeface="微軟正黑體"/>
              </a:defRPr>
            </a:pPr>
            <a:r>
              <a:rPr>
                <a:solidFill>
                  <a:srgbClr val="F7E8B8"/>
                </a:solidFill>
              </a:rPr>
              <a:t>能</a:t>
            </a:r>
          </a:p>
        </p:txBody>
      </p:sp>
      <p:sp>
        <p:nvSpPr>
          <p:cNvPr id="7" name="TextBox 6"/>
          <p:cNvSpPr txBox="1"/>
          <p:nvPr/>
        </p:nvSpPr>
        <p:spPr>
          <a:xfrm>
            <a:off x="822960" y="1463040"/>
            <a:ext cx="457200" cy="548640"/>
          </a:xfrm>
          <a:prstGeom prst="rect">
            <a:avLst/>
          </a:prstGeom>
          <a:noFill/>
        </p:spPr>
        <p:txBody>
          <a:bodyPr wrap="square">
            <a:spAutoFit/>
          </a:bodyPr>
          <a:lstStyle/>
          <a:p>
            <a:pPr algn="ctr">
              <a:lnSpc>
                <a:spcPct val="115000"/>
              </a:lnSpc>
              <a:defRPr sz="3300" b="1">
                <a:solidFill>
                  <a:srgbClr val="8A5021"/>
                </a:solidFill>
                <a:latin typeface="微軟正黑體"/>
              </a:defRPr>
            </a:pPr>
            <a:r>
              <a:rPr sz="3300">
                <a:solidFill>
                  <a:srgbClr val="8A5021"/>
                </a:solidFill>
              </a:rPr>
              <a:t>•</a:t>
            </a:r>
          </a:p>
        </p:txBody>
      </p:sp>
      <p:sp>
        <p:nvSpPr>
          <p:cNvPr id="8" name="TextBox 7"/>
          <p:cNvSpPr txBox="1"/>
          <p:nvPr/>
        </p:nvSpPr>
        <p:spPr>
          <a:xfrm>
            <a:off x="1280160" y="1463040"/>
            <a:ext cx="6400800" cy="640080"/>
          </a:xfrm>
          <a:prstGeom prst="rect">
            <a:avLst/>
          </a:prstGeom>
          <a:noFill/>
        </p:spPr>
        <p:txBody>
          <a:bodyPr wrap="square">
            <a:spAutoFit/>
          </a:bodyPr>
          <a:lstStyle/>
          <a:p>
            <a:pPr algn="l">
              <a:lnSpc>
                <a:spcPct val="115000"/>
              </a:lnSpc>
              <a:defRPr sz="3300" b="0">
                <a:solidFill>
                  <a:srgbClr val="2B2B2B"/>
                </a:solidFill>
                <a:latin typeface="微軟正黑體"/>
              </a:defRPr>
            </a:pPr>
            <a:r>
              <a:rPr sz="3300"/>
              <a:t>不能勝罪惡試探</a:t>
            </a:r>
          </a:p>
        </p:txBody>
      </p:sp>
      <p:sp>
        <p:nvSpPr>
          <p:cNvPr id="9" name="TextBox 8"/>
          <p:cNvSpPr txBox="1"/>
          <p:nvPr/>
        </p:nvSpPr>
        <p:spPr>
          <a:xfrm>
            <a:off x="822960" y="2194560"/>
            <a:ext cx="457200" cy="548640"/>
          </a:xfrm>
          <a:prstGeom prst="rect">
            <a:avLst/>
          </a:prstGeom>
          <a:noFill/>
        </p:spPr>
        <p:txBody>
          <a:bodyPr wrap="square">
            <a:spAutoFit/>
          </a:bodyPr>
          <a:lstStyle/>
          <a:p>
            <a:pPr algn="ctr">
              <a:lnSpc>
                <a:spcPct val="115000"/>
              </a:lnSpc>
              <a:defRPr sz="3300" b="1">
                <a:solidFill>
                  <a:srgbClr val="8A5021"/>
                </a:solidFill>
                <a:latin typeface="微軟正黑體"/>
              </a:defRPr>
            </a:pPr>
            <a:r>
              <a:rPr sz="3300">
                <a:solidFill>
                  <a:srgbClr val="8A5021"/>
                </a:solidFill>
              </a:rPr>
              <a:t>•</a:t>
            </a:r>
          </a:p>
        </p:txBody>
      </p:sp>
      <p:sp>
        <p:nvSpPr>
          <p:cNvPr id="10" name="TextBox 9"/>
          <p:cNvSpPr txBox="1"/>
          <p:nvPr/>
        </p:nvSpPr>
        <p:spPr>
          <a:xfrm>
            <a:off x="1280160" y="2194560"/>
            <a:ext cx="6400800" cy="640080"/>
          </a:xfrm>
          <a:prstGeom prst="rect">
            <a:avLst/>
          </a:prstGeom>
          <a:noFill/>
        </p:spPr>
        <p:txBody>
          <a:bodyPr wrap="square">
            <a:spAutoFit/>
          </a:bodyPr>
          <a:lstStyle/>
          <a:p>
            <a:pPr algn="l">
              <a:lnSpc>
                <a:spcPct val="115000"/>
              </a:lnSpc>
              <a:defRPr sz="3300" b="0">
                <a:solidFill>
                  <a:srgbClr val="2B2B2B"/>
                </a:solidFill>
                <a:latin typeface="微軟正黑體"/>
              </a:defRPr>
            </a:pPr>
            <a:r>
              <a:rPr sz="3300"/>
              <a:t>不能勝脾氣情慾</a:t>
            </a:r>
          </a:p>
        </p:txBody>
      </p:sp>
      <p:sp>
        <p:nvSpPr>
          <p:cNvPr id="11" name="TextBox 10"/>
          <p:cNvSpPr txBox="1"/>
          <p:nvPr/>
        </p:nvSpPr>
        <p:spPr>
          <a:xfrm>
            <a:off x="822960" y="2926080"/>
            <a:ext cx="457200" cy="548640"/>
          </a:xfrm>
          <a:prstGeom prst="rect">
            <a:avLst/>
          </a:prstGeom>
          <a:noFill/>
        </p:spPr>
        <p:txBody>
          <a:bodyPr wrap="square">
            <a:spAutoFit/>
          </a:bodyPr>
          <a:lstStyle/>
          <a:p>
            <a:pPr algn="ctr">
              <a:lnSpc>
                <a:spcPct val="115000"/>
              </a:lnSpc>
              <a:defRPr sz="3300" b="1">
                <a:solidFill>
                  <a:srgbClr val="8A5021"/>
                </a:solidFill>
                <a:latin typeface="微軟正黑體"/>
              </a:defRPr>
            </a:pPr>
            <a:r>
              <a:rPr sz="3300">
                <a:solidFill>
                  <a:srgbClr val="8A5021"/>
                </a:solidFill>
              </a:rPr>
              <a:t>•</a:t>
            </a:r>
          </a:p>
        </p:txBody>
      </p:sp>
      <p:sp>
        <p:nvSpPr>
          <p:cNvPr id="12" name="TextBox 11"/>
          <p:cNvSpPr txBox="1"/>
          <p:nvPr/>
        </p:nvSpPr>
        <p:spPr>
          <a:xfrm>
            <a:off x="1280160" y="2926080"/>
            <a:ext cx="6400800" cy="640080"/>
          </a:xfrm>
          <a:prstGeom prst="rect">
            <a:avLst/>
          </a:prstGeom>
          <a:noFill/>
        </p:spPr>
        <p:txBody>
          <a:bodyPr wrap="square">
            <a:spAutoFit/>
          </a:bodyPr>
          <a:lstStyle/>
          <a:p>
            <a:pPr algn="l">
              <a:lnSpc>
                <a:spcPct val="115000"/>
              </a:lnSpc>
              <a:defRPr sz="3300" b="0">
                <a:solidFill>
                  <a:srgbClr val="2B2B2B"/>
                </a:solidFill>
                <a:latin typeface="微軟正黑體"/>
              </a:defRPr>
            </a:pPr>
            <a:r>
              <a:rPr sz="3300"/>
              <a:t>不能勝過死亡</a:t>
            </a:r>
          </a:p>
        </p:txBody>
      </p:sp>
      <p:sp>
        <p:nvSpPr>
          <p:cNvPr id="15" name="Rectangle 14"/>
          <p:cNvSpPr/>
          <p:nvPr/>
        </p:nvSpPr>
        <p:spPr>
          <a:xfrm>
            <a:off x="640080" y="5394960"/>
            <a:ext cx="109728" cy="685800"/>
          </a:xfrm>
          <a:prstGeom prst="rect">
            <a:avLst/>
          </a:prstGeom>
          <a:solidFill>
            <a:srgbClr val="FB92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0" y="5029200"/>
            <a:ext cx="10972800" cy="1097280"/>
          </a:xfrm>
          <a:prstGeom prst="rect">
            <a:avLst/>
          </a:prstGeom>
          <a:noFill/>
        </p:spPr>
        <p:txBody>
          <a:bodyPr wrap="square">
            <a:spAutoFit/>
          </a:bodyPr>
          <a:lstStyle/>
          <a:p>
            <a:pPr algn="l">
              <a:lnSpc>
                <a:spcPct val="115000"/>
              </a:lnSpc>
              <a:defRPr sz="2400" b="1">
                <a:solidFill>
                  <a:srgbClr val="451A03"/>
                </a:solidFill>
                <a:latin typeface="微軟正黑體"/>
              </a:defRPr>
            </a:pPr>
            <a:r>
              <a:rPr sz="2400"/>
              <a:t>經文：在人這是不能的，在神凡事都能。（太十九26）那藉著祂來到神面前的人，祂都能拯救到底。（來七25）</a:t>
            </a:r>
          </a:p>
        </p:txBody>
      </p:sp>
      <p:pic>
        <p:nvPicPr>
          <p:cNvPr id="17" name="Picture 16" descr="story_能_3.jpg"/>
          <p:cNvPicPr>
            <a:picLocks noChangeAspect="1"/>
          </p:cNvPicPr>
          <p:nvPr/>
        </p:nvPicPr>
        <p:blipFill>
          <a:blip r:embed="rId3"/>
          <a:stretch>
            <a:fillRect/>
          </a:stretch>
        </p:blipFill>
        <p:spPr>
          <a:xfrm>
            <a:off x="7955279" y="1463040"/>
            <a:ext cx="3566160" cy="329184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3" name="TextBox 2"/>
          <p:cNvSpPr txBox="1"/>
          <p:nvPr/>
        </p:nvSpPr>
        <p:spPr>
          <a:xfrm>
            <a:off x="548640" y="548640"/>
            <a:ext cx="11064240" cy="548640"/>
          </a:xfrm>
          <a:prstGeom prst="rect">
            <a:avLst/>
          </a:prstGeom>
          <a:noFill/>
        </p:spPr>
        <p:txBody>
          <a:bodyPr wrap="square">
            <a:spAutoFit/>
          </a:bodyPr>
          <a:lstStyle/>
          <a:p>
            <a:pPr algn="l">
              <a:lnSpc>
                <a:spcPct val="115000"/>
              </a:lnSpc>
              <a:defRPr sz="4000" b="1">
                <a:solidFill>
                  <a:srgbClr val="8A5021"/>
                </a:solidFill>
                <a:latin typeface="微軟正黑體"/>
              </a:defRPr>
            </a:pPr>
            <a:r>
              <a:rPr sz="4000" b="1">
                <a:solidFill>
                  <a:srgbClr val="8A5021"/>
                </a:solidFill>
              </a:rPr>
              <a:t>生命之靈律釋放</a:t>
            </a:r>
          </a:p>
        </p:txBody>
      </p:sp>
      <p:sp>
        <p:nvSpPr>
          <p:cNvPr id="4" name="Rectangle 3"/>
          <p:cNvSpPr/>
          <p:nvPr/>
        </p:nvSpPr>
        <p:spPr>
          <a:xfrm>
            <a:off x="548640" y="1188720"/>
            <a:ext cx="11091672" cy="54864"/>
          </a:xfrm>
          <a:prstGeom prst="rect">
            <a:avLst/>
          </a:prstGeom>
          <a:solidFill>
            <a:srgbClr val="FB92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0" y="4389120"/>
            <a:ext cx="3200400" cy="2011680"/>
          </a:xfrm>
          <a:prstGeom prst="rect">
            <a:avLst/>
          </a:prstGeom>
          <a:noFill/>
        </p:spPr>
        <p:txBody>
          <a:bodyPr wrap="square">
            <a:spAutoFit/>
          </a:bodyPr>
          <a:lstStyle/>
          <a:p>
            <a:pPr algn="ctr">
              <a:lnSpc>
                <a:spcPct val="115000"/>
              </a:lnSpc>
              <a:defRPr sz="18000" b="1">
                <a:solidFill>
                  <a:srgbClr val="F7E8B8"/>
                </a:solidFill>
                <a:latin typeface="微軟正黑體"/>
              </a:defRPr>
            </a:pPr>
            <a:r>
              <a:rPr>
                <a:solidFill>
                  <a:srgbClr val="F7E8B8"/>
                </a:solidFill>
              </a:rPr>
              <a:t>能</a:t>
            </a:r>
          </a:p>
        </p:txBody>
      </p:sp>
      <p:sp>
        <p:nvSpPr>
          <p:cNvPr id="7" name="TextBox 6"/>
          <p:cNvSpPr txBox="1"/>
          <p:nvPr/>
        </p:nvSpPr>
        <p:spPr>
          <a:xfrm>
            <a:off x="822960" y="1463040"/>
            <a:ext cx="457200" cy="548640"/>
          </a:xfrm>
          <a:prstGeom prst="rect">
            <a:avLst/>
          </a:prstGeom>
          <a:noFill/>
        </p:spPr>
        <p:txBody>
          <a:bodyPr wrap="square">
            <a:spAutoFit/>
          </a:bodyPr>
          <a:lstStyle/>
          <a:p>
            <a:pPr algn="ctr">
              <a:lnSpc>
                <a:spcPct val="115000"/>
              </a:lnSpc>
              <a:defRPr sz="3300" b="1">
                <a:solidFill>
                  <a:srgbClr val="8A5021"/>
                </a:solidFill>
                <a:latin typeface="微軟正黑體"/>
              </a:defRPr>
            </a:pPr>
            <a:r>
              <a:rPr sz="3300">
                <a:solidFill>
                  <a:srgbClr val="8A5021"/>
                </a:solidFill>
              </a:rPr>
              <a:t>•</a:t>
            </a:r>
          </a:p>
        </p:txBody>
      </p:sp>
      <p:sp>
        <p:nvSpPr>
          <p:cNvPr id="8" name="TextBox 7"/>
          <p:cNvSpPr txBox="1"/>
          <p:nvPr/>
        </p:nvSpPr>
        <p:spPr>
          <a:xfrm>
            <a:off x="1280160" y="1463040"/>
            <a:ext cx="6400800" cy="640080"/>
          </a:xfrm>
          <a:prstGeom prst="rect">
            <a:avLst/>
          </a:prstGeom>
          <a:noFill/>
        </p:spPr>
        <p:txBody>
          <a:bodyPr wrap="square">
            <a:spAutoFit/>
          </a:bodyPr>
          <a:lstStyle/>
          <a:p>
            <a:pPr algn="l">
              <a:lnSpc>
                <a:spcPct val="115000"/>
              </a:lnSpc>
              <a:defRPr sz="3300" b="0">
                <a:solidFill>
                  <a:srgbClr val="2B2B2B"/>
                </a:solidFill>
                <a:latin typeface="微軟正黑體"/>
              </a:defRPr>
            </a:pPr>
            <a:r>
              <a:rPr sz="3300"/>
              <a:t>罪律使人作罪奴僕</a:t>
            </a:r>
          </a:p>
        </p:txBody>
      </p:sp>
      <p:sp>
        <p:nvSpPr>
          <p:cNvPr id="9" name="TextBox 8"/>
          <p:cNvSpPr txBox="1"/>
          <p:nvPr/>
        </p:nvSpPr>
        <p:spPr>
          <a:xfrm>
            <a:off x="822960" y="2194560"/>
            <a:ext cx="457200" cy="548640"/>
          </a:xfrm>
          <a:prstGeom prst="rect">
            <a:avLst/>
          </a:prstGeom>
          <a:noFill/>
        </p:spPr>
        <p:txBody>
          <a:bodyPr wrap="square">
            <a:spAutoFit/>
          </a:bodyPr>
          <a:lstStyle/>
          <a:p>
            <a:pPr algn="ctr">
              <a:lnSpc>
                <a:spcPct val="115000"/>
              </a:lnSpc>
              <a:defRPr sz="3300" b="1">
                <a:solidFill>
                  <a:srgbClr val="8A5021"/>
                </a:solidFill>
                <a:latin typeface="微軟正黑體"/>
              </a:defRPr>
            </a:pPr>
            <a:r>
              <a:rPr sz="3300">
                <a:solidFill>
                  <a:srgbClr val="8A5021"/>
                </a:solidFill>
              </a:rPr>
              <a:t>•</a:t>
            </a:r>
          </a:p>
        </p:txBody>
      </p:sp>
      <p:sp>
        <p:nvSpPr>
          <p:cNvPr id="10" name="TextBox 9"/>
          <p:cNvSpPr txBox="1"/>
          <p:nvPr/>
        </p:nvSpPr>
        <p:spPr>
          <a:xfrm>
            <a:off x="1280160" y="2194560"/>
            <a:ext cx="6400800" cy="640080"/>
          </a:xfrm>
          <a:prstGeom prst="rect">
            <a:avLst/>
          </a:prstGeom>
          <a:noFill/>
        </p:spPr>
        <p:txBody>
          <a:bodyPr wrap="square">
            <a:spAutoFit/>
          </a:bodyPr>
          <a:lstStyle/>
          <a:p>
            <a:pPr algn="l">
              <a:lnSpc>
                <a:spcPct val="115000"/>
              </a:lnSpc>
              <a:defRPr sz="3300" b="0">
                <a:solidFill>
                  <a:srgbClr val="2B2B2B"/>
                </a:solidFill>
                <a:latin typeface="微軟正黑體"/>
              </a:defRPr>
            </a:pPr>
            <a:r>
              <a:rPr sz="3300"/>
              <a:t>死律使人衰弱失感覺</a:t>
            </a:r>
          </a:p>
        </p:txBody>
      </p:sp>
      <p:sp>
        <p:nvSpPr>
          <p:cNvPr id="11" name="TextBox 10"/>
          <p:cNvSpPr txBox="1"/>
          <p:nvPr/>
        </p:nvSpPr>
        <p:spPr>
          <a:xfrm>
            <a:off x="822960" y="2926080"/>
            <a:ext cx="457200" cy="548640"/>
          </a:xfrm>
          <a:prstGeom prst="rect">
            <a:avLst/>
          </a:prstGeom>
          <a:noFill/>
        </p:spPr>
        <p:txBody>
          <a:bodyPr wrap="square">
            <a:spAutoFit/>
          </a:bodyPr>
          <a:lstStyle/>
          <a:p>
            <a:pPr algn="ctr">
              <a:lnSpc>
                <a:spcPct val="115000"/>
              </a:lnSpc>
              <a:defRPr sz="3300" b="1">
                <a:solidFill>
                  <a:srgbClr val="8A5021"/>
                </a:solidFill>
                <a:latin typeface="微軟正黑體"/>
              </a:defRPr>
            </a:pPr>
            <a:r>
              <a:rPr sz="3300">
                <a:solidFill>
                  <a:srgbClr val="8A5021"/>
                </a:solidFill>
              </a:rPr>
              <a:t>•</a:t>
            </a:r>
          </a:p>
        </p:txBody>
      </p:sp>
      <p:sp>
        <p:nvSpPr>
          <p:cNvPr id="12" name="TextBox 11"/>
          <p:cNvSpPr txBox="1"/>
          <p:nvPr/>
        </p:nvSpPr>
        <p:spPr>
          <a:xfrm>
            <a:off x="1280160" y="2926080"/>
            <a:ext cx="6400800" cy="640080"/>
          </a:xfrm>
          <a:prstGeom prst="rect">
            <a:avLst/>
          </a:prstGeom>
          <a:noFill/>
        </p:spPr>
        <p:txBody>
          <a:bodyPr wrap="square">
            <a:spAutoFit/>
          </a:bodyPr>
          <a:lstStyle/>
          <a:p>
            <a:pPr algn="l">
              <a:lnSpc>
                <a:spcPct val="115000"/>
              </a:lnSpc>
              <a:defRPr sz="3300" b="0">
                <a:solidFill>
                  <a:srgbClr val="2B2B2B"/>
                </a:solidFill>
                <a:latin typeface="微軟正黑體"/>
              </a:defRPr>
            </a:pPr>
            <a:r>
              <a:rPr sz="3300"/>
              <a:t>生命靈律釋放脫罪死</a:t>
            </a:r>
          </a:p>
        </p:txBody>
      </p:sp>
      <p:sp>
        <p:nvSpPr>
          <p:cNvPr id="15" name="Rectangle 14"/>
          <p:cNvSpPr/>
          <p:nvPr/>
        </p:nvSpPr>
        <p:spPr>
          <a:xfrm>
            <a:off x="640080" y="5394960"/>
            <a:ext cx="109728" cy="685800"/>
          </a:xfrm>
          <a:prstGeom prst="rect">
            <a:avLst/>
          </a:prstGeom>
          <a:solidFill>
            <a:srgbClr val="FB92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0" y="5029200"/>
            <a:ext cx="10972800" cy="1097280"/>
          </a:xfrm>
          <a:prstGeom prst="rect">
            <a:avLst/>
          </a:prstGeom>
          <a:noFill/>
        </p:spPr>
        <p:txBody>
          <a:bodyPr wrap="square">
            <a:spAutoFit/>
          </a:bodyPr>
          <a:lstStyle/>
          <a:p>
            <a:pPr algn="l">
              <a:lnSpc>
                <a:spcPct val="115000"/>
              </a:lnSpc>
              <a:defRPr sz="2400" b="1">
                <a:solidFill>
                  <a:srgbClr val="451A03"/>
                </a:solidFill>
                <a:latin typeface="微軟正黑體"/>
              </a:defRPr>
            </a:pPr>
            <a:r>
              <a:rPr sz="2400"/>
              <a:t>經文：因為生命之靈的律，在基督耶穌裏已經釋放了我，使我脫離了罪與死的律。（羅八2）神能照我的福音，堅固你們。（羅十六25）</a:t>
            </a:r>
          </a:p>
        </p:txBody>
      </p:sp>
      <p:pic>
        <p:nvPicPr>
          <p:cNvPr id="17" name="Picture 16" descr="story_能_4.jpg"/>
          <p:cNvPicPr>
            <a:picLocks noChangeAspect="1"/>
          </p:cNvPicPr>
          <p:nvPr/>
        </p:nvPicPr>
        <p:blipFill>
          <a:blip r:embed="rId3"/>
          <a:stretch>
            <a:fillRect/>
          </a:stretch>
        </p:blipFill>
        <p:spPr>
          <a:xfrm>
            <a:off x="7955279" y="1463040"/>
            <a:ext cx="3566160" cy="329184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28600"/>
            <a:ext cx="11064240" cy="365760"/>
          </a:xfrm>
          <a:prstGeom prst="rect">
            <a:avLst/>
          </a:prstGeom>
          <a:noFill/>
        </p:spPr>
        <p:txBody>
          <a:bodyPr wrap="square">
            <a:spAutoFit/>
          </a:bodyPr>
          <a:lstStyle/>
          <a:p>
            <a:pPr algn="l">
              <a:lnSpc>
                <a:spcPct val="115000"/>
              </a:lnSpc>
              <a:defRPr sz="1800" b="1">
                <a:solidFill>
                  <a:srgbClr val="451A03"/>
                </a:solidFill>
                <a:latin typeface="微軟正黑體"/>
              </a:defRPr>
            </a:pPr>
            <a:r>
              <a:rPr sz="1800"/>
              <a:t>回到經文 · 本篇一覽</a:t>
            </a:r>
          </a:p>
        </p:txBody>
      </p:sp>
      <p:sp>
        <p:nvSpPr>
          <p:cNvPr id="3" name="TextBox 2"/>
          <p:cNvSpPr txBox="1"/>
          <p:nvPr/>
        </p:nvSpPr>
        <p:spPr>
          <a:xfrm>
            <a:off x="548640" y="548640"/>
            <a:ext cx="11064240" cy="548640"/>
          </a:xfrm>
          <a:prstGeom prst="rect">
            <a:avLst/>
          </a:prstGeom>
          <a:noFill/>
        </p:spPr>
        <p:txBody>
          <a:bodyPr wrap="square">
            <a:spAutoFit/>
          </a:bodyPr>
          <a:lstStyle/>
          <a:p>
            <a:pPr algn="l">
              <a:lnSpc>
                <a:spcPct val="115000"/>
              </a:lnSpc>
              <a:defRPr sz="4200" b="1">
                <a:solidFill>
                  <a:srgbClr val="8A5021"/>
                </a:solidFill>
                <a:latin typeface="微軟正黑體"/>
              </a:defRPr>
            </a:pPr>
            <a:r>
              <a:rPr sz="4200" b="1">
                <a:solidFill>
                  <a:srgbClr val="8A5021"/>
                </a:solidFill>
              </a:rPr>
              <a:t>「能」的鑰字經文</a:t>
            </a:r>
          </a:p>
        </p:txBody>
      </p:sp>
      <p:sp>
        <p:nvSpPr>
          <p:cNvPr id="4" name="Rectangle 3"/>
          <p:cNvSpPr/>
          <p:nvPr/>
        </p:nvSpPr>
        <p:spPr>
          <a:xfrm>
            <a:off x="548640" y="1188720"/>
            <a:ext cx="11091672" cy="54864"/>
          </a:xfrm>
          <a:prstGeom prst="rect">
            <a:avLst/>
          </a:prstGeom>
          <a:solidFill>
            <a:srgbClr val="FB92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1417320"/>
            <a:ext cx="10515600" cy="960120"/>
          </a:xfrm>
          <a:prstGeom prst="rect">
            <a:avLst/>
          </a:prstGeom>
          <a:noFill/>
        </p:spPr>
        <p:txBody>
          <a:bodyPr wrap="square">
            <a:spAutoFit/>
          </a:bodyPr>
          <a:lstStyle/>
          <a:p>
            <a:pPr algn="l">
              <a:lnSpc>
                <a:spcPct val="110000"/>
              </a:lnSpc>
              <a:defRPr sz="2400" b="0">
                <a:solidFill>
                  <a:srgbClr val="2B2B2B"/>
                </a:solidFill>
                <a:latin typeface="微軟正黑體"/>
              </a:defRPr>
            </a:pPr>
            <a:r>
              <a:rPr sz="2400"/>
              <a:t>立志為善由得我，只是行出來由不得我（羅七18）</a:t>
            </a:r>
          </a:p>
        </p:txBody>
      </p:sp>
      <p:sp>
        <p:nvSpPr>
          <p:cNvPr id="7" name="TextBox 6"/>
          <p:cNvSpPr txBox="1"/>
          <p:nvPr/>
        </p:nvSpPr>
        <p:spPr>
          <a:xfrm>
            <a:off x="822960" y="2468880"/>
            <a:ext cx="10515600" cy="960120"/>
          </a:xfrm>
          <a:prstGeom prst="rect">
            <a:avLst/>
          </a:prstGeom>
          <a:noFill/>
        </p:spPr>
        <p:txBody>
          <a:bodyPr wrap="square">
            <a:spAutoFit/>
          </a:bodyPr>
          <a:lstStyle/>
          <a:p>
            <a:pPr algn="l">
              <a:lnSpc>
                <a:spcPct val="110000"/>
              </a:lnSpc>
              <a:defRPr sz="2400" b="0">
                <a:solidFill>
                  <a:srgbClr val="2B2B2B"/>
                </a:solidFill>
                <a:latin typeface="微軟正黑體"/>
              </a:defRPr>
            </a:pPr>
            <a:r>
              <a:rPr sz="2400"/>
              <a:t>這福音本是神的大能，要救一切信的人（羅一16）</a:t>
            </a:r>
          </a:p>
        </p:txBody>
      </p:sp>
      <p:sp>
        <p:nvSpPr>
          <p:cNvPr id="8" name="TextBox 7"/>
          <p:cNvSpPr txBox="1"/>
          <p:nvPr/>
        </p:nvSpPr>
        <p:spPr>
          <a:xfrm>
            <a:off x="822960" y="3520439"/>
            <a:ext cx="10515600" cy="960120"/>
          </a:xfrm>
          <a:prstGeom prst="rect">
            <a:avLst/>
          </a:prstGeom>
          <a:noFill/>
        </p:spPr>
        <p:txBody>
          <a:bodyPr wrap="square">
            <a:spAutoFit/>
          </a:bodyPr>
          <a:lstStyle/>
          <a:p>
            <a:pPr algn="l">
              <a:lnSpc>
                <a:spcPct val="110000"/>
              </a:lnSpc>
              <a:defRPr sz="2400" b="0">
                <a:solidFill>
                  <a:srgbClr val="2B2B2B"/>
                </a:solidFill>
                <a:latin typeface="微軟正黑體"/>
              </a:defRPr>
            </a:pPr>
            <a:r>
              <a:rPr sz="2400"/>
              <a:t>生命之靈的律，在基督耶穌裏已經釋放了我（羅八2）</a:t>
            </a:r>
          </a:p>
        </p:txBody>
      </p:sp>
      <p:sp>
        <p:nvSpPr>
          <p:cNvPr id="9" name="TextBox 8"/>
          <p:cNvSpPr txBox="1"/>
          <p:nvPr/>
        </p:nvSpPr>
        <p:spPr>
          <a:xfrm>
            <a:off x="822960" y="5852160"/>
            <a:ext cx="10515600" cy="365760"/>
          </a:xfrm>
          <a:prstGeom prst="rect">
            <a:avLst/>
          </a:prstGeom>
          <a:noFill/>
        </p:spPr>
        <p:txBody>
          <a:bodyPr wrap="square">
            <a:spAutoFit/>
          </a:bodyPr>
          <a:lstStyle/>
          <a:p>
            <a:pPr algn="l">
              <a:lnSpc>
                <a:spcPct val="115000"/>
              </a:lnSpc>
              <a:defRPr sz="2000" b="1">
                <a:solidFill>
                  <a:srgbClr val="451A03"/>
                </a:solidFill>
                <a:latin typeface="微軟正黑體"/>
              </a:defRPr>
            </a:pPr>
            <a:r>
              <a:rPr sz="2000"/>
              <a:t>這些經文，就是剛才信息的根據。</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6DE"/>
        </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pPr algn="l">
              <a:lnSpc>
                <a:spcPct val="115000"/>
              </a:lnSpc>
              <a:defRPr sz="2000" b="1">
                <a:solidFill>
                  <a:srgbClr val="8A5021"/>
                </a:solidFill>
                <a:latin typeface="微軟正黑體"/>
              </a:defRPr>
            </a:pPr>
            <a:r>
              <a:rPr sz="2000">
                <a:solidFill>
                  <a:srgbClr val="8A5021"/>
                </a:solidFill>
              </a:rPr>
              <a:t>福音的答案 · 大能的瀑布</a:t>
            </a:r>
          </a:p>
        </p:txBody>
      </p:sp>
      <p:sp>
        <p:nvSpPr>
          <p:cNvPr id="3" name="TextBox 2"/>
          <p:cNvSpPr txBox="1"/>
          <p:nvPr/>
        </p:nvSpPr>
        <p:spPr>
          <a:xfrm>
            <a:off x="731520" y="914400"/>
            <a:ext cx="10698480" cy="731520"/>
          </a:xfrm>
          <a:prstGeom prst="rect">
            <a:avLst/>
          </a:prstGeom>
          <a:noFill/>
        </p:spPr>
        <p:txBody>
          <a:bodyPr wrap="square">
            <a:spAutoFit/>
          </a:bodyPr>
          <a:lstStyle/>
          <a:p>
            <a:pPr algn="l">
              <a:lnSpc>
                <a:spcPct val="115000"/>
              </a:lnSpc>
              <a:defRPr sz="4600" b="1">
                <a:solidFill>
                  <a:srgbClr val="8A5021"/>
                </a:solidFill>
                <a:latin typeface="微軟正黑體"/>
              </a:defRPr>
            </a:pPr>
            <a:r>
              <a:rPr sz="4600" b="1">
                <a:solidFill>
                  <a:srgbClr val="8A5021"/>
                </a:solidFill>
              </a:rPr>
              <a:t>福音的答案</a:t>
            </a:r>
          </a:p>
        </p:txBody>
      </p:sp>
      <p:sp>
        <p:nvSpPr>
          <p:cNvPr id="4" name="Rectangle 3"/>
          <p:cNvSpPr/>
          <p:nvPr/>
        </p:nvSpPr>
        <p:spPr>
          <a:xfrm>
            <a:off x="731520" y="1783080"/>
            <a:ext cx="10698480" cy="54864"/>
          </a:xfrm>
          <a:prstGeom prst="rect">
            <a:avLst/>
          </a:prstGeom>
          <a:solidFill>
            <a:srgbClr val="FB92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2194560"/>
            <a:ext cx="457200" cy="548640"/>
          </a:xfrm>
          <a:prstGeom prst="rect">
            <a:avLst/>
          </a:prstGeom>
          <a:noFill/>
        </p:spPr>
        <p:txBody>
          <a:bodyPr wrap="square">
            <a:spAutoFit/>
          </a:bodyPr>
          <a:lstStyle/>
          <a:p>
            <a:pPr algn="ctr">
              <a:lnSpc>
                <a:spcPct val="115000"/>
              </a:lnSpc>
              <a:defRPr sz="3300" b="1">
                <a:solidFill>
                  <a:srgbClr val="8A5021"/>
                </a:solidFill>
                <a:latin typeface="微軟正黑體"/>
              </a:defRPr>
            </a:pPr>
            <a:r>
              <a:rPr sz="3300">
                <a:solidFill>
                  <a:srgbClr val="8A5021"/>
                </a:solidFill>
              </a:rPr>
              <a:t>•</a:t>
            </a:r>
          </a:p>
        </p:txBody>
      </p:sp>
      <p:sp>
        <p:nvSpPr>
          <p:cNvPr id="6" name="TextBox 5"/>
          <p:cNvSpPr txBox="1"/>
          <p:nvPr/>
        </p:nvSpPr>
        <p:spPr>
          <a:xfrm>
            <a:off x="1280160" y="2194560"/>
            <a:ext cx="6583680" cy="640080"/>
          </a:xfrm>
          <a:prstGeom prst="rect">
            <a:avLst/>
          </a:prstGeom>
          <a:noFill/>
        </p:spPr>
        <p:txBody>
          <a:bodyPr wrap="square">
            <a:spAutoFit/>
          </a:bodyPr>
          <a:lstStyle/>
          <a:p>
            <a:pPr algn="l">
              <a:lnSpc>
                <a:spcPct val="115000"/>
              </a:lnSpc>
              <a:defRPr sz="3300" b="0">
                <a:solidFill>
                  <a:srgbClr val="451A03"/>
                </a:solidFill>
                <a:latin typeface="微軟正黑體"/>
              </a:defRPr>
            </a:pPr>
            <a:r>
              <a:rPr sz="3300">
                <a:solidFill>
                  <a:srgbClr val="451A03"/>
                </a:solidFill>
              </a:rPr>
              <a:t>在人不能在神凡事能</a:t>
            </a:r>
          </a:p>
        </p:txBody>
      </p:sp>
      <p:sp>
        <p:nvSpPr>
          <p:cNvPr id="7" name="TextBox 6"/>
          <p:cNvSpPr txBox="1"/>
          <p:nvPr/>
        </p:nvSpPr>
        <p:spPr>
          <a:xfrm>
            <a:off x="822960" y="2926080"/>
            <a:ext cx="457200" cy="548640"/>
          </a:xfrm>
          <a:prstGeom prst="rect">
            <a:avLst/>
          </a:prstGeom>
          <a:noFill/>
        </p:spPr>
        <p:txBody>
          <a:bodyPr wrap="square">
            <a:spAutoFit/>
          </a:bodyPr>
          <a:lstStyle/>
          <a:p>
            <a:pPr algn="ctr">
              <a:lnSpc>
                <a:spcPct val="115000"/>
              </a:lnSpc>
              <a:defRPr sz="3300" b="1">
                <a:solidFill>
                  <a:srgbClr val="8A5021"/>
                </a:solidFill>
                <a:latin typeface="微軟正黑體"/>
              </a:defRPr>
            </a:pPr>
            <a:r>
              <a:rPr sz="3300">
                <a:solidFill>
                  <a:srgbClr val="8A5021"/>
                </a:solidFill>
              </a:rPr>
              <a:t>•</a:t>
            </a:r>
          </a:p>
        </p:txBody>
      </p:sp>
      <p:sp>
        <p:nvSpPr>
          <p:cNvPr id="8" name="TextBox 7"/>
          <p:cNvSpPr txBox="1"/>
          <p:nvPr/>
        </p:nvSpPr>
        <p:spPr>
          <a:xfrm>
            <a:off x="1280160" y="2926080"/>
            <a:ext cx="6583680" cy="640080"/>
          </a:xfrm>
          <a:prstGeom prst="rect">
            <a:avLst/>
          </a:prstGeom>
          <a:noFill/>
        </p:spPr>
        <p:txBody>
          <a:bodyPr wrap="square">
            <a:spAutoFit/>
          </a:bodyPr>
          <a:lstStyle/>
          <a:p>
            <a:pPr algn="l">
              <a:lnSpc>
                <a:spcPct val="115000"/>
              </a:lnSpc>
              <a:defRPr sz="3300" b="0">
                <a:solidFill>
                  <a:srgbClr val="451A03"/>
                </a:solidFill>
                <a:latin typeface="微軟正黑體"/>
              </a:defRPr>
            </a:pPr>
            <a:r>
              <a:rPr sz="3300">
                <a:solidFill>
                  <a:srgbClr val="451A03"/>
                </a:solidFill>
              </a:rPr>
              <a:t>相信就得大能生命</a:t>
            </a:r>
          </a:p>
        </p:txBody>
      </p:sp>
      <p:sp>
        <p:nvSpPr>
          <p:cNvPr id="9" name="TextBox 8"/>
          <p:cNvSpPr txBox="1"/>
          <p:nvPr/>
        </p:nvSpPr>
        <p:spPr>
          <a:xfrm>
            <a:off x="822960" y="3657600"/>
            <a:ext cx="457200" cy="548640"/>
          </a:xfrm>
          <a:prstGeom prst="rect">
            <a:avLst/>
          </a:prstGeom>
          <a:noFill/>
        </p:spPr>
        <p:txBody>
          <a:bodyPr wrap="square">
            <a:spAutoFit/>
          </a:bodyPr>
          <a:lstStyle/>
          <a:p>
            <a:pPr algn="ctr">
              <a:lnSpc>
                <a:spcPct val="115000"/>
              </a:lnSpc>
              <a:defRPr sz="3300" b="1">
                <a:solidFill>
                  <a:srgbClr val="8A5021"/>
                </a:solidFill>
                <a:latin typeface="微軟正黑體"/>
              </a:defRPr>
            </a:pPr>
            <a:r>
              <a:rPr sz="3300">
                <a:solidFill>
                  <a:srgbClr val="8A5021"/>
                </a:solidFill>
              </a:rPr>
              <a:t>•</a:t>
            </a:r>
          </a:p>
        </p:txBody>
      </p:sp>
      <p:sp>
        <p:nvSpPr>
          <p:cNvPr id="10" name="TextBox 9"/>
          <p:cNvSpPr txBox="1"/>
          <p:nvPr/>
        </p:nvSpPr>
        <p:spPr>
          <a:xfrm>
            <a:off x="1280160" y="3657600"/>
            <a:ext cx="6583680" cy="640080"/>
          </a:xfrm>
          <a:prstGeom prst="rect">
            <a:avLst/>
          </a:prstGeom>
          <a:noFill/>
        </p:spPr>
        <p:txBody>
          <a:bodyPr wrap="square">
            <a:spAutoFit/>
          </a:bodyPr>
          <a:lstStyle/>
          <a:p>
            <a:pPr algn="l">
              <a:lnSpc>
                <a:spcPct val="115000"/>
              </a:lnSpc>
              <a:defRPr sz="3300" b="0">
                <a:solidFill>
                  <a:srgbClr val="451A03"/>
                </a:solidFill>
                <a:latin typeface="微軟正黑體"/>
              </a:defRPr>
            </a:pPr>
            <a:r>
              <a:rPr sz="3300">
                <a:solidFill>
                  <a:srgbClr val="451A03"/>
                </a:solidFill>
              </a:rPr>
              <a:t>輭弱的人剛強起來</a:t>
            </a:r>
          </a:p>
        </p:txBody>
      </p:sp>
      <p:sp>
        <p:nvSpPr>
          <p:cNvPr id="11" name="TextBox 10"/>
          <p:cNvSpPr txBox="1"/>
          <p:nvPr/>
        </p:nvSpPr>
        <p:spPr>
          <a:xfrm>
            <a:off x="822960" y="4572000"/>
            <a:ext cx="6858000" cy="1463040"/>
          </a:xfrm>
          <a:prstGeom prst="rect">
            <a:avLst/>
          </a:prstGeom>
          <a:noFill/>
        </p:spPr>
        <p:txBody>
          <a:bodyPr wrap="square">
            <a:spAutoFit/>
          </a:bodyPr>
          <a:lstStyle/>
          <a:p>
            <a:pPr algn="l">
              <a:lnSpc>
                <a:spcPct val="125000"/>
              </a:lnSpc>
              <a:defRPr sz="2400" b="0">
                <a:solidFill>
                  <a:srgbClr val="451A03"/>
                </a:solidFill>
                <a:latin typeface="微軟正黑體"/>
              </a:defRPr>
            </a:pPr>
            <a:r>
              <a:rPr sz="2400">
                <a:solidFill>
                  <a:srgbClr val="451A03"/>
                </a:solidFill>
              </a:rPr>
              <a:t>死在罪中的輭弱人，不是任何辦法、努力或宗教所能救治的，必須這位活的救主耶穌基督用祂大能的生命纔能救人脫離死亡和輭弱。只要今天相信祂、接受祂作救主，祂就進到人裏頭，叫人得著祂的生命，脫開人所不能脫開的，作人所不能作的。</a:t>
            </a:r>
          </a:p>
        </p:txBody>
      </p:sp>
      <p:pic>
        <p:nvPicPr>
          <p:cNvPr id="12" name="Picture 11" descr="能_side2.jpg"/>
          <p:cNvPicPr>
            <a:picLocks noChangeAspect="1"/>
          </p:cNvPicPr>
          <p:nvPr/>
        </p:nvPicPr>
        <p:blipFill>
          <a:blip r:embed="rId2"/>
          <a:stretch>
            <a:fillRect/>
          </a:stretch>
        </p:blipFill>
        <p:spPr>
          <a:xfrm>
            <a:off x="8229600" y="2194560"/>
            <a:ext cx="3383280" cy="2359152"/>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28600"/>
            <a:ext cx="11064240" cy="365760"/>
          </a:xfrm>
          <a:prstGeom prst="rect">
            <a:avLst/>
          </a:prstGeom>
          <a:noFill/>
        </p:spPr>
        <p:txBody>
          <a:bodyPr wrap="square">
            <a:spAutoFit/>
          </a:bodyPr>
          <a:lstStyle/>
          <a:p>
            <a:pPr algn="l">
              <a:lnSpc>
                <a:spcPct val="115000"/>
              </a:lnSpc>
              <a:defRPr sz="1800" b="1">
                <a:solidFill>
                  <a:srgbClr val="451A03"/>
                </a:solidFill>
                <a:latin typeface="微軟正黑體"/>
              </a:defRPr>
            </a:pPr>
            <a:r>
              <a:rPr sz="1800"/>
              <a:t>抉擇</a:t>
            </a:r>
          </a:p>
        </p:txBody>
      </p:sp>
      <p:sp>
        <p:nvSpPr>
          <p:cNvPr id="3" name="TextBox 2"/>
          <p:cNvSpPr txBox="1"/>
          <p:nvPr/>
        </p:nvSpPr>
        <p:spPr>
          <a:xfrm>
            <a:off x="548640" y="548640"/>
            <a:ext cx="11064240" cy="548640"/>
          </a:xfrm>
          <a:prstGeom prst="rect">
            <a:avLst/>
          </a:prstGeom>
          <a:noFill/>
        </p:spPr>
        <p:txBody>
          <a:bodyPr wrap="square">
            <a:spAutoFit/>
          </a:bodyPr>
          <a:lstStyle/>
          <a:p>
            <a:pPr algn="l">
              <a:lnSpc>
                <a:spcPct val="115000"/>
              </a:lnSpc>
              <a:defRPr sz="4200" b="1">
                <a:solidFill>
                  <a:srgbClr val="8A5021"/>
                </a:solidFill>
                <a:latin typeface="微軟正黑體"/>
              </a:defRPr>
            </a:pPr>
            <a:r>
              <a:rPr sz="4200" b="1">
                <a:solidFill>
                  <a:srgbClr val="8A5021"/>
                </a:solidFill>
              </a:rPr>
              <a:t>今天，你願意嗎？</a:t>
            </a:r>
          </a:p>
        </p:txBody>
      </p:sp>
      <p:sp>
        <p:nvSpPr>
          <p:cNvPr id="4" name="Rectangle 3"/>
          <p:cNvSpPr/>
          <p:nvPr/>
        </p:nvSpPr>
        <p:spPr>
          <a:xfrm>
            <a:off x="548640" y="1188720"/>
            <a:ext cx="11091672" cy="54864"/>
          </a:xfrm>
          <a:prstGeom prst="rect">
            <a:avLst/>
          </a:prstGeom>
          <a:solidFill>
            <a:srgbClr val="FB92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1828800"/>
            <a:ext cx="7132320" cy="2011680"/>
          </a:xfrm>
          <a:prstGeom prst="rect">
            <a:avLst/>
          </a:prstGeom>
          <a:noFill/>
        </p:spPr>
        <p:txBody>
          <a:bodyPr wrap="square">
            <a:spAutoFit/>
          </a:bodyPr>
          <a:lstStyle/>
          <a:p>
            <a:pPr algn="l">
              <a:lnSpc>
                <a:spcPct val="125000"/>
              </a:lnSpc>
              <a:defRPr sz="3600" b="1">
                <a:solidFill>
                  <a:srgbClr val="451A03"/>
                </a:solidFill>
                <a:latin typeface="微軟正黑體"/>
              </a:defRPr>
            </a:pPr>
            <a:r>
              <a:rPr sz="3600"/>
              <a:t>但願你今天就接受祂作你的救主，好使你今天就得著祂這生命的拯救。</a:t>
            </a:r>
          </a:p>
        </p:txBody>
      </p:sp>
      <p:sp>
        <p:nvSpPr>
          <p:cNvPr id="7" name="TextBox 6"/>
          <p:cNvSpPr txBox="1"/>
          <p:nvPr/>
        </p:nvSpPr>
        <p:spPr>
          <a:xfrm>
            <a:off x="822960" y="4114800"/>
            <a:ext cx="7132320" cy="731520"/>
          </a:xfrm>
          <a:prstGeom prst="rect">
            <a:avLst/>
          </a:prstGeom>
          <a:noFill/>
        </p:spPr>
        <p:txBody>
          <a:bodyPr wrap="square">
            <a:spAutoFit/>
          </a:bodyPr>
          <a:lstStyle/>
          <a:p>
            <a:pPr algn="l">
              <a:lnSpc>
                <a:spcPct val="115000"/>
              </a:lnSpc>
              <a:defRPr sz="2600" b="0">
                <a:solidFill>
                  <a:srgbClr val="5A5A5A"/>
                </a:solidFill>
                <a:latin typeface="微軟正黑體"/>
              </a:defRPr>
            </a:pPr>
            <a:r>
              <a:rPr sz="2600"/>
              <a:t>不需要先作好、改好，只要現在作一個決定。</a:t>
            </a:r>
          </a:p>
        </p:txBody>
      </p:sp>
      <p:pic>
        <p:nvPicPr>
          <p:cNvPr id="8" name="Picture 7" descr="能_side2.jpg"/>
          <p:cNvPicPr>
            <a:picLocks noChangeAspect="1"/>
          </p:cNvPicPr>
          <p:nvPr/>
        </p:nvPicPr>
        <p:blipFill>
          <a:blip r:embed="rId2"/>
          <a:stretch>
            <a:fillRect/>
          </a:stretch>
        </p:blipFill>
        <p:spPr>
          <a:xfrm>
            <a:off x="8229600" y="1554480"/>
            <a:ext cx="3383280" cy="2359152"/>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28600"/>
            <a:ext cx="11064240" cy="365760"/>
          </a:xfrm>
          <a:prstGeom prst="rect">
            <a:avLst/>
          </a:prstGeom>
          <a:noFill/>
        </p:spPr>
        <p:txBody>
          <a:bodyPr wrap="square">
            <a:spAutoFit/>
          </a:bodyPr>
          <a:lstStyle/>
          <a:p>
            <a:pPr algn="l">
              <a:lnSpc>
                <a:spcPct val="115000"/>
              </a:lnSpc>
              <a:defRPr sz="1800" b="1">
                <a:solidFill>
                  <a:srgbClr val="451A03"/>
                </a:solidFill>
                <a:latin typeface="微軟正黑體"/>
              </a:defRPr>
            </a:pPr>
            <a:r>
              <a:rPr sz="1800"/>
              <a:t>一起禱告 · 講一句，跟一句</a:t>
            </a:r>
          </a:p>
        </p:txBody>
      </p:sp>
      <p:sp>
        <p:nvSpPr>
          <p:cNvPr id="3" name="TextBox 2"/>
          <p:cNvSpPr txBox="1"/>
          <p:nvPr/>
        </p:nvSpPr>
        <p:spPr>
          <a:xfrm>
            <a:off x="548640" y="548640"/>
            <a:ext cx="11064240" cy="548640"/>
          </a:xfrm>
          <a:prstGeom prst="rect">
            <a:avLst/>
          </a:prstGeom>
          <a:noFill/>
        </p:spPr>
        <p:txBody>
          <a:bodyPr wrap="square">
            <a:spAutoFit/>
          </a:bodyPr>
          <a:lstStyle/>
          <a:p>
            <a:pPr algn="l">
              <a:lnSpc>
                <a:spcPct val="115000"/>
              </a:lnSpc>
              <a:defRPr sz="4200" b="1">
                <a:solidFill>
                  <a:srgbClr val="8A5021"/>
                </a:solidFill>
                <a:latin typeface="微軟正黑體"/>
              </a:defRPr>
            </a:pPr>
            <a:r>
              <a:rPr sz="4200" b="1">
                <a:solidFill>
                  <a:srgbClr val="8A5021"/>
                </a:solidFill>
              </a:rPr>
              <a:t>哦，主耶穌</a:t>
            </a:r>
          </a:p>
        </p:txBody>
      </p:sp>
      <p:sp>
        <p:nvSpPr>
          <p:cNvPr id="4" name="Rectangle 3"/>
          <p:cNvSpPr/>
          <p:nvPr/>
        </p:nvSpPr>
        <p:spPr>
          <a:xfrm>
            <a:off x="548640" y="1188720"/>
            <a:ext cx="11091672" cy="54864"/>
          </a:xfrm>
          <a:prstGeom prst="rect">
            <a:avLst/>
          </a:prstGeom>
          <a:solidFill>
            <a:srgbClr val="FB92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1463040"/>
            <a:ext cx="640080" cy="548640"/>
          </a:xfrm>
          <a:prstGeom prst="rect">
            <a:avLst/>
          </a:prstGeom>
          <a:noFill/>
        </p:spPr>
        <p:txBody>
          <a:bodyPr wrap="square">
            <a:spAutoFit/>
          </a:bodyPr>
          <a:lstStyle/>
          <a:p>
            <a:pPr algn="ctr">
              <a:lnSpc>
                <a:spcPct val="115000"/>
              </a:lnSpc>
              <a:defRPr sz="2800" b="1">
                <a:solidFill>
                  <a:srgbClr val="8A5021"/>
                </a:solidFill>
                <a:latin typeface="微軟正黑體"/>
              </a:defRPr>
            </a:pPr>
            <a:r>
              <a:rPr sz="2800">
                <a:solidFill>
                  <a:srgbClr val="8A5021"/>
                </a:solidFill>
              </a:rPr>
              <a:t>1</a:t>
            </a:r>
          </a:p>
        </p:txBody>
      </p:sp>
      <p:sp>
        <p:nvSpPr>
          <p:cNvPr id="7" name="TextBox 6"/>
          <p:cNvSpPr txBox="1"/>
          <p:nvPr/>
        </p:nvSpPr>
        <p:spPr>
          <a:xfrm>
            <a:off x="1463040" y="1463040"/>
            <a:ext cx="10058400" cy="640080"/>
          </a:xfrm>
          <a:prstGeom prst="rect">
            <a:avLst/>
          </a:prstGeom>
          <a:noFill/>
        </p:spPr>
        <p:txBody>
          <a:bodyPr wrap="square">
            <a:spAutoFit/>
          </a:bodyPr>
          <a:lstStyle/>
          <a:p>
            <a:pPr algn="l">
              <a:lnSpc>
                <a:spcPct val="115000"/>
              </a:lnSpc>
              <a:defRPr sz="3100" b="0">
                <a:solidFill>
                  <a:srgbClr val="2B2B2B"/>
                </a:solidFill>
                <a:latin typeface="微軟正黑體"/>
              </a:defRPr>
            </a:pPr>
            <a:r>
              <a:rPr sz="3100"/>
              <a:t>主耶穌，我承認我立志為善，卻行不出來。</a:t>
            </a:r>
          </a:p>
        </p:txBody>
      </p:sp>
      <p:sp>
        <p:nvSpPr>
          <p:cNvPr id="8" name="TextBox 7"/>
          <p:cNvSpPr txBox="1"/>
          <p:nvPr/>
        </p:nvSpPr>
        <p:spPr>
          <a:xfrm>
            <a:off x="822960" y="2286000"/>
            <a:ext cx="640080" cy="548640"/>
          </a:xfrm>
          <a:prstGeom prst="rect">
            <a:avLst/>
          </a:prstGeom>
          <a:noFill/>
        </p:spPr>
        <p:txBody>
          <a:bodyPr wrap="square">
            <a:spAutoFit/>
          </a:bodyPr>
          <a:lstStyle/>
          <a:p>
            <a:pPr algn="ctr">
              <a:lnSpc>
                <a:spcPct val="115000"/>
              </a:lnSpc>
              <a:defRPr sz="2800" b="1">
                <a:solidFill>
                  <a:srgbClr val="8A5021"/>
                </a:solidFill>
                <a:latin typeface="微軟正黑體"/>
              </a:defRPr>
            </a:pPr>
            <a:r>
              <a:rPr sz="2800">
                <a:solidFill>
                  <a:srgbClr val="8A5021"/>
                </a:solidFill>
              </a:rPr>
              <a:t>2</a:t>
            </a:r>
          </a:p>
        </p:txBody>
      </p:sp>
      <p:sp>
        <p:nvSpPr>
          <p:cNvPr id="9" name="TextBox 8"/>
          <p:cNvSpPr txBox="1"/>
          <p:nvPr/>
        </p:nvSpPr>
        <p:spPr>
          <a:xfrm>
            <a:off x="1463040" y="2286000"/>
            <a:ext cx="10058400" cy="640080"/>
          </a:xfrm>
          <a:prstGeom prst="rect">
            <a:avLst/>
          </a:prstGeom>
          <a:noFill/>
        </p:spPr>
        <p:txBody>
          <a:bodyPr wrap="square">
            <a:spAutoFit/>
          </a:bodyPr>
          <a:lstStyle/>
          <a:p>
            <a:pPr algn="l">
              <a:lnSpc>
                <a:spcPct val="115000"/>
              </a:lnSpc>
              <a:defRPr sz="3100" b="0">
                <a:solidFill>
                  <a:srgbClr val="2B2B2B"/>
                </a:solidFill>
                <a:latin typeface="微軟正黑體"/>
              </a:defRPr>
            </a:pPr>
            <a:r>
              <a:rPr sz="3100"/>
              <a:t>謝謝你，你的福音是神的大能，要救一切信的人。</a:t>
            </a:r>
          </a:p>
        </p:txBody>
      </p:sp>
      <p:sp>
        <p:nvSpPr>
          <p:cNvPr id="10" name="TextBox 9"/>
          <p:cNvSpPr txBox="1"/>
          <p:nvPr/>
        </p:nvSpPr>
        <p:spPr>
          <a:xfrm>
            <a:off x="822960" y="3108960"/>
            <a:ext cx="640080" cy="548640"/>
          </a:xfrm>
          <a:prstGeom prst="rect">
            <a:avLst/>
          </a:prstGeom>
          <a:noFill/>
        </p:spPr>
        <p:txBody>
          <a:bodyPr wrap="square">
            <a:spAutoFit/>
          </a:bodyPr>
          <a:lstStyle/>
          <a:p>
            <a:pPr algn="ctr">
              <a:lnSpc>
                <a:spcPct val="115000"/>
              </a:lnSpc>
              <a:defRPr sz="2800" b="1">
                <a:solidFill>
                  <a:srgbClr val="8A5021"/>
                </a:solidFill>
                <a:latin typeface="微軟正黑體"/>
              </a:defRPr>
            </a:pPr>
            <a:r>
              <a:rPr sz="2800">
                <a:solidFill>
                  <a:srgbClr val="8A5021"/>
                </a:solidFill>
              </a:rPr>
              <a:t>3</a:t>
            </a:r>
          </a:p>
        </p:txBody>
      </p:sp>
      <p:sp>
        <p:nvSpPr>
          <p:cNvPr id="11" name="TextBox 10"/>
          <p:cNvSpPr txBox="1"/>
          <p:nvPr/>
        </p:nvSpPr>
        <p:spPr>
          <a:xfrm>
            <a:off x="1463040" y="3108960"/>
            <a:ext cx="10058400" cy="640080"/>
          </a:xfrm>
          <a:prstGeom prst="rect">
            <a:avLst/>
          </a:prstGeom>
          <a:noFill/>
        </p:spPr>
        <p:txBody>
          <a:bodyPr wrap="square">
            <a:spAutoFit/>
          </a:bodyPr>
          <a:lstStyle/>
          <a:p>
            <a:pPr algn="l">
              <a:lnSpc>
                <a:spcPct val="115000"/>
              </a:lnSpc>
              <a:defRPr sz="3100" b="0">
                <a:solidFill>
                  <a:srgbClr val="2B2B2B"/>
                </a:solidFill>
                <a:latin typeface="微軟正黑體"/>
              </a:defRPr>
            </a:pPr>
            <a:r>
              <a:rPr sz="3100"/>
              <a:t>我願意相信你，接受你作我的救主。</a:t>
            </a:r>
          </a:p>
        </p:txBody>
      </p:sp>
      <p:sp>
        <p:nvSpPr>
          <p:cNvPr id="12" name="TextBox 11"/>
          <p:cNvSpPr txBox="1"/>
          <p:nvPr/>
        </p:nvSpPr>
        <p:spPr>
          <a:xfrm>
            <a:off x="822960" y="3931920"/>
            <a:ext cx="640080" cy="548640"/>
          </a:xfrm>
          <a:prstGeom prst="rect">
            <a:avLst/>
          </a:prstGeom>
          <a:noFill/>
        </p:spPr>
        <p:txBody>
          <a:bodyPr wrap="square">
            <a:spAutoFit/>
          </a:bodyPr>
          <a:lstStyle/>
          <a:p>
            <a:pPr algn="ctr">
              <a:lnSpc>
                <a:spcPct val="115000"/>
              </a:lnSpc>
              <a:defRPr sz="2800" b="1">
                <a:solidFill>
                  <a:srgbClr val="8A5021"/>
                </a:solidFill>
                <a:latin typeface="微軟正黑體"/>
              </a:defRPr>
            </a:pPr>
            <a:r>
              <a:rPr sz="2800">
                <a:solidFill>
                  <a:srgbClr val="8A5021"/>
                </a:solidFill>
              </a:rPr>
              <a:t>4</a:t>
            </a:r>
          </a:p>
        </p:txBody>
      </p:sp>
      <p:sp>
        <p:nvSpPr>
          <p:cNvPr id="13" name="TextBox 12"/>
          <p:cNvSpPr txBox="1"/>
          <p:nvPr/>
        </p:nvSpPr>
        <p:spPr>
          <a:xfrm>
            <a:off x="1463040" y="3931920"/>
            <a:ext cx="10058400" cy="640080"/>
          </a:xfrm>
          <a:prstGeom prst="rect">
            <a:avLst/>
          </a:prstGeom>
          <a:noFill/>
        </p:spPr>
        <p:txBody>
          <a:bodyPr wrap="square">
            <a:spAutoFit/>
          </a:bodyPr>
          <a:lstStyle/>
          <a:p>
            <a:pPr algn="l">
              <a:lnSpc>
                <a:spcPct val="115000"/>
              </a:lnSpc>
              <a:defRPr sz="3100" b="0">
                <a:solidFill>
                  <a:srgbClr val="2B2B2B"/>
                </a:solidFill>
                <a:latin typeface="微軟正黑體"/>
              </a:defRPr>
            </a:pPr>
            <a:r>
              <a:rPr sz="3100"/>
              <a:t>求你把大能的生命賜給我，使我勝過罪惡、脾氣、情慾和死亡。阿們。</a:t>
            </a:r>
          </a:p>
        </p:txBody>
      </p:sp>
      <p:sp>
        <p:nvSpPr>
          <p:cNvPr id="14" name="TextBox 13"/>
          <p:cNvSpPr txBox="1"/>
          <p:nvPr/>
        </p:nvSpPr>
        <p:spPr>
          <a:xfrm>
            <a:off x="822960" y="5120640"/>
            <a:ext cx="10515600" cy="548640"/>
          </a:xfrm>
          <a:prstGeom prst="rect">
            <a:avLst/>
          </a:prstGeom>
          <a:noFill/>
        </p:spPr>
        <p:txBody>
          <a:bodyPr wrap="square">
            <a:spAutoFit/>
          </a:bodyPr>
          <a:lstStyle/>
          <a:p>
            <a:pPr algn="l">
              <a:lnSpc>
                <a:spcPct val="115000"/>
              </a:lnSpc>
              <a:defRPr sz="2400" b="1">
                <a:solidFill>
                  <a:srgbClr val="451A03"/>
                </a:solidFill>
                <a:latin typeface="微軟正黑體"/>
              </a:defRPr>
            </a:pPr>
            <a:r>
              <a:rPr sz="2400"/>
              <a:t>凡心裡相信，口裡承認，呼求主名的，就必得救。</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28600"/>
            <a:ext cx="11064240" cy="365760"/>
          </a:xfrm>
          <a:prstGeom prst="rect">
            <a:avLst/>
          </a:prstGeom>
          <a:noFill/>
        </p:spPr>
        <p:txBody>
          <a:bodyPr wrap="square">
            <a:spAutoFit/>
          </a:bodyPr>
          <a:lstStyle/>
          <a:p>
            <a:pPr algn="l">
              <a:lnSpc>
                <a:spcPct val="115000"/>
              </a:lnSpc>
              <a:defRPr sz="1800" b="1">
                <a:solidFill>
                  <a:srgbClr val="451A03"/>
                </a:solidFill>
                <a:latin typeface="微軟正黑體"/>
              </a:defRPr>
            </a:pPr>
            <a:r>
              <a:rPr sz="1800"/>
              <a:t>下一步</a:t>
            </a:r>
          </a:p>
        </p:txBody>
      </p:sp>
      <p:sp>
        <p:nvSpPr>
          <p:cNvPr id="3" name="TextBox 2"/>
          <p:cNvSpPr txBox="1"/>
          <p:nvPr/>
        </p:nvSpPr>
        <p:spPr>
          <a:xfrm>
            <a:off x="548640" y="548640"/>
            <a:ext cx="11064240" cy="548640"/>
          </a:xfrm>
          <a:prstGeom prst="rect">
            <a:avLst/>
          </a:prstGeom>
          <a:noFill/>
        </p:spPr>
        <p:txBody>
          <a:bodyPr wrap="square">
            <a:spAutoFit/>
          </a:bodyPr>
          <a:lstStyle/>
          <a:p>
            <a:pPr algn="l">
              <a:lnSpc>
                <a:spcPct val="115000"/>
              </a:lnSpc>
              <a:defRPr sz="4200" b="1">
                <a:solidFill>
                  <a:srgbClr val="8A5021"/>
                </a:solidFill>
                <a:latin typeface="微軟正黑體"/>
              </a:defRPr>
            </a:pPr>
            <a:r>
              <a:rPr sz="4200" b="1">
                <a:solidFill>
                  <a:srgbClr val="8A5021"/>
                </a:solidFill>
              </a:rPr>
              <a:t>不要讓這個福音停在今天</a:t>
            </a:r>
          </a:p>
        </p:txBody>
      </p:sp>
      <p:sp>
        <p:nvSpPr>
          <p:cNvPr id="4" name="Rectangle 3"/>
          <p:cNvSpPr/>
          <p:nvPr/>
        </p:nvSpPr>
        <p:spPr>
          <a:xfrm>
            <a:off x="548640" y="1188720"/>
            <a:ext cx="11091672" cy="54864"/>
          </a:xfrm>
          <a:prstGeom prst="rect">
            <a:avLst/>
          </a:prstGeom>
          <a:solidFill>
            <a:srgbClr val="FB92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1554480"/>
            <a:ext cx="457200" cy="548640"/>
          </a:xfrm>
          <a:prstGeom prst="rect">
            <a:avLst/>
          </a:prstGeom>
          <a:noFill/>
        </p:spPr>
        <p:txBody>
          <a:bodyPr wrap="square">
            <a:spAutoFit/>
          </a:bodyPr>
          <a:lstStyle/>
          <a:p>
            <a:pPr algn="ctr">
              <a:lnSpc>
                <a:spcPct val="115000"/>
              </a:lnSpc>
              <a:defRPr sz="3100" b="1">
                <a:solidFill>
                  <a:srgbClr val="8A5021"/>
                </a:solidFill>
                <a:latin typeface="微軟正黑體"/>
              </a:defRPr>
            </a:pPr>
            <a:r>
              <a:rPr sz="3100">
                <a:solidFill>
                  <a:srgbClr val="8A5021"/>
                </a:solidFill>
              </a:rPr>
              <a:t>•</a:t>
            </a:r>
          </a:p>
        </p:txBody>
      </p:sp>
      <p:sp>
        <p:nvSpPr>
          <p:cNvPr id="7" name="TextBox 6"/>
          <p:cNvSpPr txBox="1"/>
          <p:nvPr/>
        </p:nvSpPr>
        <p:spPr>
          <a:xfrm>
            <a:off x="1280160" y="1554480"/>
            <a:ext cx="10332720" cy="640080"/>
          </a:xfrm>
          <a:prstGeom prst="rect">
            <a:avLst/>
          </a:prstGeom>
          <a:noFill/>
        </p:spPr>
        <p:txBody>
          <a:bodyPr wrap="square">
            <a:spAutoFit/>
          </a:bodyPr>
          <a:lstStyle/>
          <a:p>
            <a:pPr algn="l">
              <a:lnSpc>
                <a:spcPct val="115000"/>
              </a:lnSpc>
              <a:defRPr sz="3100" b="0">
                <a:solidFill>
                  <a:srgbClr val="2B2B2B"/>
                </a:solidFill>
                <a:latin typeface="微軟正黑體"/>
              </a:defRPr>
            </a:pPr>
            <a:r>
              <a:rPr sz="3100"/>
              <a:t>留下聯絡方式，約定下次見面</a:t>
            </a:r>
          </a:p>
        </p:txBody>
      </p:sp>
      <p:sp>
        <p:nvSpPr>
          <p:cNvPr id="8" name="TextBox 7"/>
          <p:cNvSpPr txBox="1"/>
          <p:nvPr/>
        </p:nvSpPr>
        <p:spPr>
          <a:xfrm>
            <a:off x="822960" y="2331720"/>
            <a:ext cx="457200" cy="548640"/>
          </a:xfrm>
          <a:prstGeom prst="rect">
            <a:avLst/>
          </a:prstGeom>
          <a:noFill/>
        </p:spPr>
        <p:txBody>
          <a:bodyPr wrap="square">
            <a:spAutoFit/>
          </a:bodyPr>
          <a:lstStyle/>
          <a:p>
            <a:pPr algn="ctr">
              <a:lnSpc>
                <a:spcPct val="115000"/>
              </a:lnSpc>
              <a:defRPr sz="3100" b="1">
                <a:solidFill>
                  <a:srgbClr val="8A5021"/>
                </a:solidFill>
                <a:latin typeface="微軟正黑體"/>
              </a:defRPr>
            </a:pPr>
            <a:r>
              <a:rPr sz="3100">
                <a:solidFill>
                  <a:srgbClr val="8A5021"/>
                </a:solidFill>
              </a:rPr>
              <a:t>•</a:t>
            </a:r>
          </a:p>
        </p:txBody>
      </p:sp>
      <p:sp>
        <p:nvSpPr>
          <p:cNvPr id="9" name="TextBox 8"/>
          <p:cNvSpPr txBox="1"/>
          <p:nvPr/>
        </p:nvSpPr>
        <p:spPr>
          <a:xfrm>
            <a:off x="1280160" y="2331720"/>
            <a:ext cx="10332720" cy="640080"/>
          </a:xfrm>
          <a:prstGeom prst="rect">
            <a:avLst/>
          </a:prstGeom>
          <a:noFill/>
        </p:spPr>
        <p:txBody>
          <a:bodyPr wrap="square">
            <a:spAutoFit/>
          </a:bodyPr>
          <a:lstStyle/>
          <a:p>
            <a:pPr algn="l">
              <a:lnSpc>
                <a:spcPct val="115000"/>
              </a:lnSpc>
              <a:defRPr sz="3100" b="0">
                <a:solidFill>
                  <a:srgbClr val="2B2B2B"/>
                </a:solidFill>
                <a:latin typeface="微軟正黑體"/>
              </a:defRPr>
            </a:pPr>
            <a:r>
              <a:rPr sz="3100"/>
              <a:t>邀請參加小排或福音聚會</a:t>
            </a:r>
          </a:p>
        </p:txBody>
      </p:sp>
      <p:sp>
        <p:nvSpPr>
          <p:cNvPr id="10" name="TextBox 9"/>
          <p:cNvSpPr txBox="1"/>
          <p:nvPr/>
        </p:nvSpPr>
        <p:spPr>
          <a:xfrm>
            <a:off x="822960" y="3108960"/>
            <a:ext cx="457200" cy="548640"/>
          </a:xfrm>
          <a:prstGeom prst="rect">
            <a:avLst/>
          </a:prstGeom>
          <a:noFill/>
        </p:spPr>
        <p:txBody>
          <a:bodyPr wrap="square">
            <a:spAutoFit/>
          </a:bodyPr>
          <a:lstStyle/>
          <a:p>
            <a:pPr algn="ctr">
              <a:lnSpc>
                <a:spcPct val="115000"/>
              </a:lnSpc>
              <a:defRPr sz="3100" b="1">
                <a:solidFill>
                  <a:srgbClr val="8A5021"/>
                </a:solidFill>
                <a:latin typeface="微軟正黑體"/>
              </a:defRPr>
            </a:pPr>
            <a:r>
              <a:rPr sz="3100">
                <a:solidFill>
                  <a:srgbClr val="8A5021"/>
                </a:solidFill>
              </a:rPr>
              <a:t>•</a:t>
            </a:r>
          </a:p>
        </p:txBody>
      </p:sp>
      <p:sp>
        <p:nvSpPr>
          <p:cNvPr id="11" name="TextBox 10"/>
          <p:cNvSpPr txBox="1"/>
          <p:nvPr/>
        </p:nvSpPr>
        <p:spPr>
          <a:xfrm>
            <a:off x="1280160" y="3108960"/>
            <a:ext cx="10332720" cy="640080"/>
          </a:xfrm>
          <a:prstGeom prst="rect">
            <a:avLst/>
          </a:prstGeom>
          <a:noFill/>
        </p:spPr>
        <p:txBody>
          <a:bodyPr wrap="square">
            <a:spAutoFit/>
          </a:bodyPr>
          <a:lstStyle/>
          <a:p>
            <a:pPr algn="l">
              <a:lnSpc>
                <a:spcPct val="115000"/>
              </a:lnSpc>
              <a:defRPr sz="3100" b="0">
                <a:solidFill>
                  <a:srgbClr val="2B2B2B"/>
                </a:solidFill>
                <a:latin typeface="微軟正黑體"/>
              </a:defRPr>
            </a:pPr>
            <a:r>
              <a:rPr sz="3100"/>
              <a:t>每天花一點時間呼求主名、讀經禱告</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人生的奧祕（二）·福音鑰字「能」</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