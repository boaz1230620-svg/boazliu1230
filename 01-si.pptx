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【約0.5分鐘】今天只講一個字——「死」，設計主題是「墨夜破曉」。先讓朋友放鬆：給我大約十五分鐘，聽完再一起討論。本篇已按福音需要調整順序：先從生活談起，再回到經文，內容取自原文。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【約1.5分鐘】開場提問：死，到底從何而來？人為甚麼會死？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【約2.2分鐘】罪入世界死作王。投影片上的講解就是原文該段的濃縮，講的時候可以照著說，再展開一兩句自己的見證，不要偏離原文。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【約2.2分鐘】立志為善卻被擄。投影片上的講解就是原文該段的濃縮，講的時候可以照著說，再展開一兩句自己的見證，不要偏離原文。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【約2.2分鐘】靈死喪失接觸神。投影片上的講解就是原文該段的濃縮，講的時候可以照著說，再展開一兩句自己的見證，不要偏離原文。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【約2.2分鐘】主藉死廢除魔鬼。投影片上的講解就是原文該段的濃縮，講的時候可以照著說，再展開一兩句自己的見證，不要偏離原文。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基督仍在作工，要將祂永遠的生命分賜給你。接受祂，不只從罪和魔鬼的權勢裡出來，更脫離對死之懼怕的奴役，甚至脫離死本身，得著永遠、神聖、非受造的生命，祂要釋放你，帶領你出死入生。這就是出死入生的福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223760" y="0"/>
            <a:ext cx="118872" cy="68580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000" b="1">
                <a:solidFill>
                  <a:srgbClr val="191923"/>
                </a:solidFill>
                <a:latin typeface="微軟正黑體"/>
              </a:defRPr>
            </a:pPr>
            <a:r>
              <a:rPr sz="3000">
                <a:solidFill>
                  <a:srgbClr val="191923"/>
                </a:solidFill>
              </a:rPr>
              <a:t>墨夜破曉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0">
                <a:solidFill>
                  <a:srgbClr val="191923"/>
                </a:solidFill>
                <a:latin typeface="微軟正黑體"/>
              </a:defRPr>
            </a:pPr>
            <a:r>
              <a:rPr sz="2400">
                <a:solidFill>
                  <a:srgbClr val="191923"/>
                </a:solidFill>
              </a:rPr>
              <a:t>人的負面情形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9000" b="1">
                <a:solidFill>
                  <a:srgbClr val="86641A"/>
                </a:solidFill>
                <a:latin typeface="微軟正黑體"/>
              </a:defRPr>
            </a:pPr>
            <a:r>
              <a:rPr>
                <a:solidFill>
                  <a:srgbClr val="86641A"/>
                </a:solidFill>
              </a:rPr>
              <a:t>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200" b="1">
                <a:solidFill>
                  <a:srgbClr val="C07A1A"/>
                </a:solidFill>
                <a:latin typeface="微軟正黑體"/>
              </a:defRPr>
            </a:pPr>
            <a:r>
              <a:rPr sz="3200">
                <a:solidFill>
                  <a:srgbClr val="C07A1A"/>
                </a:solidFill>
              </a:rPr>
              <a:t>第 1 個鑰字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0"/>
            <a:ext cx="48463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C07A1A"/>
                </a:solidFill>
                <a:latin typeface="微軟正黑體"/>
              </a:defRPr>
            </a:pPr>
            <a:r>
              <a:rPr sz="3800" b="1">
                <a:solidFill>
                  <a:srgbClr val="C07A1A"/>
                </a:solidFill>
              </a:rPr>
              <a:t>你有沒有想過……？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86641A"/>
                </a:solidFill>
                <a:latin typeface="微軟正黑體"/>
              </a:defRPr>
            </a:pPr>
            <a:r>
              <a:rPr sz="4000" b="1">
                <a:solidFill>
                  <a:srgbClr val="86641A"/>
                </a:solidFill>
              </a:rPr>
              <a:t>死，到底從何而來？人為甚麼會死？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6641A"/>
                </a:solidFill>
                <a:latin typeface="微軟正黑體"/>
              </a:defRPr>
            </a:pPr>
            <a:r>
              <a:rPr sz="4000" b="1">
                <a:solidFill>
                  <a:srgbClr val="86641A"/>
                </a:solidFill>
              </a:rPr>
              <a:t>罪入世界死作王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641A"/>
                </a:solidFill>
                <a:latin typeface="微軟正黑體"/>
              </a:defRPr>
            </a:pPr>
            <a:r>
              <a:rPr sz="3300">
                <a:solidFill>
                  <a:srgbClr val="86641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罪先來，死就跟著來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641A"/>
                </a:solidFill>
                <a:latin typeface="微軟正黑體"/>
              </a:defRPr>
            </a:pPr>
            <a:r>
              <a:rPr sz="3300">
                <a:solidFill>
                  <a:srgbClr val="86641A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死像蟲，天天糾纏吞喫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641A"/>
                </a:solidFill>
                <a:latin typeface="微軟正黑體"/>
              </a:defRPr>
            </a:pPr>
            <a:r>
              <a:rPr sz="3300">
                <a:solidFill>
                  <a:srgbClr val="86641A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靈魂體，都受死侵害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91923"/>
                </a:solidFill>
                <a:latin typeface="微軟正黑體"/>
              </a:defRPr>
            </a:pPr>
            <a:r>
              <a:rPr sz="2400"/>
              <a:t>經文：罪是藉著一人入了世界，死又是藉著罪來的，於是死就遍及眾人。（羅五12下）</a:t>
            </a:r>
          </a:p>
        </p:txBody>
      </p:sp>
      <p:pic>
        <p:nvPicPr>
          <p:cNvPr id="19" name="Picture 18" descr="story_死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6641A"/>
                </a:solidFill>
                <a:latin typeface="微軟正黑體"/>
              </a:defRPr>
            </a:pPr>
            <a:r>
              <a:rPr sz="4000" b="1">
                <a:solidFill>
                  <a:srgbClr val="86641A"/>
                </a:solidFill>
              </a:rPr>
              <a:t>立志為善卻被擄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641A"/>
                </a:solidFill>
                <a:latin typeface="微軟正黑體"/>
              </a:defRPr>
            </a:pPr>
            <a:r>
              <a:rPr sz="3300">
                <a:solidFill>
                  <a:srgbClr val="86641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三歲知善，八十行不來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641A"/>
                </a:solidFill>
                <a:latin typeface="微軟正黑體"/>
              </a:defRPr>
            </a:pPr>
            <a:r>
              <a:rPr sz="3300">
                <a:solidFill>
                  <a:srgbClr val="86641A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願意為善，行出由不得我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641A"/>
                </a:solidFill>
                <a:latin typeface="微軟正黑體"/>
              </a:defRPr>
            </a:pPr>
            <a:r>
              <a:rPr sz="3300">
                <a:solidFill>
                  <a:srgbClr val="86641A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善惡交戰，結局是被擄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91923"/>
                </a:solidFill>
                <a:latin typeface="微軟正黑體"/>
              </a:defRPr>
            </a:pPr>
            <a:r>
              <a:rPr sz="2400"/>
              <a:t>經文：我是個苦惱的人！誰要救我脫離那屬這死的身體？（羅七24）</a:t>
            </a:r>
          </a:p>
        </p:txBody>
      </p:sp>
      <p:pic>
        <p:nvPicPr>
          <p:cNvPr id="19" name="Picture 18" descr="story_死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6641A"/>
                </a:solidFill>
                <a:latin typeface="微軟正黑體"/>
              </a:defRPr>
            </a:pPr>
            <a:r>
              <a:rPr sz="4000" b="1">
                <a:solidFill>
                  <a:srgbClr val="86641A"/>
                </a:solidFill>
              </a:rPr>
              <a:t>靈死喪失接觸神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641A"/>
                </a:solidFill>
                <a:latin typeface="微軟正黑體"/>
              </a:defRPr>
            </a:pPr>
            <a:r>
              <a:rPr sz="3300">
                <a:solidFill>
                  <a:srgbClr val="86641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肉身活著，靈卻是死了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641A"/>
                </a:solidFill>
                <a:latin typeface="微軟正黑體"/>
              </a:defRPr>
            </a:pPr>
            <a:r>
              <a:rPr sz="3300">
                <a:solidFill>
                  <a:srgbClr val="86641A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隨從世風，順服魔鬼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641A"/>
                </a:solidFill>
                <a:latin typeface="微軟正黑體"/>
              </a:defRPr>
            </a:pPr>
            <a:r>
              <a:rPr sz="3300">
                <a:solidFill>
                  <a:srgbClr val="86641A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放縱肉慾，毫無抵抗力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91923"/>
                </a:solidFill>
                <a:latin typeface="微軟正黑體"/>
              </a:defRPr>
            </a:pPr>
            <a:r>
              <a:rPr sz="2400"/>
              <a:t>經文：你們原是死在過犯並罪之中。（弗二1）</a:t>
            </a:r>
          </a:p>
        </p:txBody>
      </p:sp>
      <p:pic>
        <p:nvPicPr>
          <p:cNvPr id="19" name="Picture 18" descr="story_死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6641A"/>
                </a:solidFill>
                <a:latin typeface="微軟正黑體"/>
              </a:defRPr>
            </a:pPr>
            <a:r>
              <a:rPr sz="4000" b="1">
                <a:solidFill>
                  <a:srgbClr val="86641A"/>
                </a:solidFill>
              </a:rPr>
              <a:t>主藉死廢除魔鬼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641A"/>
                </a:solidFill>
                <a:latin typeface="微軟正黑體"/>
              </a:defRPr>
            </a:pPr>
            <a:r>
              <a:rPr sz="3300">
                <a:solidFill>
                  <a:srgbClr val="86641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主傾命至死，擔當眾罪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641A"/>
                </a:solidFill>
                <a:latin typeface="微軟正黑體"/>
              </a:defRPr>
            </a:pPr>
            <a:r>
              <a:rPr sz="3300">
                <a:solidFill>
                  <a:srgbClr val="86641A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死在祂身上完全失敗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6641A"/>
                </a:solidFill>
                <a:latin typeface="微軟正黑體"/>
              </a:defRPr>
            </a:pPr>
            <a:r>
              <a:rPr sz="3300">
                <a:solidFill>
                  <a:srgbClr val="86641A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接受復活主，出死入生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91923"/>
                </a:solidFill>
                <a:latin typeface="微軟正黑體"/>
              </a:defRPr>
            </a:pPr>
            <a:r>
              <a:rPr sz="2400"/>
              <a:t>經文：為要藉著死，廢除那掌死權的，就是魔鬼，並要釋放那些一生因怕死而受挾於奴役的人。（來二14下-15）</a:t>
            </a:r>
          </a:p>
        </p:txBody>
      </p:sp>
      <p:pic>
        <p:nvPicPr>
          <p:cNvPr id="19" name="Picture 18" descr="story_死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6641A"/>
                </a:solidFill>
                <a:latin typeface="微軟正黑體"/>
              </a:defRPr>
            </a:pPr>
            <a:r>
              <a:rPr sz="1800">
                <a:solidFill>
                  <a:srgbClr val="86641A"/>
                </a:solidFill>
              </a:rPr>
              <a:t>回到經文 · 本篇一覽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6641A"/>
                </a:solidFill>
                <a:latin typeface="微軟正黑體"/>
              </a:defRPr>
            </a:pPr>
            <a:r>
              <a:rPr sz="4200" b="1">
                <a:solidFill>
                  <a:srgbClr val="86641A"/>
                </a:solidFill>
              </a:rPr>
              <a:t>「死」的鑰字經文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A. 死就遍及眾人——死不只是將來肉身的痛苦，也是現今每天的糾纏。（羅五12註4）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B. 我是個苦惱的人！誰要救我脫離那屬這死的身體？（羅七24）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3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C. 死在過犯並罪之中——靈的死遍佈全人，使人喪失接觸神的功能。（弗二1註2）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D. 藉著死，廢除那掌死權的，就是魔鬼——主廢掉魔鬼與死，我們不再怕死，得釋放。（來二14，15註1）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191923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C07A1A"/>
                </a:solidFill>
                <a:latin typeface="微軟正黑體"/>
              </a:defRPr>
            </a:pPr>
            <a:r>
              <a:rPr sz="2000">
                <a:solidFill>
                  <a:srgbClr val="C07A1A"/>
                </a:solidFill>
              </a:rPr>
              <a:t>福音的答案 · 墨夜破曉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86641A"/>
                </a:solidFill>
                <a:latin typeface="微軟正黑體"/>
              </a:defRPr>
            </a:pPr>
            <a:r>
              <a:rPr sz="4600" b="1">
                <a:solidFill>
                  <a:srgbClr val="86641A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191923"/>
                </a:solidFill>
                <a:latin typeface="微軟正黑體"/>
              </a:defRPr>
            </a:pPr>
            <a:r>
              <a:rPr sz="3300">
                <a:solidFill>
                  <a:srgbClr val="191923"/>
                </a:solidFill>
              </a:rPr>
              <a:t>神解決死根源罪與魔鬼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191923"/>
                </a:solidFill>
                <a:latin typeface="微軟正黑體"/>
              </a:defRPr>
            </a:pPr>
            <a:r>
              <a:rPr sz="3300">
                <a:solidFill>
                  <a:srgbClr val="191923"/>
                </a:solidFill>
              </a:rPr>
              <a:t>主復活奪回死亡鑰匙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191923"/>
                </a:solidFill>
                <a:latin typeface="微軟正黑體"/>
              </a:defRPr>
            </a:pPr>
            <a:r>
              <a:rPr sz="3300">
                <a:solidFill>
                  <a:srgbClr val="191923"/>
                </a:solidFill>
              </a:rPr>
              <a:t>信祂就脫離死的奴役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191923"/>
                </a:solidFill>
                <a:latin typeface="微軟正黑體"/>
              </a:defRPr>
            </a:pPr>
            <a:r>
              <a:rPr sz="2400">
                <a:solidFill>
                  <a:srgbClr val="191923"/>
                </a:solidFill>
              </a:rPr>
              <a:t>基督仍在作工，要將祂永遠的生命分賜給你。接受祂，不只從罪和魔鬼的權勢裡出來，更脫離對死之懼怕的奴役，甚至脫離死本身，得著永遠、神聖、非受造的生命，祂要釋放你，帶領你出死入生。這就是出死入生的福音。</a:t>
            </a:r>
          </a:p>
        </p:txBody>
      </p:sp>
      <p:pic>
        <p:nvPicPr>
          <p:cNvPr id="14" name="Picture 13" descr="swap_死_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6641A"/>
                </a:solidFill>
                <a:latin typeface="微軟正黑體"/>
              </a:defRPr>
            </a:pPr>
            <a:r>
              <a:rPr sz="1800">
                <a:solidFill>
                  <a:srgbClr val="86641A"/>
                </a:solidFill>
              </a:rPr>
              <a:t>抉擇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6641A"/>
                </a:solidFill>
                <a:latin typeface="微軟正黑體"/>
              </a:defRPr>
            </a:pPr>
            <a:r>
              <a:rPr sz="4200" b="1">
                <a:solidFill>
                  <a:srgbClr val="86641A"/>
                </a:solidFill>
              </a:rPr>
              <a:t>今天，你願意嗎？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191923"/>
                </a:solidFill>
                <a:latin typeface="微軟正黑體"/>
              </a:defRPr>
            </a:pPr>
            <a:r>
              <a:rPr sz="3600"/>
              <a:t>願你現在就揀選祂作救主，祂要帶領你出死入生。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10" name="Picture 9" descr="swap_死_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6641A"/>
                </a:solidFill>
                <a:latin typeface="微軟正黑體"/>
              </a:defRPr>
            </a:pPr>
            <a:r>
              <a:rPr sz="1800">
                <a:solidFill>
                  <a:srgbClr val="86641A"/>
                </a:solidFill>
              </a:rPr>
              <a:t>一起禱告 · 講一句，跟一句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6641A"/>
                </a:solidFill>
                <a:latin typeface="微軟正黑體"/>
              </a:defRPr>
            </a:pPr>
            <a:r>
              <a:rPr sz="4200" b="1">
                <a:solidFill>
                  <a:srgbClr val="86641A"/>
                </a:solidFill>
              </a:rPr>
              <a:t>哦，主耶穌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6641A"/>
                </a:solidFill>
                <a:latin typeface="微軟正黑體"/>
              </a:defRPr>
            </a:pPr>
            <a:r>
              <a:rPr sz="2800">
                <a:solidFill>
                  <a:srgbClr val="86641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主耶穌，我承認我是死在罪中的人，不能自救。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6641A"/>
                </a:solidFill>
                <a:latin typeface="微軟正黑體"/>
              </a:defRPr>
            </a:pPr>
            <a:r>
              <a:rPr sz="2800">
                <a:solidFill>
                  <a:srgbClr val="86641A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謝謝你為擔當我的罪死在十字架上，又復活了。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6641A"/>
                </a:solidFill>
                <a:latin typeface="微軟正黑體"/>
              </a:defRPr>
            </a:pPr>
            <a:r>
              <a:rPr sz="2800">
                <a:solidFill>
                  <a:srgbClr val="86641A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我願意接受你作我的救主，進到我裡面作生命。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6641A"/>
                </a:solidFill>
                <a:latin typeface="微軟正黑體"/>
              </a:defRPr>
            </a:pPr>
            <a:r>
              <a:rPr sz="2800">
                <a:solidFill>
                  <a:srgbClr val="86641A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求你釋放我脫離罪與死的奴役，帶領我出死入生。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91923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6641A"/>
                </a:solidFill>
                <a:latin typeface="微軟正黑體"/>
              </a:defRPr>
            </a:pPr>
            <a:r>
              <a:rPr sz="1800">
                <a:solidFill>
                  <a:srgbClr val="86641A"/>
                </a:solidFill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6641A"/>
                </a:solidFill>
                <a:latin typeface="微軟正黑體"/>
              </a:defRPr>
            </a:pPr>
            <a:r>
              <a:rPr sz="4200" b="1">
                <a:solidFill>
                  <a:srgbClr val="86641A"/>
                </a:solidFill>
              </a:rPr>
              <a:t>不要讓這個福音停在今天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19" y="1188720"/>
            <a:ext cx="201168" cy="201168"/>
          </a:xfrm>
          <a:prstGeom prst="rect">
            <a:avLst/>
          </a:prstGeom>
          <a:solidFill>
            <a:srgbClr val="F5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6641A"/>
                </a:solidFill>
                <a:latin typeface="微軟正黑體"/>
              </a:defRPr>
            </a:pPr>
            <a:r>
              <a:rPr sz="3100">
                <a:solidFill>
                  <a:srgbClr val="86641A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6641A"/>
                </a:solidFill>
                <a:latin typeface="微軟正黑體"/>
              </a:defRPr>
            </a:pPr>
            <a:r>
              <a:rPr sz="3100">
                <a:solidFill>
                  <a:srgbClr val="86641A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6641A"/>
                </a:solidFill>
                <a:latin typeface="微軟正黑體"/>
              </a:defRPr>
            </a:pPr>
            <a:r>
              <a:rPr sz="3100">
                <a:solidFill>
                  <a:srgbClr val="86641A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人生的奧祕（二）·福音鑰字「死」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