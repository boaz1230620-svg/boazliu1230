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【約0.5分鐘】今天只講一個字——「爭」，設計主題是「對峙與和平」。先讓朋友放鬆：給我大約十五分鐘，聽完再一起討論。本篇已按福音需要調整順序：先從生活談起，再回到經文，內容取自原文。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【約1.5分鐘】開場提問：人的生命有限而脆弱，為何人類歷史成了仇恨、爭競、嫉妒交織的圖畫？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【約3.0分鐘】該隱嫉妒殺害亞伯。投影片上的講解就是原文該段的濃縮，講的時候可以照著說，再展開一兩句自己的見證，不要偏離原文。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【約3.0分鐘】爭戰源於肉體私慾。投影片上的講解就是原文該段的濃縮，講的時候可以照著說，再展開一兩句自己的見證，不要偏離原文。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【約3.0分鐘】十字架除滅仇恨和平。投影片上的講解就是原文該段的濃縮，講的時候可以照著說，再展開一兩句自己的見證，不要偏離原文。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神拯救人的路，只要我們相信。我們不必像該隱一樣爭競，用自己的努力討神喜歡；我們該像亞伯一樣接受救恩，相信主耶穌是神的羔羊，已除去所有世人的罪。當我們接受祂時，裡面一切墮落敗壞的消極元素就被排除，原初神所造的人性得以挽回，並被拔高充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爭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5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8A742A"/>
                </a:solidFill>
                <a:latin typeface="微軟正黑體"/>
              </a:defRPr>
            </a:pPr>
            <a:r>
              <a:rPr>
                <a:solidFill>
                  <a:srgbClr val="8A742A"/>
                </a:solidFill>
              </a:rPr>
              <a:t>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81C1C"/>
                </a:solidFill>
                <a:latin typeface="微軟正黑體"/>
              </a:defRPr>
            </a:pPr>
            <a:r>
              <a:rPr sz="2600">
                <a:solidFill>
                  <a:srgbClr val="581C1C"/>
                </a:solidFill>
              </a:rPr>
              <a:t>對峙與和平 · 人的負面情形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>
                <a:solidFill>
                  <a:srgbClr val="581C1C"/>
                </a:solidFill>
                <a:latin typeface="微軟正黑體"/>
              </a:defRPr>
            </a:pPr>
            <a:r>
              <a:rPr sz="2200">
                <a:solidFill>
                  <a:srgbClr val="581C1C"/>
                </a:solidFill>
              </a:rPr>
              <a:t>第 10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A742A"/>
                </a:solidFill>
                <a:latin typeface="微軟正黑體"/>
              </a:defRPr>
            </a:pPr>
            <a:r>
              <a:rPr sz="4000" b="1">
                <a:solidFill>
                  <a:srgbClr val="8A742A"/>
                </a:solidFill>
              </a:rPr>
              <a:t>人的生命有限而脆弱，為何人類歷史成了仇恨、爭競、嫉妒交織的圖畫？</a:t>
            </a:r>
          </a:p>
        </p:txBody>
      </p:sp>
      <p:pic>
        <p:nvPicPr>
          <p:cNvPr id="8" name="Picture 7" descr="爭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742A"/>
                </a:solidFill>
                <a:latin typeface="微軟正黑體"/>
              </a:defRPr>
            </a:pPr>
            <a:r>
              <a:rPr sz="4000" b="1">
                <a:solidFill>
                  <a:srgbClr val="8A742A"/>
                </a:solidFill>
              </a:rPr>
              <a:t>該隱嫉妒殺害亞伯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該隱耕地獻地裡出產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亞伯因信獻羊頭生脂油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嫉妒怒氣殺了弟弟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1C1C"/>
                </a:solidFill>
                <a:latin typeface="微軟正黑體"/>
              </a:defRPr>
            </a:pPr>
            <a:r>
              <a:rPr sz="2400"/>
              <a:t>經文：耶和華看中了亞伯和他的供物，只是看不中該隱和他的供物。（創四4-5）</a:t>
            </a:r>
          </a:p>
        </p:txBody>
      </p:sp>
      <p:pic>
        <p:nvPicPr>
          <p:cNvPr id="17" name="Picture 16" descr="story_爭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742A"/>
                </a:solidFill>
                <a:latin typeface="微軟正黑體"/>
              </a:defRPr>
            </a:pPr>
            <a:r>
              <a:rPr sz="4000" b="1">
                <a:solidFill>
                  <a:srgbClr val="8A742A"/>
                </a:solidFill>
              </a:rPr>
              <a:t>爭戰源於肉體私慾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肉體行為包括仇恨爭競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爭競分立宗派同出一根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憑自己行動就是與魔鬼聯合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1C1C"/>
                </a:solidFill>
                <a:latin typeface="微軟正黑體"/>
              </a:defRPr>
            </a:pPr>
            <a:r>
              <a:rPr sz="2400"/>
              <a:t>經文：你們中間的爭戰是從那裡來的？豈不是從你們肢體中交戰的私慾來的麼？（雅四1）</a:t>
            </a:r>
          </a:p>
        </p:txBody>
      </p:sp>
      <p:pic>
        <p:nvPicPr>
          <p:cNvPr id="17" name="Picture 16" descr="story_爭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742A"/>
                </a:solidFill>
                <a:latin typeface="微軟正黑體"/>
              </a:defRPr>
            </a:pPr>
            <a:r>
              <a:rPr sz="4000" b="1">
                <a:solidFill>
                  <a:srgbClr val="8A742A"/>
                </a:solidFill>
              </a:rPr>
              <a:t>十字架除滅仇恨和平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基督廢掉規條誡命律法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十字架了結肉體私慾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742A"/>
                </a:solidFill>
                <a:latin typeface="微軟正黑體"/>
              </a:defRPr>
            </a:pPr>
            <a:r>
              <a:rPr sz="33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兩下在一個身體與神和好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1C1C"/>
                </a:solidFill>
                <a:latin typeface="微軟正黑體"/>
              </a:defRPr>
            </a:pPr>
            <a:r>
              <a:rPr sz="2400"/>
              <a:t>經文：因祂自己是我們的和平，將兩下做成一個，拆毀了中間隔斷的牆，就是仇恨。（弗二14）</a:t>
            </a:r>
          </a:p>
        </p:txBody>
      </p:sp>
      <p:pic>
        <p:nvPicPr>
          <p:cNvPr id="17" name="Picture 16" descr="story_爭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81C1C"/>
                </a:solidFill>
                <a:latin typeface="微軟正黑體"/>
              </a:defRPr>
            </a:pPr>
            <a:r>
              <a:rPr sz="1800"/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742A"/>
                </a:solidFill>
                <a:latin typeface="微軟正黑體"/>
              </a:defRPr>
            </a:pPr>
            <a:r>
              <a:rPr sz="4200" b="1">
                <a:solidFill>
                  <a:srgbClr val="8A742A"/>
                </a:solidFill>
              </a:rPr>
              <a:t>「爭」的鑰字經文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爭競與邪惡的情緒有關。（加五20註2）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爭辯言辭，由此就生出嫉妒、爭競、毀謗、惡意的猜疑。（提前六4）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爭辯是毫無用處的，只能使聽見的人受災禍。（提後二14註1）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征戰是從哪裡來的？鬥毆是從哪裡來的？豈不是從你們肢體中交戰的私欲來的嗎？（雅四1下）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因祂自己是我們的和平，將兩下做成一個，拆毀了中間隔斷的牆，就是仇恨。（弗二14，16）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81C1C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對峙與和平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A742A"/>
                </a:solidFill>
                <a:latin typeface="微軟正黑體"/>
              </a:defRPr>
            </a:pPr>
            <a:r>
              <a:rPr sz="4600" b="1">
                <a:solidFill>
                  <a:srgbClr val="8A742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581C1C"/>
                </a:solidFill>
                <a:latin typeface="微軟正黑體"/>
              </a:defRPr>
            </a:pPr>
            <a:r>
              <a:rPr sz="3300">
                <a:solidFill>
                  <a:srgbClr val="581C1C"/>
                </a:solidFill>
              </a:rPr>
              <a:t>相信接受神的羔羊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581C1C"/>
                </a:solidFill>
                <a:latin typeface="微軟正黑體"/>
              </a:defRPr>
            </a:pPr>
            <a:r>
              <a:rPr sz="3300">
                <a:solidFill>
                  <a:srgbClr val="581C1C"/>
                </a:solidFill>
              </a:rPr>
              <a:t>不靠爭競討神喜歡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581C1C"/>
                </a:solidFill>
                <a:latin typeface="微軟正黑體"/>
              </a:defRPr>
            </a:pPr>
            <a:r>
              <a:rPr sz="3300">
                <a:solidFill>
                  <a:srgbClr val="581C1C"/>
                </a:solidFill>
              </a:rPr>
              <a:t>裡面充滿神的平安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581C1C"/>
                </a:solidFill>
                <a:latin typeface="微軟正黑體"/>
              </a:defRPr>
            </a:pPr>
            <a:r>
              <a:rPr sz="2400">
                <a:solidFill>
                  <a:srgbClr val="581C1C"/>
                </a:solidFill>
              </a:rPr>
              <a:t>神拯救人的路，只要我們相信。我們不必像該隱一樣爭競，用自己的努力討神喜歡；我們該像亞伯一樣接受救恩，相信主耶穌是神的羔羊，已除去所有世人的罪。當我們接受祂時，裡面一切墮落敗壞的消極元素就被排除，原初神所造的人性得以挽回，並被拔高充實。</a:t>
            </a:r>
          </a:p>
        </p:txBody>
      </p:sp>
      <p:pic>
        <p:nvPicPr>
          <p:cNvPr id="12" name="Picture 11" descr="爭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81C1C"/>
                </a:solidFill>
                <a:latin typeface="微軟正黑體"/>
              </a:defRPr>
            </a:pPr>
            <a:r>
              <a:rPr sz="1800"/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742A"/>
                </a:solidFill>
                <a:latin typeface="微軟正黑體"/>
              </a:defRPr>
            </a:pPr>
            <a:r>
              <a:rPr sz="4200" b="1">
                <a:solidFill>
                  <a:srgbClr val="8A742A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581C1C"/>
                </a:solidFill>
                <a:latin typeface="微軟正黑體"/>
              </a:defRPr>
            </a:pPr>
            <a:r>
              <a:rPr sz="3600"/>
              <a:t>相信並接受主耶穌作你的生命，除去裡面的嫉妒、爭競、毀謗、猜疑，使人生充滿平安。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爭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81C1C"/>
                </a:solidFill>
                <a:latin typeface="微軟正黑體"/>
              </a:defRPr>
            </a:pPr>
            <a:r>
              <a:rPr sz="1800"/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742A"/>
                </a:solidFill>
                <a:latin typeface="微軟正黑體"/>
              </a:defRPr>
            </a:pPr>
            <a:r>
              <a:rPr sz="4200" b="1">
                <a:solidFill>
                  <a:srgbClr val="8A742A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742A"/>
                </a:solidFill>
                <a:latin typeface="微軟正黑體"/>
              </a:defRPr>
            </a:pPr>
            <a:r>
              <a:rPr sz="2800">
                <a:solidFill>
                  <a:srgbClr val="8A74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哦，主耶穌！我是個罪人，你卻願意與我聯合！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742A"/>
                </a:solidFill>
                <a:latin typeface="微軟正黑體"/>
              </a:defRPr>
            </a:pPr>
            <a:r>
              <a:rPr sz="2800">
                <a:solidFill>
                  <a:srgbClr val="8A742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我願意相信你，接受你作我的生命。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742A"/>
                </a:solidFill>
                <a:latin typeface="微軟正黑體"/>
              </a:defRPr>
            </a:pPr>
            <a:r>
              <a:rPr sz="2800">
                <a:solidFill>
                  <a:srgbClr val="8A742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除去我裡面的嫉妒、爭競、毀謗、猜疑。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742A"/>
                </a:solidFill>
                <a:latin typeface="微軟正黑體"/>
              </a:defRPr>
            </a:pPr>
            <a:r>
              <a:rPr sz="2800">
                <a:solidFill>
                  <a:srgbClr val="8A742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使我的人生充滿平安，阿們！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1C1C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81C1C"/>
                </a:solidFill>
                <a:latin typeface="微軟正黑體"/>
              </a:defRPr>
            </a:pPr>
            <a:r>
              <a:rPr sz="1800"/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742A"/>
                </a:solidFill>
                <a:latin typeface="微軟正黑體"/>
              </a:defRPr>
            </a:pPr>
            <a:r>
              <a:rPr sz="4200" b="1">
                <a:solidFill>
                  <a:srgbClr val="8A742A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742A"/>
                </a:solidFill>
                <a:latin typeface="微軟正黑體"/>
              </a:defRPr>
            </a:pPr>
            <a:r>
              <a:rPr sz="31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742A"/>
                </a:solidFill>
                <a:latin typeface="微軟正黑體"/>
              </a:defRPr>
            </a:pPr>
            <a:r>
              <a:rPr sz="31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742A"/>
                </a:solidFill>
                <a:latin typeface="微軟正黑體"/>
              </a:defRPr>
            </a:pPr>
            <a:r>
              <a:rPr sz="3100">
                <a:solidFill>
                  <a:srgbClr val="8A742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人生的奧祕（二）·福音鑰字「爭」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