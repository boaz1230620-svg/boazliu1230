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【約0.5分鐘】今天只講一個字——「新」，設計主題是「新生的嫩芽」。先讓朋友放鬆：給我大約十五分鐘，聽完再一起討論。本篇已按福音需要調整順序：先從生活談起，再回到經文，內容取自原文。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【約1.5分鐘】開場提問：在宇宙中，到底有什麼是真正歷久彌新？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【約2.2分鐘】日光之下無新事。投影片上的講解就是原文該段的濃縮，講的時候可以照著說，再展開一兩句自己的見證，不要偏離原文。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【約2.2分鐘】惟有神是新。投影片上的講解就是原文該段的濃縮，講的時候可以照著說，再展開一兩句自己的見證，不要偏離原文。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【約2.2分鐘】受浸入生命新樣。投影片上的講解就是原文該段的濃縮，講的時候可以照著說，再展開一兩句自己的見證，不要偏離原文。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【約2.2分鐘】裡面的人日日更新。投影片上的講解就是原文該段的濃縮，講的時候可以照著說，再展開一兩句自己的見證，不要偏離原文。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我們越接觸神、親近神，越得著神新元素的注入，就越成為新。基督徒的生活是日日更新的生活，每一天都更新，並且新而又新；許多年長的基督徒裏面卻很年輕，甚至比年輕人還新鮮，因為裏面的人被神聖生命充滿，成為年輕、新鮮、常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287A46"/>
                </a:solidFill>
                <a:latin typeface="微軟正黑體"/>
              </a:defRPr>
            </a:pPr>
            <a:r>
              <a:rPr sz="2600">
                <a:solidFill>
                  <a:srgbClr val="287A46"/>
                </a:solidFill>
              </a:rPr>
              <a:t>新生的嫩芽 · 神給人的恩典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287A46"/>
                </a:solidFill>
                <a:latin typeface="微軟正黑體"/>
              </a:defRPr>
            </a:pPr>
            <a:r>
              <a:rPr>
                <a:solidFill>
                  <a:srgbClr val="287A46"/>
                </a:solidFill>
              </a:rPr>
              <a:t>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287A46"/>
                </a:solidFill>
                <a:latin typeface="微軟正黑體"/>
              </a:defRPr>
            </a:pPr>
            <a:r>
              <a:rPr sz="3200">
                <a:solidFill>
                  <a:srgbClr val="287A46"/>
                </a:solidFill>
              </a:rPr>
              <a:t>第 19 個鑰字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287A46"/>
                </a:solidFill>
                <a:latin typeface="微軟正黑體"/>
              </a:defRPr>
            </a:pPr>
            <a:r>
              <a:rPr sz="2600">
                <a:solidFill>
                  <a:srgbClr val="287A46"/>
                </a:solidFill>
              </a:rPr>
              <a:t>一個字，一個福音信息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7408"/>
            <a:ext cx="12188952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新_bott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8895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14532D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287A46"/>
                </a:solidFill>
                <a:latin typeface="微軟正黑體"/>
              </a:defRPr>
            </a:pPr>
            <a:r>
              <a:rPr sz="4000" b="1">
                <a:solidFill>
                  <a:srgbClr val="287A46"/>
                </a:solidFill>
              </a:rPr>
              <a:t>在宇宙中，到底有什麼是真正歷久彌新？</a:t>
            </a:r>
          </a:p>
        </p:txBody>
      </p:sp>
      <p:pic>
        <p:nvPicPr>
          <p:cNvPr id="9" name="Picture 8" descr="新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287A46"/>
                </a:solidFill>
                <a:latin typeface="微軟正黑體"/>
              </a:defRPr>
            </a:pPr>
            <a:r>
              <a:rPr sz="4000" b="1">
                <a:solidFill>
                  <a:srgbClr val="287A46"/>
                </a:solidFill>
              </a:rPr>
              <a:t>日光之下無新事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流行過時無人記念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已有事後必再有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眼看不飽耳聽不足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4532D"/>
                </a:solidFill>
                <a:latin typeface="微軟正黑體"/>
              </a:defRPr>
            </a:pPr>
            <a:r>
              <a:rPr sz="2400"/>
              <a:t>經文：豈有一件事人能指著說，這是新的？萬事令人厭煩，人不能說盡。眼看，看不飽；耳聽，聽不足。已有的事，後必再有；已作的事，後必再作。日光之下並無新事。（傳一10，8〜9）</a:t>
            </a:r>
          </a:p>
        </p:txBody>
      </p:sp>
      <p:pic>
        <p:nvPicPr>
          <p:cNvPr id="18" name="Picture 17" descr="story_新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287A46"/>
                </a:solidFill>
                <a:latin typeface="微軟正黑體"/>
              </a:defRPr>
            </a:pPr>
            <a:r>
              <a:rPr sz="4000" b="1">
                <a:solidFill>
                  <a:srgbClr val="287A46"/>
                </a:solidFill>
              </a:rPr>
              <a:t>惟有神是新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萬物天天都在變舊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惟神不受時空限制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神如青翠松樹長青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4532D"/>
                </a:solidFill>
                <a:latin typeface="微軟正黑體"/>
              </a:defRPr>
            </a:pPr>
            <a:r>
              <a:rPr sz="2400"/>
              <a:t>經文：神說祂如青翠的松樹。（何十四8）若有人在基督裏，他就是新造；舊事已過，看哪，都變成新的了。（林後五17）</a:t>
            </a:r>
          </a:p>
        </p:txBody>
      </p:sp>
      <p:pic>
        <p:nvPicPr>
          <p:cNvPr id="18" name="Picture 17" descr="story_新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287A46"/>
                </a:solidFill>
                <a:latin typeface="微軟正黑體"/>
              </a:defRPr>
            </a:pPr>
            <a:r>
              <a:rPr sz="4000" b="1">
                <a:solidFill>
                  <a:srgbClr val="287A46"/>
                </a:solidFill>
              </a:rPr>
              <a:t>受浸入生命新樣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受浸埋葬舊人歷史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從水上來得新生命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重生洗滌聖靈更新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4532D"/>
                </a:solidFill>
                <a:latin typeface="微軟正黑體"/>
              </a:defRPr>
            </a:pPr>
            <a:r>
              <a:rPr sz="2400"/>
              <a:t>經文：所以我們藉著浸入死，和祂一同埋葬，好叫我們在生命的新樣中生活行動，像基督藉著父的榮耀，從死人中復活一樣。（羅六4）</a:t>
            </a:r>
          </a:p>
        </p:txBody>
      </p:sp>
      <p:pic>
        <p:nvPicPr>
          <p:cNvPr id="18" name="Picture 17" descr="story_新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287A46"/>
                </a:solidFill>
                <a:latin typeface="微軟正黑體"/>
              </a:defRPr>
            </a:pPr>
            <a:r>
              <a:rPr sz="4000" b="1">
                <a:solidFill>
                  <a:srgbClr val="287A46"/>
                </a:solidFill>
              </a:rPr>
              <a:t>裡面的人日日更新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外面毀壞裡面更新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心思更新而變化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在基督裏就是新造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4532D"/>
                </a:solidFill>
                <a:latin typeface="微軟正黑體"/>
              </a:defRPr>
            </a:pPr>
            <a:r>
              <a:rPr sz="2400"/>
              <a:t>經文：所以我們不喪膽，反而我們外面的人雖然在毀壞，我們裏面的人卻日日在更新。（林後四16）藉著心思的更新而變化。（羅十二2）</a:t>
            </a:r>
          </a:p>
        </p:txBody>
      </p:sp>
      <p:pic>
        <p:nvPicPr>
          <p:cNvPr id="18" name="Picture 17" descr="story_新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287A46"/>
                </a:solidFill>
                <a:latin typeface="微軟正黑體"/>
              </a:defRPr>
            </a:pPr>
            <a:r>
              <a:rPr sz="1800" b="1">
                <a:solidFill>
                  <a:srgbClr val="287A46"/>
                </a:solidFill>
              </a:rPr>
              <a:t>回到經文 · 本篇一覽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287A46"/>
                </a:solidFill>
                <a:latin typeface="微軟正黑體"/>
              </a:defRPr>
            </a:pPr>
            <a:r>
              <a:rPr sz="4200" b="1">
                <a:solidFill>
                  <a:srgbClr val="287A46"/>
                </a:solidFill>
              </a:rPr>
              <a:t>「新」的鑰字經文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豈有一件事人能指著說，這是新的？（傳一10上）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日光之下並無新事（傳一9）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在生命的新樣中生活行動（羅六4）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我們裏面的人卻日日在更新（林後四16）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4532D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287A46"/>
                </a:solidFill>
                <a:latin typeface="微軟正黑體"/>
              </a:defRPr>
            </a:pPr>
            <a:r>
              <a:rPr sz="2000">
                <a:solidFill>
                  <a:srgbClr val="287A46"/>
                </a:solidFill>
              </a:rPr>
              <a:t>福音的答案 · 新生的嫩芽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287A46"/>
                </a:solidFill>
                <a:latin typeface="微軟正黑體"/>
              </a:defRPr>
            </a:pPr>
            <a:r>
              <a:rPr sz="4600" b="1">
                <a:solidFill>
                  <a:srgbClr val="287A46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越接觸神就越成為新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重生得著神永遠生命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7A46"/>
                </a:solidFill>
                <a:latin typeface="微軟正黑體"/>
              </a:defRPr>
            </a:pPr>
            <a:r>
              <a:rPr sz="3300">
                <a:solidFill>
                  <a:srgbClr val="287A46"/>
                </a:solidFill>
              </a:rPr>
              <a:t>天天得新鮮生命供應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7A46"/>
                </a:solidFill>
                <a:latin typeface="微軟正黑體"/>
              </a:defRPr>
            </a:pPr>
            <a:r>
              <a:rPr sz="2400">
                <a:solidFill>
                  <a:srgbClr val="287A46"/>
                </a:solidFill>
              </a:rPr>
              <a:t>我們越接觸神、親近神，越得著神新元素的注入，就越成為新。基督徒的生活是日日更新的生活，每一天都更新，並且新而又新；許多年長的基督徒裏面卻很年輕，甚至比年輕人還新鮮，因為裏面的人被神聖生命充滿，成為年輕、新鮮、常新的。</a:t>
            </a:r>
          </a:p>
        </p:txBody>
      </p:sp>
      <p:pic>
        <p:nvPicPr>
          <p:cNvPr id="12" name="Picture 11" descr="新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287A46"/>
                </a:solidFill>
                <a:latin typeface="微軟正黑體"/>
              </a:defRPr>
            </a:pPr>
            <a:r>
              <a:rPr sz="4200" b="1">
                <a:solidFill>
                  <a:srgbClr val="287A46"/>
                </a:solidFill>
              </a:rPr>
              <a:t>抉擇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287A46"/>
                </a:solidFill>
                <a:latin typeface="微軟正黑體"/>
              </a:defRPr>
            </a:pPr>
            <a:r>
              <a:rPr sz="4200" b="1">
                <a:solidFill>
                  <a:srgbClr val="287A46"/>
                </a:solidFill>
              </a:rPr>
              <a:t>今天，你願意嗎？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4532D"/>
                </a:solidFill>
                <a:latin typeface="微軟正黑體"/>
              </a:defRPr>
            </a:pPr>
            <a:r>
              <a:rPr sz="3600"/>
              <a:t>你願意受浸埋葬舊人，得著神永遠的新生命，天天在生命的新樣中生活行動麼？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新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287A46"/>
                </a:solidFill>
                <a:latin typeface="微軟正黑體"/>
              </a:defRPr>
            </a:pPr>
            <a:r>
              <a:rPr sz="4400" b="1">
                <a:solidFill>
                  <a:srgbClr val="287A46"/>
                </a:solidFill>
              </a:rPr>
              <a:t>一起禱告 · 講一句，跟一句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287A46"/>
                </a:solidFill>
                <a:latin typeface="微軟正黑體"/>
              </a:defRPr>
            </a:pPr>
            <a:r>
              <a:rPr sz="4200" b="1">
                <a:solidFill>
                  <a:srgbClr val="287A46"/>
                </a:solidFill>
              </a:rPr>
              <a:t>哦，主耶穌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287A46"/>
                </a:solidFill>
                <a:latin typeface="微軟正黑體"/>
              </a:defRPr>
            </a:pPr>
            <a:r>
              <a:rPr sz="2800">
                <a:solidFill>
                  <a:srgbClr val="287A46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主耶穌，我承認我在日光之下是舊的、會變舊的。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287A46"/>
                </a:solidFill>
                <a:latin typeface="微軟正黑體"/>
              </a:defRPr>
            </a:pPr>
            <a:r>
              <a:rPr sz="2800">
                <a:solidFill>
                  <a:srgbClr val="287A46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謝謝你，你是永遠常新的神，你的生命永不陳舊。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287A46"/>
                </a:solidFill>
                <a:latin typeface="微軟正黑體"/>
              </a:defRPr>
            </a:pPr>
            <a:r>
              <a:rPr sz="2800">
                <a:solidFill>
                  <a:srgbClr val="287A46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我願意受浸歸入你，埋葬舊人，得著你的新生命。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287A46"/>
                </a:solidFill>
                <a:latin typeface="微軟正黑體"/>
              </a:defRPr>
            </a:pPr>
            <a:r>
              <a:rPr sz="2800">
                <a:solidFill>
                  <a:srgbClr val="287A46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求你天天用新鮮的生命供應我，使我日日更新。阿們。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4532D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287A46"/>
                </a:solidFill>
                <a:latin typeface="微軟正黑體"/>
              </a:defRPr>
            </a:pPr>
            <a:r>
              <a:rPr sz="4400" b="1">
                <a:solidFill>
                  <a:srgbClr val="287A46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287A46"/>
                </a:solidFill>
                <a:latin typeface="微軟正黑體"/>
              </a:defRPr>
            </a:pPr>
            <a:r>
              <a:rPr sz="4200" b="1">
                <a:solidFill>
                  <a:srgbClr val="287A46"/>
                </a:solidFill>
              </a:rPr>
              <a:t>不要讓這個福音停在今天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287A46"/>
                </a:solidFill>
                <a:latin typeface="微軟正黑體"/>
              </a:defRPr>
            </a:pPr>
            <a:r>
              <a:rPr sz="31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287A46"/>
                </a:solidFill>
                <a:latin typeface="微軟正黑體"/>
              </a:defRPr>
            </a:pPr>
            <a:r>
              <a:rPr sz="31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287A46"/>
                </a:solidFill>
                <a:latin typeface="微軟正黑體"/>
              </a:defRPr>
            </a:pPr>
            <a:r>
              <a:rPr sz="3100">
                <a:solidFill>
                  <a:srgbClr val="287A46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聖經提要，第二十一章；傳道書生命讀經，第一篇；神聖啓示的中心路線，第二十六篇；正常的基督徒生活，第八章。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人生的奧祕（二）·福音鑰字「新」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