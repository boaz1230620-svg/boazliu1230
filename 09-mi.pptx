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【約0.5分鐘】今天只講一個字——「迷」，設計主題是「走迷與牧人」。先讓朋友放鬆：給我大約十五分鐘，聽完再一起討論。本篇已按福音需要調整順序：先從生活談起，再回到經文，內容取自原文。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【約1.5分鐘】開場提問：為何人一貪戀錢財，就受迷惑，甚至用許多苦痛把自己刺透？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【約2.2分鐘】貪財使人受迷惑。投影片上的講解就是原文該段的濃縮，講的時候可以照著說，再展開一兩句自己的見證，不要偏離原文。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【約2.2分鐘】迷惑人也受迷惑。投影片上的講解就是原文該段的濃縮，講的時候可以照著說，再展開一兩句自己的見證，不要偏離原文。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【約2.2分鐘】如羊走迷偏行己路。投影片上的講解就是原文該段的濃縮，講的時候可以照著說，再展開一兩句自己的見證，不要偏離原文。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【約2.2分鐘】歸向魂的牧人監督。投影片上的講解就是原文該段的濃縮，講的時候可以照著說，再展開一兩句自己的見證，不要偏離原文。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主是我們魂的牧人和監督，魂是我們內裡的所是，就是真人位。祂藉著顧到我們裡面各部分的益處，並監督我們真人位的光景，而照其需要牧養我們。我們有了祂，就不致受迷惑走錯路，祂要帶我們過知足、喜樂的人生，並且得著永遠生命的福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48700C"/>
                </a:solidFill>
                <a:latin typeface="微軟正黑體"/>
              </a:defRPr>
            </a:pPr>
            <a:r>
              <a:rPr sz="2600">
                <a:solidFill>
                  <a:srgbClr val="48700C"/>
                </a:solidFill>
              </a:rPr>
              <a:t>走迷與牧人 · 人的負面情形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48700C"/>
                </a:solidFill>
                <a:latin typeface="微軟正黑體"/>
              </a:defRPr>
            </a:pPr>
            <a:r>
              <a:rPr>
                <a:solidFill>
                  <a:srgbClr val="48700C"/>
                </a:solidFill>
              </a:rPr>
              <a:t>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48700C"/>
                </a:solidFill>
                <a:latin typeface="微軟正黑體"/>
              </a:defRPr>
            </a:pPr>
            <a:r>
              <a:rPr sz="3200">
                <a:solidFill>
                  <a:srgbClr val="48700C"/>
                </a:solidFill>
              </a:rPr>
              <a:t>第 9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48700C"/>
                </a:solidFill>
                <a:latin typeface="微軟正黑體"/>
              </a:defRPr>
            </a:pPr>
            <a:r>
              <a:rPr sz="2600">
                <a:solidFill>
                  <a:srgbClr val="48700C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ap_迷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343A2E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48700C"/>
                </a:solidFill>
                <a:latin typeface="微軟正黑體"/>
              </a:defRPr>
            </a:pPr>
            <a:r>
              <a:rPr sz="4000" b="1">
                <a:solidFill>
                  <a:srgbClr val="48700C"/>
                </a:solidFill>
              </a:rPr>
              <a:t>為何人一貪戀錢財，就受迷惑，甚至用許多苦痛把自己刺透？</a:t>
            </a:r>
          </a:p>
        </p:txBody>
      </p:sp>
      <p:pic>
        <p:nvPicPr>
          <p:cNvPr id="11" name="Picture 10" descr="swap_迷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48700C"/>
                </a:solidFill>
                <a:latin typeface="微軟正黑體"/>
              </a:defRPr>
            </a:pPr>
            <a:r>
              <a:rPr sz="4000" b="1">
                <a:solidFill>
                  <a:srgbClr val="48700C"/>
                </a:solidFill>
              </a:rPr>
              <a:t>貪財使人受迷惑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想要發財陷在試誘網羅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貪愛錢財不在於有錢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苦痛刺透沉溺敗壞滅亡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43A2E"/>
                </a:solidFill>
                <a:latin typeface="微軟正黑體"/>
              </a:defRPr>
            </a:pPr>
            <a:r>
              <a:rPr sz="2400"/>
              <a:t>經文：貪財是萬惡之根，有人貪戀錢財，就受迷惑。（提前六10）</a:t>
            </a:r>
          </a:p>
        </p:txBody>
      </p:sp>
      <p:pic>
        <p:nvPicPr>
          <p:cNvPr id="18" name="Picture 17" descr="story_迷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48700C"/>
                </a:solidFill>
                <a:latin typeface="微軟正黑體"/>
              </a:defRPr>
            </a:pPr>
            <a:r>
              <a:rPr sz="4000" b="1">
                <a:solidFill>
                  <a:srgbClr val="48700C"/>
                </a:solidFill>
              </a:rPr>
              <a:t>迷惑人也受迷惑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詐騙集團騙術推陳出新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高薪輕鬆鎖定年輕學子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被捕出獄仍繼續行騙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43A2E"/>
                </a:solidFill>
                <a:latin typeface="微軟正黑體"/>
              </a:defRPr>
            </a:pPr>
            <a:r>
              <a:rPr sz="2400"/>
              <a:t>經文：惡人和騙子，必進而變為更惡，他們迷惑人，也受人迷惑。（提後三13）</a:t>
            </a:r>
          </a:p>
        </p:txBody>
      </p:sp>
      <p:pic>
        <p:nvPicPr>
          <p:cNvPr id="18" name="Picture 17" descr="story_迷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48700C"/>
                </a:solidFill>
                <a:latin typeface="微軟正黑體"/>
              </a:defRPr>
            </a:pPr>
            <a:r>
              <a:rPr sz="4000" b="1">
                <a:solidFill>
                  <a:srgbClr val="48700C"/>
                </a:solidFill>
              </a:rPr>
              <a:t>如羊走迷偏行己路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羊近視易迷失方向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一隻跳崖眾羊跟著跳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離開牧人只有死亡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43A2E"/>
                </a:solidFill>
                <a:latin typeface="微軟正黑體"/>
              </a:defRPr>
            </a:pPr>
            <a:r>
              <a:rPr sz="2400"/>
              <a:t>經文：我們都如羊走迷，各人偏行己路。（賽五三6上）</a:t>
            </a:r>
          </a:p>
        </p:txBody>
      </p:sp>
      <p:pic>
        <p:nvPicPr>
          <p:cNvPr id="18" name="Picture 17" descr="story_迷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48700C"/>
                </a:solidFill>
                <a:latin typeface="微軟正黑體"/>
              </a:defRPr>
            </a:pPr>
            <a:r>
              <a:rPr sz="4000" b="1">
                <a:solidFill>
                  <a:srgbClr val="48700C"/>
                </a:solidFill>
              </a:rPr>
              <a:t>歸向魂的牧人監督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好牧人為羊捨命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以神聖生命餧養羊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牧養心思情感意志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43A2E"/>
                </a:solidFill>
                <a:latin typeface="微軟正黑體"/>
              </a:defRPr>
            </a:pPr>
            <a:r>
              <a:rPr sz="2400"/>
              <a:t>經文：你們好像羊走迷了路，如今卻歸到你們魂的牧人和監督了。（彼前二25）</a:t>
            </a:r>
          </a:p>
        </p:txBody>
      </p:sp>
      <p:pic>
        <p:nvPicPr>
          <p:cNvPr id="18" name="Picture 17" descr="story_迷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48700C"/>
                </a:solidFill>
                <a:latin typeface="微軟正黑體"/>
              </a:defRPr>
            </a:pPr>
            <a:r>
              <a:rPr sz="1800" b="1">
                <a:solidFill>
                  <a:srgbClr val="48700C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48700C"/>
                </a:solidFill>
                <a:latin typeface="微軟正黑體"/>
              </a:defRPr>
            </a:pPr>
            <a:r>
              <a:rPr sz="4200" b="1">
                <a:solidFill>
                  <a:srgbClr val="48700C"/>
                </a:solidFill>
              </a:rPr>
              <a:t>「迷」的鑰字經文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貪財是萬惡之根，有人貪戀錢財，就受迷惑，離棄了信仰，用許多苦痛把自己刺透了。（提前六10下）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迷惑人，也受人迷惑。（提後三13下）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我們都如羊走迷，各人偏行己路。（賽五三6上）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你們好像羊走迷了路，如今卻歸到你們魂的牧人和監督了。（彼前二25）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43A2E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8700C"/>
                </a:solidFill>
                <a:latin typeface="微軟正黑體"/>
              </a:defRPr>
            </a:pPr>
            <a:r>
              <a:rPr sz="2000">
                <a:solidFill>
                  <a:srgbClr val="48700C"/>
                </a:solidFill>
              </a:rPr>
              <a:t>福音的答案 · 走迷與牧人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48700C"/>
                </a:solidFill>
                <a:latin typeface="微軟正黑體"/>
              </a:defRPr>
            </a:pPr>
            <a:r>
              <a:rPr sz="4600" b="1">
                <a:solidFill>
                  <a:srgbClr val="48700C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歸向魂的牧人基督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不再受迷惑走錯路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8700C"/>
                </a:solidFill>
                <a:latin typeface="微軟正黑體"/>
              </a:defRPr>
            </a:pPr>
            <a:r>
              <a:rPr sz="3300">
                <a:solidFill>
                  <a:srgbClr val="48700C"/>
                </a:solidFill>
              </a:rPr>
              <a:t>得知足喜樂永遠生命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48700C"/>
                </a:solidFill>
                <a:latin typeface="微軟正黑體"/>
              </a:defRPr>
            </a:pPr>
            <a:r>
              <a:rPr sz="2400">
                <a:solidFill>
                  <a:srgbClr val="48700C"/>
                </a:solidFill>
              </a:rPr>
              <a:t>主是我們魂的牧人和監督，魂是我們內裡的所是，就是真人位。祂藉著顧到我們裡面各部分的益處，並監督我們真人位的光景，而照其需要牧養我們。我們有了祂，就不致受迷惑走錯路，祂要帶我們過知足、喜樂的人生，並且得著永遠生命的福樂。</a:t>
            </a:r>
          </a:p>
        </p:txBody>
      </p:sp>
      <p:pic>
        <p:nvPicPr>
          <p:cNvPr id="14" name="Picture 13" descr="swap_迷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48700C"/>
                </a:solidFill>
                <a:latin typeface="微軟正黑體"/>
              </a:defRPr>
            </a:pPr>
            <a:r>
              <a:rPr sz="4200" b="1">
                <a:solidFill>
                  <a:srgbClr val="48700C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48700C"/>
                </a:solidFill>
                <a:latin typeface="微軟正黑體"/>
              </a:defRPr>
            </a:pPr>
            <a:r>
              <a:rPr sz="4200" b="1">
                <a:solidFill>
                  <a:srgbClr val="48700C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343A2E"/>
                </a:solidFill>
                <a:latin typeface="微軟正黑體"/>
              </a:defRPr>
            </a:pPr>
            <a:r>
              <a:rPr sz="3600"/>
              <a:t>歸向這位魂的牧人和監督，讓祂指引你不再迷失，帶你過知足喜樂的人生。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swap_迷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48700C"/>
                </a:solidFill>
                <a:latin typeface="微軟正黑體"/>
              </a:defRPr>
            </a:pPr>
            <a:r>
              <a:rPr sz="4400" b="1">
                <a:solidFill>
                  <a:srgbClr val="48700C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48700C"/>
                </a:solidFill>
                <a:latin typeface="微軟正黑體"/>
              </a:defRPr>
            </a:pPr>
            <a:r>
              <a:rPr sz="4200" b="1">
                <a:solidFill>
                  <a:srgbClr val="48700C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8700C"/>
                </a:solidFill>
                <a:latin typeface="微軟正黑體"/>
              </a:defRPr>
            </a:pPr>
            <a:r>
              <a:rPr sz="2800">
                <a:solidFill>
                  <a:srgbClr val="48700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主耶穌，我如羊走迷，各人偏行己路。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8700C"/>
                </a:solidFill>
                <a:latin typeface="微軟正黑體"/>
              </a:defRPr>
            </a:pPr>
            <a:r>
              <a:rPr sz="2800">
                <a:solidFill>
                  <a:srgbClr val="48700C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謝謝你這位好牧人，為我捨命成功救贖。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8700C"/>
                </a:solidFill>
                <a:latin typeface="微軟正黑體"/>
              </a:defRPr>
            </a:pPr>
            <a:r>
              <a:rPr sz="2800">
                <a:solidFill>
                  <a:srgbClr val="48700C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我願意歸向你，作我魂的牧人和監督。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8700C"/>
                </a:solidFill>
                <a:latin typeface="微軟正黑體"/>
              </a:defRPr>
            </a:pPr>
            <a:r>
              <a:rPr sz="2800">
                <a:solidFill>
                  <a:srgbClr val="48700C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求你牧養我的心思、情感和意志，指引我走正路。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43A2E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48700C"/>
                </a:solidFill>
                <a:latin typeface="微軟正黑體"/>
              </a:defRPr>
            </a:pPr>
            <a:r>
              <a:rPr sz="4400" b="1">
                <a:solidFill>
                  <a:srgbClr val="48700C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48700C"/>
                </a:solidFill>
                <a:latin typeface="微軟正黑體"/>
              </a:defRPr>
            </a:pPr>
            <a:r>
              <a:rPr sz="4200" b="1">
                <a:solidFill>
                  <a:srgbClr val="48700C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8700C"/>
                </a:solidFill>
                <a:latin typeface="微軟正黑體"/>
              </a:defRPr>
            </a:pPr>
            <a:r>
              <a:rPr sz="31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8700C"/>
                </a:solidFill>
                <a:latin typeface="微軟正黑體"/>
              </a:defRPr>
            </a:pPr>
            <a:r>
              <a:rPr sz="31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8700C"/>
                </a:solidFill>
                <a:latin typeface="微軟正黑體"/>
              </a:defRPr>
            </a:pPr>
            <a:r>
              <a:rPr sz="3100">
                <a:solidFill>
                  <a:srgbClr val="48700C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人生的奧祕（二）·福音鑰字「迷」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